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65" r:id="rId5"/>
    <p:sldId id="275" r:id="rId6"/>
    <p:sldId id="274" r:id="rId7"/>
    <p:sldId id="267" r:id="rId8"/>
    <p:sldId id="269" r:id="rId9"/>
    <p:sldId id="276" r:id="rId10"/>
    <p:sldId id="270" r:id="rId11"/>
    <p:sldId id="271" r:id="rId12"/>
    <p:sldId id="273" r:id="rId13"/>
    <p:sldId id="266" r:id="rId14"/>
  </p:sldIdLst>
  <p:sldSz cx="9144000" cy="6858000" type="screen4x3"/>
  <p:notesSz cx="6858000" cy="91440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562" y="4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nis Manley" userId="445117d2-14a5-4c3e-af19-f1006b049bb1" providerId="ADAL" clId="{D7A7677B-DB17-448D-99A6-E702AD6B7BE3}"/>
    <pc:docChg chg="custSel replTag delTag">
      <pc:chgData name="Denis Manley" userId="445117d2-14a5-4c3e-af19-f1006b049bb1" providerId="ADAL" clId="{D7A7677B-DB17-448D-99A6-E702AD6B7BE3}" dt="2023-10-04T18:34:59.200" v="3"/>
      <pc:docMkLst>
        <pc:docMk/>
      </pc:docMkLst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5B27A-694D-4279-9EF1-A8A2499DC005}" type="datetimeFigureOut">
              <a:rPr lang="en-IE" smtClean="0"/>
              <a:t>04/10/2023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F502E-60CA-4AE8-A88A-380189F2FBF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26822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5B27A-694D-4279-9EF1-A8A2499DC005}" type="datetimeFigureOut">
              <a:rPr lang="en-IE" smtClean="0"/>
              <a:t>04/10/2023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F502E-60CA-4AE8-A88A-380189F2FBF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50851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5B27A-694D-4279-9EF1-A8A2499DC005}" type="datetimeFigureOut">
              <a:rPr lang="en-IE" smtClean="0"/>
              <a:t>04/10/2023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F502E-60CA-4AE8-A88A-380189F2FBF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84780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5B27A-694D-4279-9EF1-A8A2499DC005}" type="datetimeFigureOut">
              <a:rPr lang="en-IE" smtClean="0"/>
              <a:t>04/10/2023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F502E-60CA-4AE8-A88A-380189F2FBF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04562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5B27A-694D-4279-9EF1-A8A2499DC005}" type="datetimeFigureOut">
              <a:rPr lang="en-IE" smtClean="0"/>
              <a:t>04/10/2023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F502E-60CA-4AE8-A88A-380189F2FBF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77268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5B27A-694D-4279-9EF1-A8A2499DC005}" type="datetimeFigureOut">
              <a:rPr lang="en-IE" smtClean="0"/>
              <a:t>04/10/2023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F502E-60CA-4AE8-A88A-380189F2FBF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42904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5B27A-694D-4279-9EF1-A8A2499DC005}" type="datetimeFigureOut">
              <a:rPr lang="en-IE" smtClean="0"/>
              <a:t>04/10/2023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F502E-60CA-4AE8-A88A-380189F2FBF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87496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5B27A-694D-4279-9EF1-A8A2499DC005}" type="datetimeFigureOut">
              <a:rPr lang="en-IE" smtClean="0"/>
              <a:t>04/10/2023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F502E-60CA-4AE8-A88A-380189F2FBF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32322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5B27A-694D-4279-9EF1-A8A2499DC005}" type="datetimeFigureOut">
              <a:rPr lang="en-IE" smtClean="0"/>
              <a:t>04/10/2023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F502E-60CA-4AE8-A88A-380189F2FBF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97760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5B27A-694D-4279-9EF1-A8A2499DC005}" type="datetimeFigureOut">
              <a:rPr lang="en-IE" smtClean="0"/>
              <a:t>04/10/2023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F502E-60CA-4AE8-A88A-380189F2FBF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38636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5B27A-694D-4279-9EF1-A8A2499DC005}" type="datetimeFigureOut">
              <a:rPr lang="en-IE" smtClean="0"/>
              <a:t>04/10/2023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F502E-60CA-4AE8-A88A-380189F2FBF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70312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35B27A-694D-4279-9EF1-A8A2499DC005}" type="datetimeFigureOut">
              <a:rPr lang="en-IE" smtClean="0"/>
              <a:t>04/10/2023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6F502E-60CA-4AE8-A88A-380189F2FBF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93561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Lecture 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Dynamic data structure</a:t>
            </a:r>
          </a:p>
          <a:p>
            <a:r>
              <a:rPr lang="en-IE" dirty="0"/>
              <a:t>A “link list”</a:t>
            </a:r>
          </a:p>
        </p:txBody>
      </p:sp>
    </p:spTree>
    <p:extLst>
      <p:ext uri="{BB962C8B-B14F-4D97-AF65-F5344CB8AC3E}">
        <p14:creationId xmlns:p14="http://schemas.microsoft.com/office/powerpoint/2010/main" val="2110120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en-IE" dirty="0"/>
              <a:t>Array versus link list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>
            <a:normAutofit fontScale="85000" lnSpcReduction="10000"/>
          </a:bodyPr>
          <a:lstStyle/>
          <a:p>
            <a:r>
              <a:rPr lang="en-IE" dirty="0"/>
              <a:t>An array is a structure whose size is fixed at run time; e.g. </a:t>
            </a:r>
            <a:r>
              <a:rPr lang="en-IE" dirty="0" err="1"/>
              <a:t>empdb</a:t>
            </a:r>
            <a:r>
              <a:rPr lang="en-IE" dirty="0"/>
              <a:t> </a:t>
            </a:r>
          </a:p>
          <a:p>
            <a:r>
              <a:rPr lang="en-IE" dirty="0"/>
              <a:t>In an array to delete a record it has to be marked as deleted. </a:t>
            </a:r>
          </a:p>
          <a:p>
            <a:r>
              <a:rPr lang="en-IE" dirty="0"/>
              <a:t>If the array is full cannot add any more records</a:t>
            </a:r>
          </a:p>
          <a:p>
            <a:r>
              <a:rPr lang="en-IE" dirty="0"/>
              <a:t>These restriction are overcoming using a dynamic “link List” of records: the size can be increased/decrease during run time. </a:t>
            </a:r>
          </a:p>
          <a:p>
            <a:r>
              <a:rPr lang="en-IE" dirty="0"/>
              <a:t>This requires the use of </a:t>
            </a:r>
            <a:r>
              <a:rPr lang="en-IE" dirty="0" err="1"/>
              <a:t>malloc</a:t>
            </a:r>
            <a:r>
              <a:rPr lang="en-IE" dirty="0"/>
              <a:t> to create a new node and free to remove a dynamically created note</a:t>
            </a:r>
          </a:p>
          <a:p>
            <a:r>
              <a:rPr lang="en-IE" dirty="0"/>
              <a:t>It also requires some way of linking these nodes :</a:t>
            </a:r>
          </a:p>
          <a:p>
            <a:r>
              <a:rPr lang="en-IE" dirty="0"/>
              <a:t>Hence a structure refer to as a node </a:t>
            </a:r>
          </a:p>
        </p:txBody>
      </p:sp>
    </p:spTree>
    <p:extLst>
      <p:ext uri="{BB962C8B-B14F-4D97-AF65-F5344CB8AC3E}">
        <p14:creationId xmlns:p14="http://schemas.microsoft.com/office/powerpoint/2010/main" val="3133530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en-IE" dirty="0"/>
              <a:t>The node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1419"/>
          </a:xfrm>
        </p:spPr>
        <p:txBody>
          <a:bodyPr/>
          <a:lstStyle/>
          <a:p>
            <a:r>
              <a:rPr lang="en-IE" dirty="0"/>
              <a:t>A node had two parts: </a:t>
            </a:r>
          </a:p>
          <a:p>
            <a:pPr lvl="1"/>
            <a:r>
              <a:rPr lang="en-IE" dirty="0"/>
              <a:t>one for containing data (an integer; an employee record….)</a:t>
            </a:r>
          </a:p>
          <a:p>
            <a:pPr lvl="1"/>
            <a:r>
              <a:rPr lang="en-IE" dirty="0"/>
              <a:t>A pointer to another node (link between nodes)</a:t>
            </a:r>
          </a:p>
          <a:p>
            <a:r>
              <a:rPr lang="en-IE" dirty="0"/>
              <a:t> The following c code is a </a:t>
            </a:r>
            <a:r>
              <a:rPr lang="en-IE" dirty="0" err="1"/>
              <a:t>struct</a:t>
            </a:r>
            <a:r>
              <a:rPr lang="en-IE" dirty="0"/>
              <a:t> for such a node: data in this example is only an </a:t>
            </a:r>
            <a:r>
              <a:rPr lang="en-IE" dirty="0" err="1"/>
              <a:t>int</a:t>
            </a:r>
            <a:endParaRPr lang="en-IE" dirty="0"/>
          </a:p>
          <a:p>
            <a:r>
              <a:rPr lang="en-IE" dirty="0"/>
              <a:t> </a:t>
            </a:r>
          </a:p>
        </p:txBody>
      </p:sp>
      <p:pic>
        <p:nvPicPr>
          <p:cNvPr id="4" name="Picture 3" descr="denis.manley@apollo: ~/OS2/week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4581128"/>
            <a:ext cx="4375670" cy="1905266"/>
          </a:xfrm>
          <a:prstGeom prst="rect">
            <a:avLst/>
          </a:prstGeom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6600" y="4869160"/>
            <a:ext cx="3556493" cy="108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192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en-IE" dirty="0"/>
              <a:t>Dynamically create a node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45435"/>
          </a:xfrm>
        </p:spPr>
        <p:txBody>
          <a:bodyPr/>
          <a:lstStyle/>
          <a:p>
            <a:r>
              <a:rPr lang="en-IE" dirty="0"/>
              <a:t>Create node and insert data using </a:t>
            </a:r>
            <a:r>
              <a:rPr lang="en-IE" dirty="0" err="1"/>
              <a:t>Malloc</a:t>
            </a:r>
            <a:r>
              <a:rPr lang="en-IE" dirty="0"/>
              <a:t>:</a:t>
            </a:r>
          </a:p>
          <a:p>
            <a:r>
              <a:rPr lang="en-IE" dirty="0"/>
              <a:t>Display the contents of the node and the address of the node</a:t>
            </a:r>
          </a:p>
          <a:p>
            <a:r>
              <a:rPr lang="en-IE" dirty="0"/>
              <a:t>Refer to </a:t>
            </a:r>
            <a:r>
              <a:rPr lang="en-IE" dirty="0" err="1"/>
              <a:t>ListNode.c</a:t>
            </a:r>
            <a:r>
              <a:rPr lang="en-IE" dirty="0"/>
              <a:t> </a:t>
            </a:r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pic>
        <p:nvPicPr>
          <p:cNvPr id="7" name="Picture 6" descr="denis.manley@apollo: ~/OS2/week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3717032"/>
            <a:ext cx="7200800" cy="281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906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/>
          <a:lstStyle/>
          <a:p>
            <a:r>
              <a:rPr lang="en-IE" dirty="0" err="1"/>
              <a:t>ListNode.c</a:t>
            </a:r>
            <a:r>
              <a:rPr lang="en-IE" dirty="0"/>
              <a:t> sample code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69" y="1268413"/>
            <a:ext cx="8094061" cy="4857750"/>
          </a:xfrm>
        </p:spPr>
      </p:pic>
    </p:spTree>
    <p:extLst>
      <p:ext uri="{BB962C8B-B14F-4D97-AF65-F5344CB8AC3E}">
        <p14:creationId xmlns:p14="http://schemas.microsoft.com/office/powerpoint/2010/main" val="3998431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/>
          <a:p>
            <a:r>
              <a:rPr lang="en-IE" dirty="0"/>
              <a:t>3 sample runs of </a:t>
            </a:r>
            <a:r>
              <a:rPr lang="en-IE" dirty="0" err="1"/>
              <a:t>ListNode.c</a:t>
            </a:r>
            <a:endParaRPr lang="en-IE" dirty="0"/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412776"/>
            <a:ext cx="7552074" cy="2994920"/>
          </a:xfrm>
        </p:spPr>
      </p:pic>
    </p:spTree>
    <p:extLst>
      <p:ext uri="{BB962C8B-B14F-4D97-AF65-F5344CB8AC3E}">
        <p14:creationId xmlns:p14="http://schemas.microsoft.com/office/powerpoint/2010/main" val="2273732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en-IE" dirty="0"/>
              <a:t>Class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>
            <a:normAutofit lnSpcReduction="10000"/>
          </a:bodyPr>
          <a:lstStyle/>
          <a:p>
            <a:r>
              <a:rPr lang="en-IE" dirty="0"/>
              <a:t>What is stored in </a:t>
            </a:r>
            <a:r>
              <a:rPr lang="en-IE" dirty="0" err="1"/>
              <a:t>newPtr</a:t>
            </a:r>
            <a:endParaRPr lang="en-IE" dirty="0"/>
          </a:p>
          <a:p>
            <a:endParaRPr lang="en-IE" dirty="0"/>
          </a:p>
          <a:p>
            <a:r>
              <a:rPr lang="en-IE" dirty="0"/>
              <a:t>In statement  </a:t>
            </a:r>
            <a:r>
              <a:rPr lang="en-IE" dirty="0" err="1"/>
              <a:t>newPtr</a:t>
            </a:r>
            <a:r>
              <a:rPr lang="en-IE" dirty="0"/>
              <a:t> -&gt; value = 8</a:t>
            </a:r>
          </a:p>
          <a:p>
            <a:pPr lvl="1"/>
            <a:r>
              <a:rPr lang="en-IE" dirty="0"/>
              <a:t>what data type is stored in </a:t>
            </a:r>
            <a:r>
              <a:rPr lang="en-IE" dirty="0" err="1"/>
              <a:t>newPtr</a:t>
            </a:r>
            <a:r>
              <a:rPr lang="en-IE" dirty="0"/>
              <a:t> ?</a:t>
            </a:r>
          </a:p>
          <a:p>
            <a:pPr lvl="1"/>
            <a:endParaRPr lang="en-IE" dirty="0"/>
          </a:p>
          <a:p>
            <a:r>
              <a:rPr lang="en-IE" dirty="0"/>
              <a:t>In statement </a:t>
            </a:r>
            <a:r>
              <a:rPr lang="en-IE" dirty="0" err="1"/>
              <a:t>newPtr</a:t>
            </a:r>
            <a:r>
              <a:rPr lang="en-IE" dirty="0"/>
              <a:t> -&gt; </a:t>
            </a:r>
            <a:r>
              <a:rPr lang="en-IE" dirty="0" err="1"/>
              <a:t>nextPtr</a:t>
            </a:r>
            <a:r>
              <a:rPr lang="en-IE" dirty="0"/>
              <a:t> = NULL</a:t>
            </a:r>
          </a:p>
          <a:p>
            <a:pPr lvl="1"/>
            <a:r>
              <a:rPr lang="en-IE" dirty="0"/>
              <a:t>What data type is </a:t>
            </a:r>
            <a:r>
              <a:rPr lang="en-IE" dirty="0" err="1"/>
              <a:t>nextPtr</a:t>
            </a:r>
            <a:r>
              <a:rPr lang="en-IE" dirty="0"/>
              <a:t> ?</a:t>
            </a:r>
          </a:p>
          <a:p>
            <a:r>
              <a:rPr lang="en-IE" dirty="0"/>
              <a:t>In statement </a:t>
            </a:r>
            <a:r>
              <a:rPr lang="en-IE" dirty="0" err="1"/>
              <a:t>newPtr</a:t>
            </a:r>
            <a:r>
              <a:rPr lang="en-IE" dirty="0"/>
              <a:t> -&gt; data = NULL</a:t>
            </a:r>
          </a:p>
          <a:p>
            <a:pPr lvl="1"/>
            <a:r>
              <a:rPr lang="en-IE" dirty="0"/>
              <a:t>What data type is data?</a:t>
            </a:r>
          </a:p>
          <a:p>
            <a:endParaRPr lang="en-IE" dirty="0"/>
          </a:p>
          <a:p>
            <a:pPr lvl="1"/>
            <a:endParaRPr lang="en-IE" dirty="0"/>
          </a:p>
          <a:p>
            <a:pPr marL="457200" lvl="1" indent="0">
              <a:buNone/>
            </a:pPr>
            <a:endParaRPr lang="en-IE" dirty="0"/>
          </a:p>
          <a:p>
            <a:endParaRPr lang="en-IE" dirty="0"/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666953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B7F8EFA8-47D3-465F-B127-7314B2499F4A}" type="slidenum">
              <a:rPr lang="zh-TW" altLang="en-US"/>
              <a:pPr/>
              <a:t>8</a:t>
            </a:fld>
            <a:endParaRPr lang="en-US" altLang="zh-TW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itchFamily="2" charset="-122"/>
              </a:rPr>
              <a:t>Linked Lists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816" y="2822153"/>
            <a:ext cx="7848600" cy="3559175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dirty="0">
                <a:ea typeface="宋体" pitchFamily="2" charset="-122"/>
              </a:rPr>
              <a:t>A </a:t>
            </a:r>
            <a:r>
              <a:rPr lang="en-US" altLang="zh-CN" i="1" dirty="0">
                <a:solidFill>
                  <a:srgbClr val="FFCC00"/>
                </a:solidFill>
                <a:ea typeface="宋体" pitchFamily="2" charset="-122"/>
              </a:rPr>
              <a:t>linked list</a:t>
            </a:r>
            <a:r>
              <a:rPr lang="en-US" altLang="zh-CN" dirty="0">
                <a:ea typeface="宋体" pitchFamily="2" charset="-122"/>
              </a:rPr>
              <a:t> is a series of connected </a:t>
            </a:r>
            <a:r>
              <a:rPr lang="en-US" altLang="zh-CN" i="1" dirty="0">
                <a:solidFill>
                  <a:srgbClr val="FFCC00"/>
                </a:solidFill>
                <a:ea typeface="宋体" pitchFamily="2" charset="-122"/>
              </a:rPr>
              <a:t>nodes</a:t>
            </a:r>
          </a:p>
          <a:p>
            <a:r>
              <a:rPr lang="en-US" altLang="zh-CN" dirty="0">
                <a:ea typeface="宋体" pitchFamily="2" charset="-122"/>
              </a:rPr>
              <a:t>Each node contains at least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A data field (any data type; e.g. </a:t>
            </a:r>
            <a:r>
              <a:rPr lang="en-US" altLang="zh-CN" dirty="0" err="1">
                <a:ea typeface="宋体" pitchFamily="2" charset="-122"/>
              </a:rPr>
              <a:t>int</a:t>
            </a:r>
            <a:r>
              <a:rPr lang="en-US" altLang="zh-CN" dirty="0">
                <a:ea typeface="宋体" pitchFamily="2" charset="-122"/>
              </a:rPr>
              <a:t>)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Node Pointer field: A pointer variable that stores the address of the </a:t>
            </a:r>
            <a:r>
              <a:rPr lang="en-US" altLang="zh-CN" dirty="0" err="1">
                <a:ea typeface="宋体" pitchFamily="2" charset="-122"/>
              </a:rPr>
              <a:t>the</a:t>
            </a:r>
            <a:r>
              <a:rPr lang="en-US" altLang="zh-CN" dirty="0">
                <a:ea typeface="宋体" pitchFamily="2" charset="-122"/>
              </a:rPr>
              <a:t> next node in the list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It has an address (&amp;node)</a:t>
            </a:r>
          </a:p>
          <a:p>
            <a:r>
              <a:rPr lang="en-US" altLang="zh-CN" i="1" dirty="0">
                <a:solidFill>
                  <a:srgbClr val="FFCC00"/>
                </a:solidFill>
                <a:ea typeface="宋体" pitchFamily="2" charset="-122"/>
              </a:rPr>
              <a:t>Head</a:t>
            </a:r>
            <a:r>
              <a:rPr lang="en-US" altLang="zh-CN" dirty="0">
                <a:ea typeface="宋体" pitchFamily="2" charset="-122"/>
              </a:rPr>
              <a:t>: “pointer” to the first node</a:t>
            </a:r>
          </a:p>
          <a:p>
            <a:r>
              <a:rPr lang="en-US" altLang="zh-CN" dirty="0">
                <a:ea typeface="宋体" pitchFamily="2" charset="-122"/>
              </a:rPr>
              <a:t>The last node points to </a:t>
            </a:r>
            <a:r>
              <a:rPr lang="en-US" altLang="zh-CN" dirty="0">
                <a:latin typeface="Courier New" pitchFamily="49" charset="0"/>
                <a:ea typeface="宋体" pitchFamily="2" charset="-122"/>
              </a:rPr>
              <a:t>NULL</a:t>
            </a:r>
          </a:p>
        </p:txBody>
      </p:sp>
      <p:sp>
        <p:nvSpPr>
          <p:cNvPr id="5125" name="Rectangle 15"/>
          <p:cNvSpPr>
            <a:spLocks noChangeArrowheads="1"/>
          </p:cNvSpPr>
          <p:nvPr/>
        </p:nvSpPr>
        <p:spPr bwMode="auto">
          <a:xfrm>
            <a:off x="3267075" y="1835150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IE" altLang="en-US"/>
          </a:p>
        </p:txBody>
      </p:sp>
      <p:sp>
        <p:nvSpPr>
          <p:cNvPr id="5126" name="Line 16"/>
          <p:cNvSpPr>
            <a:spLocks noChangeShapeType="1"/>
          </p:cNvSpPr>
          <p:nvPr/>
        </p:nvSpPr>
        <p:spPr bwMode="auto">
          <a:xfrm flipV="1">
            <a:off x="3571875" y="2139950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E"/>
          </a:p>
        </p:txBody>
      </p:sp>
      <p:sp>
        <p:nvSpPr>
          <p:cNvPr id="5127" name="Rectangle 18"/>
          <p:cNvSpPr>
            <a:spLocks noChangeArrowheads="1"/>
          </p:cNvSpPr>
          <p:nvPr/>
        </p:nvSpPr>
        <p:spPr bwMode="auto">
          <a:xfrm>
            <a:off x="5095875" y="1835150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IE" altLang="en-US"/>
          </a:p>
        </p:txBody>
      </p:sp>
      <p:sp>
        <p:nvSpPr>
          <p:cNvPr id="5128" name="Line 19"/>
          <p:cNvSpPr>
            <a:spLocks noChangeShapeType="1"/>
          </p:cNvSpPr>
          <p:nvPr/>
        </p:nvSpPr>
        <p:spPr bwMode="auto">
          <a:xfrm flipV="1">
            <a:off x="5400675" y="2139950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E"/>
          </a:p>
        </p:txBody>
      </p:sp>
      <p:sp>
        <p:nvSpPr>
          <p:cNvPr id="5129" name="Rectangle 21"/>
          <p:cNvSpPr>
            <a:spLocks noChangeArrowheads="1"/>
          </p:cNvSpPr>
          <p:nvPr/>
        </p:nvSpPr>
        <p:spPr bwMode="auto">
          <a:xfrm>
            <a:off x="6924675" y="1835150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IE" altLang="en-US"/>
          </a:p>
        </p:txBody>
      </p:sp>
      <p:grpSp>
        <p:nvGrpSpPr>
          <p:cNvPr id="5130" name="Group 36"/>
          <p:cNvGrpSpPr>
            <a:grpSpLocks/>
          </p:cNvGrpSpPr>
          <p:nvPr/>
        </p:nvGrpSpPr>
        <p:grpSpPr bwMode="auto">
          <a:xfrm>
            <a:off x="2657475" y="1835150"/>
            <a:ext cx="609600" cy="609600"/>
            <a:chOff x="1728" y="2880"/>
            <a:chExt cx="384" cy="384"/>
          </a:xfrm>
        </p:grpSpPr>
        <p:sp>
          <p:nvSpPr>
            <p:cNvPr id="5150" name="Rectangle 14"/>
            <p:cNvSpPr>
              <a:spLocks noChangeArrowheads="1"/>
            </p:cNvSpPr>
            <p:nvPr/>
          </p:nvSpPr>
          <p:spPr bwMode="auto">
            <a:xfrm>
              <a:off x="1728" y="2880"/>
              <a:ext cx="384" cy="384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IE" altLang="en-US"/>
            </a:p>
          </p:txBody>
        </p:sp>
        <p:sp>
          <p:nvSpPr>
            <p:cNvPr id="5151" name="Text Box 23"/>
            <p:cNvSpPr txBox="1">
              <a:spLocks noChangeArrowheads="1"/>
            </p:cNvSpPr>
            <p:nvPr/>
          </p:nvSpPr>
          <p:spPr bwMode="auto">
            <a:xfrm>
              <a:off x="1819" y="2966"/>
              <a:ext cx="21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altLang="zh-CN" sz="2000">
                  <a:solidFill>
                    <a:schemeClr val="bg1"/>
                  </a:solidFill>
                  <a:latin typeface="Tahoma" pitchFamily="34" charset="0"/>
                  <a:ea typeface="宋体" pitchFamily="2" charset="-122"/>
                </a:rPr>
                <a:t>A</a:t>
              </a:r>
            </a:p>
          </p:txBody>
        </p:sp>
      </p:grpSp>
      <p:sp>
        <p:nvSpPr>
          <p:cNvPr id="5131" name="Text Box 29"/>
          <p:cNvSpPr txBox="1">
            <a:spLocks noChangeArrowheads="1"/>
          </p:cNvSpPr>
          <p:nvPr/>
        </p:nvSpPr>
        <p:spPr bwMode="auto">
          <a:xfrm>
            <a:off x="7050088" y="1943100"/>
            <a:ext cx="3937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zh-CN" altLang="en-US" sz="2000" b="1">
                <a:latin typeface="Tahoma" pitchFamily="34" charset="0"/>
                <a:ea typeface="宋体" pitchFamily="2" charset="-122"/>
                <a:sym typeface="Symbol" pitchFamily="18" charset="2"/>
              </a:rPr>
              <a:t></a:t>
            </a:r>
            <a:endParaRPr lang="zh-CN" altLang="en-US" sz="2000" b="1">
              <a:latin typeface="Tahoma" pitchFamily="34" charset="0"/>
              <a:ea typeface="宋体" pitchFamily="2" charset="-122"/>
            </a:endParaRPr>
          </a:p>
        </p:txBody>
      </p:sp>
      <p:sp>
        <p:nvSpPr>
          <p:cNvPr id="5132" name="Rectangle 31"/>
          <p:cNvSpPr>
            <a:spLocks noChangeArrowheads="1"/>
          </p:cNvSpPr>
          <p:nvPr/>
        </p:nvSpPr>
        <p:spPr bwMode="auto">
          <a:xfrm>
            <a:off x="1438275" y="1828800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IE" altLang="en-US"/>
          </a:p>
        </p:txBody>
      </p:sp>
      <p:sp>
        <p:nvSpPr>
          <p:cNvPr id="5133" name="Line 13"/>
          <p:cNvSpPr>
            <a:spLocks noChangeShapeType="1"/>
          </p:cNvSpPr>
          <p:nvPr/>
        </p:nvSpPr>
        <p:spPr bwMode="auto">
          <a:xfrm flipV="1">
            <a:off x="1743075" y="2139950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E"/>
          </a:p>
        </p:txBody>
      </p:sp>
      <p:sp>
        <p:nvSpPr>
          <p:cNvPr id="5134" name="Text Box 34"/>
          <p:cNvSpPr txBox="1">
            <a:spLocks noChangeArrowheads="1"/>
          </p:cNvSpPr>
          <p:nvPr/>
        </p:nvSpPr>
        <p:spPr bwMode="auto">
          <a:xfrm>
            <a:off x="1371600" y="2520950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zh-CN" sz="2000" dirty="0">
                <a:solidFill>
                  <a:schemeClr val="folHlink"/>
                </a:solidFill>
                <a:latin typeface="Tahoma" pitchFamily="34" charset="0"/>
                <a:ea typeface="宋体" pitchFamily="2" charset="-122"/>
              </a:rPr>
              <a:t>Head</a:t>
            </a:r>
          </a:p>
        </p:txBody>
      </p:sp>
      <p:grpSp>
        <p:nvGrpSpPr>
          <p:cNvPr id="5135" name="Group 37"/>
          <p:cNvGrpSpPr>
            <a:grpSpLocks/>
          </p:cNvGrpSpPr>
          <p:nvPr/>
        </p:nvGrpSpPr>
        <p:grpSpPr bwMode="auto">
          <a:xfrm>
            <a:off x="4486275" y="1835150"/>
            <a:ext cx="609600" cy="609600"/>
            <a:chOff x="1728" y="2880"/>
            <a:chExt cx="384" cy="384"/>
          </a:xfrm>
        </p:grpSpPr>
        <p:sp>
          <p:nvSpPr>
            <p:cNvPr id="5148" name="Rectangle 38"/>
            <p:cNvSpPr>
              <a:spLocks noChangeArrowheads="1"/>
            </p:cNvSpPr>
            <p:nvPr/>
          </p:nvSpPr>
          <p:spPr bwMode="auto">
            <a:xfrm>
              <a:off x="1728" y="2880"/>
              <a:ext cx="384" cy="384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IE" altLang="en-US"/>
            </a:p>
          </p:txBody>
        </p:sp>
        <p:sp>
          <p:nvSpPr>
            <p:cNvPr id="5149" name="Text Box 39"/>
            <p:cNvSpPr txBox="1">
              <a:spLocks noChangeArrowheads="1"/>
            </p:cNvSpPr>
            <p:nvPr/>
          </p:nvSpPr>
          <p:spPr bwMode="auto">
            <a:xfrm>
              <a:off x="1820" y="2966"/>
              <a:ext cx="21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altLang="zh-CN" sz="2000">
                  <a:solidFill>
                    <a:schemeClr val="bg1"/>
                  </a:solidFill>
                  <a:latin typeface="Tahoma" pitchFamily="34" charset="0"/>
                  <a:ea typeface="宋体" pitchFamily="2" charset="-122"/>
                </a:rPr>
                <a:t>B</a:t>
              </a:r>
            </a:p>
          </p:txBody>
        </p:sp>
      </p:grpSp>
      <p:grpSp>
        <p:nvGrpSpPr>
          <p:cNvPr id="5136" name="Group 40"/>
          <p:cNvGrpSpPr>
            <a:grpSpLocks/>
          </p:cNvGrpSpPr>
          <p:nvPr/>
        </p:nvGrpSpPr>
        <p:grpSpPr bwMode="auto">
          <a:xfrm>
            <a:off x="6315075" y="1835150"/>
            <a:ext cx="609600" cy="609600"/>
            <a:chOff x="1728" y="2880"/>
            <a:chExt cx="384" cy="384"/>
          </a:xfrm>
        </p:grpSpPr>
        <p:sp>
          <p:nvSpPr>
            <p:cNvPr id="5146" name="Rectangle 41"/>
            <p:cNvSpPr>
              <a:spLocks noChangeArrowheads="1"/>
            </p:cNvSpPr>
            <p:nvPr/>
          </p:nvSpPr>
          <p:spPr bwMode="auto">
            <a:xfrm>
              <a:off x="1728" y="2880"/>
              <a:ext cx="384" cy="384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IE" altLang="en-US"/>
            </a:p>
          </p:txBody>
        </p:sp>
        <p:sp>
          <p:nvSpPr>
            <p:cNvPr id="5147" name="Text Box 42"/>
            <p:cNvSpPr txBox="1">
              <a:spLocks noChangeArrowheads="1"/>
            </p:cNvSpPr>
            <p:nvPr/>
          </p:nvSpPr>
          <p:spPr bwMode="auto">
            <a:xfrm>
              <a:off x="1819" y="2966"/>
              <a:ext cx="21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altLang="zh-CN" sz="2000">
                  <a:solidFill>
                    <a:schemeClr val="bg1"/>
                  </a:solidFill>
                  <a:latin typeface="Tahoma" pitchFamily="34" charset="0"/>
                  <a:ea typeface="宋体" pitchFamily="2" charset="-122"/>
                </a:rPr>
                <a:t>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49361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BDE9A539-16C8-440C-B7EC-F22FA7599424}" type="slidenum">
              <a:rPr lang="zh-TW" altLang="en-US"/>
              <a:pPr/>
              <a:t>9</a:t>
            </a:fld>
            <a:endParaRPr lang="en-US" altLang="zh-TW" dirty="0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848600" cy="838200"/>
          </a:xfrm>
        </p:spPr>
        <p:txBody>
          <a:bodyPr/>
          <a:lstStyle/>
          <a:p>
            <a:r>
              <a:rPr lang="en-US" altLang="zh-CN" dirty="0">
                <a:ea typeface="宋体" pitchFamily="2" charset="-122"/>
              </a:rPr>
              <a:t>Link List Overview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066800"/>
            <a:ext cx="7848600" cy="5410200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bg2"/>
                </a:solidFill>
                <a:ea typeface="宋体" pitchFamily="2" charset="-122"/>
              </a:rPr>
              <a:t>Linked lists: a set of interconnected nodes</a:t>
            </a:r>
          </a:p>
          <a:p>
            <a:endParaRPr lang="en-US" altLang="zh-CN" dirty="0">
              <a:solidFill>
                <a:schemeClr val="bg2"/>
              </a:solidFill>
              <a:ea typeface="宋体" pitchFamily="2" charset="-122"/>
            </a:endParaRPr>
          </a:p>
          <a:p>
            <a:r>
              <a:rPr lang="en-US" altLang="zh-CN" dirty="0">
                <a:solidFill>
                  <a:schemeClr val="bg2"/>
                </a:solidFill>
                <a:ea typeface="宋体" pitchFamily="2" charset="-122"/>
              </a:rPr>
              <a:t>Basic operations of linked lists</a:t>
            </a:r>
          </a:p>
          <a:p>
            <a:pPr lvl="1"/>
            <a:r>
              <a:rPr lang="en-US" altLang="zh-CN" dirty="0">
                <a:solidFill>
                  <a:schemeClr val="bg2"/>
                </a:solidFill>
                <a:ea typeface="宋体" pitchFamily="2" charset="-122"/>
              </a:rPr>
              <a:t>Insert, find, delete, print, edit….</a:t>
            </a:r>
          </a:p>
          <a:p>
            <a:endParaRPr lang="en-US" altLang="zh-CN" dirty="0">
              <a:solidFill>
                <a:schemeClr val="bg2"/>
              </a:solidFill>
              <a:ea typeface="宋体" pitchFamily="2" charset="-122"/>
            </a:endParaRPr>
          </a:p>
          <a:p>
            <a:r>
              <a:rPr lang="en-US" altLang="zh-CN" dirty="0">
                <a:solidFill>
                  <a:schemeClr val="bg2"/>
                </a:solidFill>
                <a:ea typeface="宋体" pitchFamily="2" charset="-122"/>
              </a:rPr>
              <a:t>Variations of linked lists</a:t>
            </a:r>
          </a:p>
          <a:p>
            <a:pPr lvl="1"/>
            <a:r>
              <a:rPr lang="en-US" altLang="zh-CN" dirty="0">
                <a:solidFill>
                  <a:schemeClr val="bg2"/>
                </a:solidFill>
                <a:ea typeface="宋体" pitchFamily="2" charset="-122"/>
              </a:rPr>
              <a:t>Stacks : e.g. the program/thread stack: (L.I.F.O.)</a:t>
            </a:r>
          </a:p>
          <a:p>
            <a:pPr lvl="1"/>
            <a:r>
              <a:rPr lang="en-US" altLang="zh-CN" dirty="0">
                <a:solidFill>
                  <a:schemeClr val="bg2"/>
                </a:solidFill>
                <a:ea typeface="宋体" pitchFamily="2" charset="-122"/>
              </a:rPr>
              <a:t>Queues: used for algorithms for scheduling processes to run on a CPU: (F.I.F.O.)</a:t>
            </a:r>
          </a:p>
          <a:p>
            <a:pPr lvl="1"/>
            <a:endParaRPr lang="en-US" altLang="zh-CN" dirty="0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90208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A2B80979-A276-480D-BEE8-ADA8BA4B9ED9}" type="slidenum">
              <a:rPr lang="zh-TW" altLang="en-US"/>
              <a:pPr/>
              <a:t>10</a:t>
            </a:fld>
            <a:endParaRPr lang="en-US" altLang="zh-TW"/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ea typeface="宋体" pitchFamily="2" charset="-122"/>
              </a:rPr>
              <a:t>A Simple Linked List “Node” structure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0275" y="1600200"/>
            <a:ext cx="7485062" cy="4525962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sz="1800" dirty="0">
                <a:ea typeface="宋体" pitchFamily="2" charset="-122"/>
              </a:rPr>
              <a:t>Linked lists are made up of Nodes</a:t>
            </a:r>
          </a:p>
          <a:p>
            <a:pPr>
              <a:lnSpc>
                <a:spcPct val="80000"/>
              </a:lnSpc>
            </a:pPr>
            <a:r>
              <a:rPr lang="en-US" altLang="zh-CN" sz="1800" dirty="0">
                <a:ea typeface="宋体" pitchFamily="2" charset="-122"/>
              </a:rPr>
              <a:t>Declare </a:t>
            </a:r>
            <a:r>
              <a:rPr lang="en-US" altLang="zh-CN" sz="1800" dirty="0">
                <a:latin typeface="Courier New" pitchFamily="49" charset="0"/>
                <a:ea typeface="宋体" pitchFamily="2" charset="-122"/>
              </a:rPr>
              <a:t>Node </a:t>
            </a:r>
            <a:r>
              <a:rPr lang="en-US" altLang="zh-CN" sz="1800" dirty="0">
                <a:ea typeface="宋体" pitchFamily="2" charset="-122"/>
              </a:rPr>
              <a:t>structure for each node</a:t>
            </a:r>
          </a:p>
          <a:p>
            <a:pPr lvl="1">
              <a:lnSpc>
                <a:spcPct val="80000"/>
              </a:lnSpc>
            </a:pPr>
            <a:r>
              <a:rPr lang="en-US" altLang="zh-CN" sz="1800" dirty="0">
                <a:latin typeface="Courier New" pitchFamily="49" charset="0"/>
                <a:ea typeface="宋体" pitchFamily="2" charset="-122"/>
              </a:rPr>
              <a:t>data</a:t>
            </a:r>
            <a:r>
              <a:rPr lang="en-US" altLang="zh-CN" sz="1800" dirty="0">
                <a:ea typeface="宋体" pitchFamily="2" charset="-122"/>
              </a:rPr>
              <a:t>: </a:t>
            </a:r>
            <a:r>
              <a:rPr lang="en-US" altLang="zh-CN" sz="1800" dirty="0">
                <a:latin typeface="Courier New" pitchFamily="49" charset="0"/>
                <a:ea typeface="宋体" pitchFamily="2" charset="-122"/>
              </a:rPr>
              <a:t>char</a:t>
            </a:r>
            <a:r>
              <a:rPr lang="en-US" altLang="zh-CN" sz="1800" dirty="0">
                <a:ea typeface="宋体" pitchFamily="2" charset="-122"/>
              </a:rPr>
              <a:t>-type data in this example</a:t>
            </a:r>
          </a:p>
          <a:p>
            <a:pPr lvl="1">
              <a:lnSpc>
                <a:spcPct val="80000"/>
              </a:lnSpc>
            </a:pPr>
            <a:r>
              <a:rPr lang="en-US" altLang="zh-CN" sz="1800" dirty="0">
                <a:latin typeface="Courier New" pitchFamily="49" charset="0"/>
                <a:ea typeface="宋体" pitchFamily="2" charset="-122"/>
              </a:rPr>
              <a:t>next</a:t>
            </a:r>
            <a:r>
              <a:rPr lang="en-US" altLang="zh-CN" sz="1800" dirty="0">
                <a:ea typeface="宋体" pitchFamily="2" charset="-122"/>
              </a:rPr>
              <a:t>: a pointer to the next node in the list</a:t>
            </a:r>
          </a:p>
          <a:p>
            <a:pPr lvl="1">
              <a:lnSpc>
                <a:spcPct val="80000"/>
              </a:lnSpc>
            </a:pPr>
            <a:endParaRPr lang="en-US" altLang="zh-CN" sz="1800" dirty="0">
              <a:ea typeface="宋体" pitchFamily="2" charset="-122"/>
            </a:endParaRPr>
          </a:p>
          <a:p>
            <a:pPr lvl="1">
              <a:lnSpc>
                <a:spcPct val="80000"/>
              </a:lnSpc>
            </a:pPr>
            <a:endParaRPr lang="en-US" altLang="zh-CN" sz="1800" dirty="0">
              <a:ea typeface="宋体" pitchFamily="2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1800" dirty="0">
                <a:ea typeface="宋体" pitchFamily="2" charset="-122"/>
              </a:rPr>
              <a:t>// c code to define </a:t>
            </a:r>
            <a:r>
              <a:rPr lang="en-US" altLang="zh-CN" sz="1800" dirty="0" err="1">
                <a:ea typeface="宋体" pitchFamily="2" charset="-122"/>
              </a:rPr>
              <a:t>listNode</a:t>
            </a:r>
            <a:r>
              <a:rPr lang="en-US" altLang="zh-CN" sz="1800" dirty="0">
                <a:ea typeface="宋体" pitchFamily="2" charset="-122"/>
              </a:rPr>
              <a:t> structure                      </a:t>
            </a:r>
          </a:p>
          <a:p>
            <a:pPr>
              <a:lnSpc>
                <a:spcPct val="80000"/>
              </a:lnSpc>
            </a:pPr>
            <a:r>
              <a:rPr lang="en-US" altLang="zh-CN" sz="1800" b="1" dirty="0" err="1">
                <a:ea typeface="宋体" pitchFamily="2" charset="-122"/>
              </a:rPr>
              <a:t>struct</a:t>
            </a:r>
            <a:r>
              <a:rPr lang="en-US" altLang="zh-CN" sz="1800" b="1" dirty="0">
                <a:ea typeface="宋体" pitchFamily="2" charset="-122"/>
              </a:rPr>
              <a:t> </a:t>
            </a:r>
            <a:r>
              <a:rPr lang="en-US" altLang="zh-CN" sz="1800" b="1" dirty="0" err="1">
                <a:ea typeface="宋体" pitchFamily="2" charset="-122"/>
              </a:rPr>
              <a:t>listNode</a:t>
            </a:r>
            <a:r>
              <a:rPr lang="en-US" altLang="zh-CN" sz="1800" b="1" dirty="0">
                <a:ea typeface="宋体" pitchFamily="2" charset="-122"/>
              </a:rPr>
              <a:t> {                                      </a:t>
            </a:r>
          </a:p>
          <a:p>
            <a:pPr>
              <a:lnSpc>
                <a:spcPct val="80000"/>
              </a:lnSpc>
            </a:pPr>
            <a:r>
              <a:rPr lang="en-US" altLang="zh-CN" sz="1800" b="1" dirty="0">
                <a:ea typeface="宋体" pitchFamily="2" charset="-122"/>
              </a:rPr>
              <a:t>   char data; // each </a:t>
            </a:r>
            <a:r>
              <a:rPr lang="en-US" altLang="zh-CN" sz="1800" b="1" dirty="0" err="1">
                <a:ea typeface="宋体" pitchFamily="2" charset="-122"/>
              </a:rPr>
              <a:t>listNode</a:t>
            </a:r>
            <a:r>
              <a:rPr lang="en-US" altLang="zh-CN" sz="1800" b="1" dirty="0">
                <a:ea typeface="宋体" pitchFamily="2" charset="-122"/>
              </a:rPr>
              <a:t> contains a character </a:t>
            </a:r>
          </a:p>
          <a:p>
            <a:pPr>
              <a:lnSpc>
                <a:spcPct val="80000"/>
              </a:lnSpc>
            </a:pPr>
            <a:r>
              <a:rPr lang="en-US" altLang="zh-CN" sz="1800" b="1" dirty="0">
                <a:ea typeface="宋体" pitchFamily="2" charset="-122"/>
              </a:rPr>
              <a:t>   </a:t>
            </a:r>
            <a:r>
              <a:rPr lang="en-US" altLang="zh-CN" sz="1800" b="1" dirty="0" err="1">
                <a:ea typeface="宋体" pitchFamily="2" charset="-122"/>
              </a:rPr>
              <a:t>struct</a:t>
            </a:r>
            <a:r>
              <a:rPr lang="en-US" altLang="zh-CN" sz="1800" b="1" dirty="0">
                <a:ea typeface="宋体" pitchFamily="2" charset="-122"/>
              </a:rPr>
              <a:t> </a:t>
            </a:r>
            <a:r>
              <a:rPr lang="en-US" altLang="zh-CN" sz="1800" b="1" dirty="0" err="1">
                <a:ea typeface="宋体" pitchFamily="2" charset="-122"/>
              </a:rPr>
              <a:t>listNode</a:t>
            </a:r>
            <a:r>
              <a:rPr lang="en-US" altLang="zh-CN" sz="1800" b="1" dirty="0">
                <a:ea typeface="宋体" pitchFamily="2" charset="-122"/>
              </a:rPr>
              <a:t> *</a:t>
            </a:r>
            <a:r>
              <a:rPr lang="en-US" altLang="zh-CN" sz="1800" b="1" dirty="0" err="1">
                <a:ea typeface="宋体" pitchFamily="2" charset="-122"/>
              </a:rPr>
              <a:t>nextPtr</a:t>
            </a:r>
            <a:r>
              <a:rPr lang="en-US" altLang="zh-CN" sz="1800" b="1" dirty="0">
                <a:ea typeface="宋体" pitchFamily="2" charset="-122"/>
              </a:rPr>
              <a:t>; // pointer to next node</a:t>
            </a:r>
          </a:p>
          <a:p>
            <a:pPr>
              <a:lnSpc>
                <a:spcPct val="80000"/>
              </a:lnSpc>
            </a:pPr>
            <a:r>
              <a:rPr lang="en-US" altLang="zh-CN" sz="1800" b="1" dirty="0">
                <a:ea typeface="宋体" pitchFamily="2" charset="-122"/>
              </a:rPr>
              <a:t>}; </a:t>
            </a:r>
            <a:r>
              <a:rPr lang="en-US" altLang="zh-CN" sz="1800" dirty="0">
                <a:ea typeface="宋体" pitchFamily="2" charset="-122"/>
              </a:rPr>
              <a:t>/</a:t>
            </a:r>
            <a:r>
              <a:rPr lang="en-US" altLang="zh-CN" sz="1800" dirty="0" err="1">
                <a:ea typeface="宋体" pitchFamily="2" charset="-122"/>
              </a:rPr>
              <a:t>typedef</a:t>
            </a:r>
            <a:r>
              <a:rPr lang="en-US" altLang="zh-CN" sz="1800" dirty="0">
                <a:ea typeface="宋体" pitchFamily="2" charset="-122"/>
              </a:rPr>
              <a:t> </a:t>
            </a:r>
            <a:r>
              <a:rPr lang="en-US" altLang="zh-CN" sz="1800" dirty="0" err="1">
                <a:ea typeface="宋体" pitchFamily="2" charset="-122"/>
              </a:rPr>
              <a:t>struct</a:t>
            </a:r>
            <a:r>
              <a:rPr lang="en-US" altLang="zh-CN" sz="1800" dirty="0">
                <a:ea typeface="宋体" pitchFamily="2" charset="-122"/>
              </a:rPr>
              <a:t> </a:t>
            </a:r>
            <a:r>
              <a:rPr lang="en-US" altLang="zh-CN" sz="1800" dirty="0" err="1">
                <a:ea typeface="宋体" pitchFamily="2" charset="-122"/>
              </a:rPr>
              <a:t>listNode</a:t>
            </a:r>
            <a:r>
              <a:rPr lang="en-US" altLang="zh-CN" sz="1800" dirty="0">
                <a:ea typeface="宋体" pitchFamily="2" charset="-122"/>
              </a:rPr>
              <a:t> </a:t>
            </a:r>
            <a:r>
              <a:rPr lang="en-US" altLang="zh-CN" sz="1800" dirty="0" err="1">
                <a:ea typeface="宋体" pitchFamily="2" charset="-122"/>
              </a:rPr>
              <a:t>ListNode</a:t>
            </a:r>
            <a:r>
              <a:rPr lang="en-US" altLang="zh-CN" sz="1800" dirty="0">
                <a:ea typeface="宋体" pitchFamily="2" charset="-122"/>
              </a:rPr>
              <a:t>; // synonym for </a:t>
            </a:r>
            <a:r>
              <a:rPr lang="en-US" altLang="zh-CN" sz="1800" dirty="0" err="1">
                <a:ea typeface="宋体" pitchFamily="2" charset="-122"/>
              </a:rPr>
              <a:t>struct</a:t>
            </a:r>
            <a:r>
              <a:rPr lang="en-US" altLang="zh-CN" sz="1800" dirty="0">
                <a:ea typeface="宋体" pitchFamily="2" charset="-122"/>
              </a:rPr>
              <a:t> </a:t>
            </a:r>
            <a:r>
              <a:rPr lang="en-US" altLang="zh-CN" sz="1800" dirty="0" err="1">
                <a:ea typeface="宋体" pitchFamily="2" charset="-122"/>
              </a:rPr>
              <a:t>listNode</a:t>
            </a:r>
            <a:endParaRPr lang="en-US" altLang="zh-CN" sz="1800" dirty="0">
              <a:ea typeface="宋体" pitchFamily="2" charset="-122"/>
            </a:endParaRPr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838200" y="4784725"/>
            <a:ext cx="184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zh-CN" sz="2000">
              <a:solidFill>
                <a:srgbClr val="FFFFFF"/>
              </a:solidFill>
              <a:latin typeface="Courier New" pitchFamily="49" charset="0"/>
              <a:ea typeface="宋体" pitchFamily="2" charset="-122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385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65DF8D1-701C-4E82-9D27-EB597D7CA1BE}" type="slidenum">
              <a:rPr lang="zh-TW" altLang="en-US"/>
              <a:pPr/>
              <a:t>11</a:t>
            </a:fld>
            <a:endParaRPr lang="en-US" altLang="zh-TW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Operations on Linked List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417638"/>
            <a:ext cx="8659688" cy="4678362"/>
          </a:xfrm>
        </p:spPr>
        <p:txBody>
          <a:bodyPr>
            <a:normAutofit/>
          </a:bodyPr>
          <a:lstStyle/>
          <a:p>
            <a:r>
              <a:rPr lang="en-US" altLang="en-US" sz="2400" dirty="0" err="1"/>
              <a:t>sPtr</a:t>
            </a:r>
            <a:r>
              <a:rPr lang="en-US" altLang="en-US" sz="2400" dirty="0"/>
              <a:t> is a “</a:t>
            </a:r>
            <a:r>
              <a:rPr lang="en-US" altLang="en-US" sz="2400" dirty="0" err="1"/>
              <a:t>ListNode</a:t>
            </a:r>
            <a:r>
              <a:rPr lang="en-US" altLang="en-US" sz="2400" dirty="0"/>
              <a:t>” double pointer variable</a:t>
            </a:r>
          </a:p>
          <a:p>
            <a:r>
              <a:rPr lang="en-US" altLang="en-US" sz="2400" dirty="0"/>
              <a:t>It must be a double pointer in order to pass a pointer by reference</a:t>
            </a:r>
          </a:p>
          <a:p>
            <a:r>
              <a:rPr lang="en-US" altLang="en-US" sz="2400" dirty="0" err="1"/>
              <a:t>currentPtr</a:t>
            </a:r>
            <a:r>
              <a:rPr lang="en-US" altLang="en-US" sz="2400" dirty="0"/>
              <a:t> is a single pointer as we only pass the pointer by value</a:t>
            </a:r>
          </a:p>
          <a:p>
            <a:r>
              <a:rPr lang="en-US" altLang="en-US" sz="2400" dirty="0"/>
              <a:t>In this code the pointer variable stores the address of the first node of the list.    </a:t>
            </a:r>
          </a:p>
        </p:txBody>
      </p:sp>
      <p:pic>
        <p:nvPicPr>
          <p:cNvPr id="2" name="Picture 1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4365104"/>
            <a:ext cx="5328592" cy="1557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4782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Code to initialise and call a insert </a:t>
            </a:r>
            <a:r>
              <a:rPr lang="en-IE" dirty="0" err="1"/>
              <a:t>fnt</a:t>
            </a:r>
            <a:endParaRPr lang="en-IE" dirty="0"/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513" y="1844824"/>
            <a:ext cx="8003232" cy="1381584"/>
          </a:xfrm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856" y="3789040"/>
            <a:ext cx="8142287" cy="11780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55576" y="5445224"/>
            <a:ext cx="69847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The “double pointer” variable </a:t>
            </a:r>
            <a:r>
              <a:rPr lang="en-IE" dirty="0" err="1"/>
              <a:t>sPtr</a:t>
            </a:r>
            <a:r>
              <a:rPr lang="en-IE" dirty="0"/>
              <a:t> in the insert function is assigned the </a:t>
            </a:r>
          </a:p>
          <a:p>
            <a:r>
              <a:rPr lang="en-IE" dirty="0"/>
              <a:t>Address of </a:t>
            </a:r>
            <a:r>
              <a:rPr lang="en-IE" dirty="0" err="1"/>
              <a:t>startPtr</a:t>
            </a:r>
            <a:r>
              <a:rPr lang="en-IE" dirty="0"/>
              <a:t>: a variable that stores the address of the first node in the list. If the list is empty in contains a NULL value.   </a:t>
            </a:r>
          </a:p>
        </p:txBody>
      </p:sp>
    </p:spTree>
    <p:extLst>
      <p:ext uri="{BB962C8B-B14F-4D97-AF65-F5344CB8AC3E}">
        <p14:creationId xmlns:p14="http://schemas.microsoft.com/office/powerpoint/2010/main" val="1437062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Home </a:t>
            </a:r>
            <a:r>
              <a:rPr lang="en-IE"/>
              <a:t>Work Question  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r>
              <a:rPr lang="en-IE" dirty="0"/>
              <a:t>Write a C program that creates a new node which contains: an employee record (the data) and a pointer to a node.</a:t>
            </a:r>
          </a:p>
          <a:p>
            <a:r>
              <a:rPr lang="en-IE" dirty="0"/>
              <a:t>Assign any values to the data element of the node and NULL to the pointer part  </a:t>
            </a:r>
          </a:p>
          <a:p>
            <a:r>
              <a:rPr lang="en-IE" dirty="0"/>
              <a:t>Display the contents of this node and the address of the node</a:t>
            </a:r>
          </a:p>
        </p:txBody>
      </p:sp>
    </p:spTree>
    <p:extLst>
      <p:ext uri="{BB962C8B-B14F-4D97-AF65-F5344CB8AC3E}">
        <p14:creationId xmlns:p14="http://schemas.microsoft.com/office/powerpoint/2010/main" val="361298518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5acc3ace-ffb3-43de-92f9-04eebb32205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589</TotalTime>
  <Words>661</Words>
  <Application>Microsoft Office PowerPoint</Application>
  <PresentationFormat>On-screen Show (4:3)</PresentationFormat>
  <Paragraphs>93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Courier New</vt:lpstr>
      <vt:lpstr>Tahoma</vt:lpstr>
      <vt:lpstr>Office Theme</vt:lpstr>
      <vt:lpstr>Lecture 6</vt:lpstr>
      <vt:lpstr>Array versus link list </vt:lpstr>
      <vt:lpstr>The node </vt:lpstr>
      <vt:lpstr>Dynamically create a node </vt:lpstr>
      <vt:lpstr>ListNode.c sample code</vt:lpstr>
      <vt:lpstr>3 sample runs of ListNode.c</vt:lpstr>
      <vt:lpstr>Class Question</vt:lpstr>
      <vt:lpstr>Linked Lists</vt:lpstr>
      <vt:lpstr>Link List Overview</vt:lpstr>
      <vt:lpstr>A Simple Linked List “Node” structure</vt:lpstr>
      <vt:lpstr>Operations on Linked List</vt:lpstr>
      <vt:lpstr>Code to initialise and call a insert fnt</vt:lpstr>
      <vt:lpstr>Home Work Question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5</dc:title>
  <dc:creator>Denis Manley</dc:creator>
  <cp:lastModifiedBy>Denis Manley</cp:lastModifiedBy>
  <cp:revision>20</cp:revision>
  <dcterms:created xsi:type="dcterms:W3CDTF">2019-09-26T13:42:28Z</dcterms:created>
  <dcterms:modified xsi:type="dcterms:W3CDTF">2023-10-04T18:34:59Z</dcterms:modified>
</cp:coreProperties>
</file>