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7" r:id="rId3"/>
    <p:sldId id="258" r:id="rId4"/>
    <p:sldId id="259" r:id="rId5"/>
    <p:sldId id="260" r:id="rId6"/>
    <p:sldId id="261" r:id="rId7"/>
    <p:sldId id="298" r:id="rId8"/>
    <p:sldId id="263" r:id="rId9"/>
    <p:sldId id="297" r:id="rId10"/>
    <p:sldId id="264" r:id="rId11"/>
    <p:sldId id="265" r:id="rId12"/>
    <p:sldId id="293" r:id="rId13"/>
    <p:sldId id="266" r:id="rId14"/>
    <p:sldId id="287" r:id="rId15"/>
    <p:sldId id="296" r:id="rId16"/>
    <p:sldId id="294" r:id="rId17"/>
    <p:sldId id="268" r:id="rId18"/>
    <p:sldId id="273" r:id="rId19"/>
    <p:sldId id="274" r:id="rId20"/>
    <p:sldId id="275" r:id="rId21"/>
    <p:sldId id="276" r:id="rId22"/>
    <p:sldId id="288" r:id="rId23"/>
    <p:sldId id="277" r:id="rId24"/>
    <p:sldId id="289" r:id="rId25"/>
    <p:sldId id="292" r:id="rId26"/>
    <p:sldId id="280" r:id="rId27"/>
    <p:sldId id="281" r:id="rId28"/>
    <p:sldId id="282" r:id="rId29"/>
    <p:sldId id="283" r:id="rId30"/>
    <p:sldId id="290" r:id="rId31"/>
    <p:sldId id="295" r:id="rId32"/>
    <p:sldId id="291" r:id="rId33"/>
    <p:sldId id="284" r:id="rId34"/>
    <p:sldId id="285" r:id="rId35"/>
    <p:sldId id="286" r:id="rId36"/>
  </p:sldIdLst>
  <p:sldSz cx="9144000" cy="6858000" type="screen4x3"/>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562" y="4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nis Manley" userId="445117d2-14a5-4c3e-af19-f1006b049bb1" providerId="ADAL" clId="{0C664057-D04F-4D1B-A7C7-42FA54A8A705}"/>
    <pc:docChg chg="custSel modSld replTag delTag">
      <pc:chgData name="Denis Manley" userId="445117d2-14a5-4c3e-af19-f1006b049bb1" providerId="ADAL" clId="{0C664057-D04F-4D1B-A7C7-42FA54A8A705}" dt="2023-10-19T17:48:33.084" v="447"/>
      <pc:docMkLst>
        <pc:docMk/>
      </pc:docMkLst>
      <pc:sldChg chg="modSp mod">
        <pc:chgData name="Denis Manley" userId="445117d2-14a5-4c3e-af19-f1006b049bb1" providerId="ADAL" clId="{0C664057-D04F-4D1B-A7C7-42FA54A8A705}" dt="2023-10-19T17:39:42.257" v="387" actId="20577"/>
        <pc:sldMkLst>
          <pc:docMk/>
          <pc:sldMk cId="2229767371" sldId="280"/>
        </pc:sldMkLst>
        <pc:spChg chg="mod">
          <ac:chgData name="Denis Manley" userId="445117d2-14a5-4c3e-af19-f1006b049bb1" providerId="ADAL" clId="{0C664057-D04F-4D1B-A7C7-42FA54A8A705}" dt="2023-10-19T17:39:42.257" v="387" actId="20577"/>
          <ac:spMkLst>
            <pc:docMk/>
            <pc:sldMk cId="2229767371" sldId="280"/>
            <ac:spMk id="27651" creationId="{00000000-0000-0000-0000-000000000000}"/>
          </ac:spMkLst>
        </pc:spChg>
      </pc:sldChg>
      <pc:sldChg chg="modSp mod">
        <pc:chgData name="Denis Manley" userId="445117d2-14a5-4c3e-af19-f1006b049bb1" providerId="ADAL" clId="{0C664057-D04F-4D1B-A7C7-42FA54A8A705}" dt="2023-10-19T17:48:15.612" v="444" actId="113"/>
        <pc:sldMkLst>
          <pc:docMk/>
          <pc:sldMk cId="129961434" sldId="286"/>
        </pc:sldMkLst>
        <pc:spChg chg="mod">
          <ac:chgData name="Denis Manley" userId="445117d2-14a5-4c3e-af19-f1006b049bb1" providerId="ADAL" clId="{0C664057-D04F-4D1B-A7C7-42FA54A8A705}" dt="2023-10-19T17:48:15.612" v="444" actId="113"/>
          <ac:spMkLst>
            <pc:docMk/>
            <pc:sldMk cId="129961434" sldId="286"/>
            <ac:spMk id="3" creationId="{00000000-0000-0000-0000-000000000000}"/>
          </ac:spMkLst>
        </pc:spChg>
      </pc:sldChg>
      <pc:sldChg chg="modSp mod">
        <pc:chgData name="Denis Manley" userId="445117d2-14a5-4c3e-af19-f1006b049bb1" providerId="ADAL" clId="{0C664057-D04F-4D1B-A7C7-42FA54A8A705}" dt="2023-10-19T17:03:20.521" v="44" actId="20577"/>
        <pc:sldMkLst>
          <pc:docMk/>
          <pc:sldMk cId="516835231" sldId="296"/>
        </pc:sldMkLst>
        <pc:spChg chg="mod">
          <ac:chgData name="Denis Manley" userId="445117d2-14a5-4c3e-af19-f1006b049bb1" providerId="ADAL" clId="{0C664057-D04F-4D1B-A7C7-42FA54A8A705}" dt="2023-10-19T17:03:20.521" v="44" actId="20577"/>
          <ac:spMkLst>
            <pc:docMk/>
            <pc:sldMk cId="516835231" sldId="296"/>
            <ac:spMk id="3" creationId="{00000000-0000-0000-0000-000000000000}"/>
          </ac:spMkLst>
        </pc:spChg>
      </pc:sldChg>
      <pc:sldChg chg="delSp">
        <pc:chgData name="Denis Manley" userId="445117d2-14a5-4c3e-af19-f1006b049bb1" providerId="ADAL" clId="{0C664057-D04F-4D1B-A7C7-42FA54A8A705}" dt="2023-10-19T16:49:46.179" v="1" actId="21"/>
        <pc:sldMkLst>
          <pc:docMk/>
          <pc:sldMk cId="2569798043" sldId="298"/>
        </pc:sldMkLst>
        <pc:spChg chg="del">
          <ac:chgData name="Denis Manley" userId="445117d2-14a5-4c3e-af19-f1006b049bb1" providerId="ADAL" clId="{0C664057-D04F-4D1B-A7C7-42FA54A8A705}" dt="2023-10-19T16:49:46.179" v="1" actId="21"/>
          <ac:spMkLst>
            <pc:docMk/>
            <pc:sldMk cId="2569798043" sldId="298"/>
            <ac:spMk id="1638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FC7197-78C8-4E40-9435-FF3E07F16F63}" type="datetimeFigureOut">
              <a:rPr lang="en-IE" smtClean="0"/>
              <a:t>19/10/2023</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F31FCC-27A9-4307-A17D-5C02D9650E2D}" type="slidenum">
              <a:rPr lang="en-IE" smtClean="0"/>
              <a:t>‹#›</a:t>
            </a:fld>
            <a:endParaRPr lang="en-IE"/>
          </a:p>
        </p:txBody>
      </p:sp>
    </p:spTree>
    <p:extLst>
      <p:ext uri="{BB962C8B-B14F-4D97-AF65-F5344CB8AC3E}">
        <p14:creationId xmlns:p14="http://schemas.microsoft.com/office/powerpoint/2010/main" val="13440176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90FDB5D-6401-4628-BA6A-E1668B42D938}" type="slidenum">
              <a:rPr lang="en-US" smtClean="0"/>
              <a:pPr>
                <a:defRPr/>
              </a:pPr>
              <a:t>7</a:t>
            </a:fld>
            <a:endParaRPr lang="en-US" dirty="0"/>
          </a:p>
        </p:txBody>
      </p:sp>
    </p:spTree>
    <p:extLst>
      <p:ext uri="{BB962C8B-B14F-4D97-AF65-F5344CB8AC3E}">
        <p14:creationId xmlns:p14="http://schemas.microsoft.com/office/powerpoint/2010/main" val="3583198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7" name="Text Box 1"/>
          <p:cNvSpPr>
            <a:spLocks noGrp="1" noRot="1" noChangeAspect="1" noChangeArrowheads="1"/>
          </p:cNvSpPr>
          <p:nvPr>
            <p:ph type="sldImg"/>
          </p:nvPr>
        </p:nvSpPr>
        <p:spPr bwMode="auto">
          <a:xfrm>
            <a:off x="1293813" y="798513"/>
            <a:ext cx="4267200" cy="3200400"/>
          </a:xfrm>
          <a:solidFill>
            <a:srgbClr val="FFFFFF"/>
          </a:solidFill>
          <a:ln>
            <a:solidFill>
              <a:srgbClr val="000000"/>
            </a:solidFill>
            <a:miter lim="800000"/>
            <a:headEnd/>
            <a:tailEnd/>
          </a:ln>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80898" name="Text Box 2"/>
          <p:cNvSpPr>
            <a:spLocks noGrp="1" noChangeArrowheads="1"/>
          </p:cNvSpPr>
          <p:nvPr>
            <p:ph type="body" idx="1"/>
          </p:nvPr>
        </p:nvSpPr>
        <p:spPr bwMode="auto">
          <a:xfrm>
            <a:off x="827089" y="4346576"/>
            <a:ext cx="5200649" cy="38576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numCol="1" anchor="ctr" anchorCtr="0" compatLnSpc="1">
            <a:prstTxWarp prst="textNoShape">
              <a:avLst/>
            </a:prstTxWarp>
          </a:bodyPr>
          <a:lstStyle/>
          <a:p>
            <a:pPr fontAlgn="auto">
              <a:spcBef>
                <a:spcPts val="0"/>
              </a:spcBef>
              <a:spcAft>
                <a:spcPts val="0"/>
              </a:spcAft>
              <a:defRPr/>
            </a:pPr>
            <a:endParaRPr lang="en-US"/>
          </a:p>
        </p:txBody>
      </p:sp>
    </p:spTree>
    <p:extLst>
      <p:ext uri="{BB962C8B-B14F-4D97-AF65-F5344CB8AC3E}">
        <p14:creationId xmlns:p14="http://schemas.microsoft.com/office/powerpoint/2010/main" val="887421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B9930D3-B601-4BB4-A4F8-C6C03D50A1E1}" type="slidenum">
              <a:rPr lang="en-US" smtClean="0"/>
              <a:pPr>
                <a:defRPr/>
              </a:pPr>
              <a:t>10</a:t>
            </a:fld>
            <a:endParaRPr lang="en-US" dirty="0"/>
          </a:p>
        </p:txBody>
      </p:sp>
    </p:spTree>
    <p:extLst>
      <p:ext uri="{BB962C8B-B14F-4D97-AF65-F5344CB8AC3E}">
        <p14:creationId xmlns:p14="http://schemas.microsoft.com/office/powerpoint/2010/main" val="2169348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B9930D3-B601-4BB4-A4F8-C6C03D50A1E1}" type="slidenum">
              <a:rPr lang="en-US" smtClean="0"/>
              <a:pPr>
                <a:defRPr/>
              </a:pPr>
              <a:t>11</a:t>
            </a:fld>
            <a:endParaRPr lang="en-US" dirty="0"/>
          </a:p>
        </p:txBody>
      </p:sp>
    </p:spTree>
    <p:extLst>
      <p:ext uri="{BB962C8B-B14F-4D97-AF65-F5344CB8AC3E}">
        <p14:creationId xmlns:p14="http://schemas.microsoft.com/office/powerpoint/2010/main" val="605676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B9930D3-B601-4BB4-A4F8-C6C03D50A1E1}" type="slidenum">
              <a:rPr lang="en-US" smtClean="0"/>
              <a:pPr>
                <a:defRPr/>
              </a:pPr>
              <a:t>19</a:t>
            </a:fld>
            <a:endParaRPr lang="en-US" dirty="0"/>
          </a:p>
        </p:txBody>
      </p:sp>
    </p:spTree>
    <p:extLst>
      <p:ext uri="{BB962C8B-B14F-4D97-AF65-F5344CB8AC3E}">
        <p14:creationId xmlns:p14="http://schemas.microsoft.com/office/powerpoint/2010/main" val="32637986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B9930D3-B601-4BB4-A4F8-C6C03D50A1E1}" type="slidenum">
              <a:rPr lang="en-US" smtClean="0"/>
              <a:pPr>
                <a:defRPr/>
              </a:pPr>
              <a:t>20</a:t>
            </a:fld>
            <a:endParaRPr lang="en-US" dirty="0"/>
          </a:p>
        </p:txBody>
      </p:sp>
    </p:spTree>
    <p:extLst>
      <p:ext uri="{BB962C8B-B14F-4D97-AF65-F5344CB8AC3E}">
        <p14:creationId xmlns:p14="http://schemas.microsoft.com/office/powerpoint/2010/main" val="1889024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B9930D3-B601-4BB4-A4F8-C6C03D50A1E1}" type="slidenum">
              <a:rPr lang="en-US" smtClean="0"/>
              <a:pPr>
                <a:defRPr/>
              </a:pPr>
              <a:t>27</a:t>
            </a:fld>
            <a:endParaRPr lang="en-US" dirty="0"/>
          </a:p>
        </p:txBody>
      </p:sp>
    </p:spTree>
    <p:extLst>
      <p:ext uri="{BB962C8B-B14F-4D97-AF65-F5344CB8AC3E}">
        <p14:creationId xmlns:p14="http://schemas.microsoft.com/office/powerpoint/2010/main" val="3198139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B9930D3-B601-4BB4-A4F8-C6C03D50A1E1}" type="slidenum">
              <a:rPr lang="en-US" smtClean="0"/>
              <a:pPr>
                <a:defRPr/>
              </a:pPr>
              <a:t>28</a:t>
            </a:fld>
            <a:endParaRPr lang="en-US" dirty="0"/>
          </a:p>
        </p:txBody>
      </p:sp>
    </p:spTree>
    <p:extLst>
      <p:ext uri="{BB962C8B-B14F-4D97-AF65-F5344CB8AC3E}">
        <p14:creationId xmlns:p14="http://schemas.microsoft.com/office/powerpoint/2010/main" val="564086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E203D35F-B9E2-4D23-909A-CC33DE3E61AF}" type="datetimeFigureOut">
              <a:rPr lang="en-IE" smtClean="0"/>
              <a:t>19/10/2023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1755562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E203D35F-B9E2-4D23-909A-CC33DE3E61AF}" type="datetimeFigureOut">
              <a:rPr lang="en-IE" smtClean="0"/>
              <a:t>19/10/2023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15006522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03D35F-B9E2-4D23-909A-CC33DE3E61AF}" type="datetimeFigureOut">
              <a:rPr lang="en-IE" smtClean="0"/>
              <a:t>19/10/2023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1957328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E203D35F-B9E2-4D23-909A-CC33DE3E61AF}" type="datetimeFigureOut">
              <a:rPr lang="en-IE" smtClean="0"/>
              <a:t>19/10/2023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235828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E203D35F-B9E2-4D23-909A-CC33DE3E61AF}" type="datetimeFigureOut">
              <a:rPr lang="en-IE" smtClean="0"/>
              <a:t>19/10/2023</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2016950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E203D35F-B9E2-4D23-909A-CC33DE3E61AF}" type="datetimeFigureOut">
              <a:rPr lang="en-IE" smtClean="0"/>
              <a:t>19/10/2023</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1758723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03D35F-B9E2-4D23-909A-CC33DE3E61AF}" type="datetimeFigureOut">
              <a:rPr lang="en-IE" smtClean="0"/>
              <a:t>19/10/2023</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4025922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03D35F-B9E2-4D23-909A-CC33DE3E61AF}" type="datetimeFigureOut">
              <a:rPr lang="en-IE" smtClean="0"/>
              <a:t>19/10/2023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314980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03D35F-B9E2-4D23-909A-CC33DE3E61AF}" type="datetimeFigureOut">
              <a:rPr lang="en-IE" smtClean="0"/>
              <a:t>19/10/2023</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2658545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E203D35F-B9E2-4D23-909A-CC33DE3E61AF}" type="datetimeFigureOut">
              <a:rPr lang="en-IE" smtClean="0"/>
              <a:t>19/10/2023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146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E203D35F-B9E2-4D23-909A-CC33DE3E61AF}" type="datetimeFigureOut">
              <a:rPr lang="en-IE" smtClean="0"/>
              <a:t>19/10/2023</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69434A3B-D031-4B31-9908-109311796F63}" type="slidenum">
              <a:rPr lang="en-IE" smtClean="0"/>
              <a:t>‹#›</a:t>
            </a:fld>
            <a:endParaRPr lang="en-IE"/>
          </a:p>
        </p:txBody>
      </p:sp>
    </p:spTree>
    <p:extLst>
      <p:ext uri="{BB962C8B-B14F-4D97-AF65-F5344CB8AC3E}">
        <p14:creationId xmlns:p14="http://schemas.microsoft.com/office/powerpoint/2010/main" val="3205895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03D35F-B9E2-4D23-909A-CC33DE3E61AF}" type="datetimeFigureOut">
              <a:rPr lang="en-IE" smtClean="0"/>
              <a:t>19/10/2023</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434A3B-D031-4B31-9908-109311796F63}" type="slidenum">
              <a:rPr lang="en-IE" smtClean="0"/>
              <a:t>‹#›</a:t>
            </a:fld>
            <a:endParaRPr lang="en-IE"/>
          </a:p>
        </p:txBody>
      </p:sp>
    </p:spTree>
    <p:extLst>
      <p:ext uri="{BB962C8B-B14F-4D97-AF65-F5344CB8AC3E}">
        <p14:creationId xmlns:p14="http://schemas.microsoft.com/office/powerpoint/2010/main" val="3920688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E" dirty="0"/>
              <a:t>Process in </a:t>
            </a:r>
            <a:r>
              <a:rPr lang="en-IE" dirty="0" err="1"/>
              <a:t>unix</a:t>
            </a:r>
            <a:r>
              <a:rPr lang="en-IE" dirty="0"/>
              <a:t>  </a:t>
            </a:r>
          </a:p>
        </p:txBody>
      </p:sp>
      <p:sp>
        <p:nvSpPr>
          <p:cNvPr id="3" name="Subtitle 2"/>
          <p:cNvSpPr>
            <a:spLocks noGrp="1"/>
          </p:cNvSpPr>
          <p:nvPr>
            <p:ph type="subTitle" idx="1"/>
          </p:nvPr>
        </p:nvSpPr>
        <p:spPr/>
        <p:txBody>
          <a:bodyPr/>
          <a:lstStyle/>
          <a:p>
            <a:r>
              <a:rPr lang="en-IE" dirty="0"/>
              <a:t>Create ; synchronize and exec commands</a:t>
            </a:r>
          </a:p>
        </p:txBody>
      </p:sp>
    </p:spTree>
    <p:extLst>
      <p:ext uri="{BB962C8B-B14F-4D97-AF65-F5344CB8AC3E}">
        <p14:creationId xmlns:p14="http://schemas.microsoft.com/office/powerpoint/2010/main" val="2664996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13314" name="Title 1"/>
          <p:cNvSpPr>
            <a:spLocks noGrp="1"/>
          </p:cNvSpPr>
          <p:nvPr>
            <p:ph type="title"/>
          </p:nvPr>
        </p:nvSpPr>
        <p:spPr>
          <a:xfrm>
            <a:off x="533400" y="381000"/>
            <a:ext cx="8077200" cy="838200"/>
          </a:xfrm>
        </p:spPr>
        <p:txBody>
          <a:bodyPr/>
          <a:lstStyle/>
          <a:p>
            <a:pPr eaLnBrk="1" hangingPunct="1"/>
            <a:r>
              <a:rPr lang="en-IE" altLang="en-US" dirty="0"/>
              <a:t>Process in Unix	</a:t>
            </a:r>
          </a:p>
        </p:txBody>
      </p:sp>
      <p:sp>
        <p:nvSpPr>
          <p:cNvPr id="13315" name="Content Placeholder 3"/>
          <p:cNvSpPr>
            <a:spLocks noGrp="1"/>
          </p:cNvSpPr>
          <p:nvPr>
            <p:ph idx="1"/>
          </p:nvPr>
        </p:nvSpPr>
        <p:spPr>
          <a:xfrm>
            <a:off x="533400" y="1219200"/>
            <a:ext cx="8077200" cy="5334000"/>
          </a:xfrm>
        </p:spPr>
        <p:txBody>
          <a:bodyPr>
            <a:normAutofit fontScale="92500" lnSpcReduction="10000"/>
          </a:bodyPr>
          <a:lstStyle/>
          <a:p>
            <a:pPr eaLnBrk="1" hangingPunct="1"/>
            <a:r>
              <a:rPr lang="en-IE" altLang="en-US" dirty="0"/>
              <a:t>The </a:t>
            </a:r>
            <a:r>
              <a:rPr lang="en-IE" altLang="en-US" dirty="0" err="1"/>
              <a:t>ps</a:t>
            </a:r>
            <a:r>
              <a:rPr lang="en-IE" altLang="en-US" dirty="0"/>
              <a:t> command shows basic information about the PCBs  </a:t>
            </a:r>
          </a:p>
          <a:p>
            <a:pPr eaLnBrk="1" hangingPunct="1"/>
            <a:r>
              <a:rPr lang="en-IE" altLang="en-US" b="1" dirty="0"/>
              <a:t>PID</a:t>
            </a:r>
            <a:r>
              <a:rPr lang="en-IE" altLang="en-US" dirty="0"/>
              <a:t>	   </a:t>
            </a:r>
            <a:r>
              <a:rPr lang="en-IE" altLang="en-US" b="1" dirty="0"/>
              <a:t>time</a:t>
            </a:r>
            <a:r>
              <a:rPr lang="en-IE" altLang="en-US" dirty="0"/>
              <a:t>  </a:t>
            </a:r>
            <a:r>
              <a:rPr lang="en-IE" altLang="en-US" b="1" dirty="0"/>
              <a:t>DESCRIPTION (CMD)</a:t>
            </a:r>
          </a:p>
          <a:p>
            <a:pPr eaLnBrk="1" hangingPunct="1"/>
            <a:r>
              <a:rPr lang="en-IE" altLang="en-US" dirty="0"/>
              <a:t>e.g. the </a:t>
            </a:r>
            <a:r>
              <a:rPr lang="en-IE" altLang="en-US" b="1" dirty="0"/>
              <a:t>man </a:t>
            </a:r>
            <a:r>
              <a:rPr lang="en-IE" altLang="en-US" b="1" dirty="0" err="1"/>
              <a:t>ps</a:t>
            </a:r>
            <a:r>
              <a:rPr lang="en-IE" altLang="en-US" dirty="0"/>
              <a:t> shows other command line </a:t>
            </a:r>
            <a:r>
              <a:rPr lang="en-IE" altLang="en-US" dirty="0" err="1"/>
              <a:t>arugments</a:t>
            </a:r>
            <a:r>
              <a:rPr lang="en-IE" altLang="en-US" dirty="0"/>
              <a:t>; e.g. </a:t>
            </a:r>
          </a:p>
          <a:p>
            <a:pPr eaLnBrk="1" hangingPunct="1"/>
            <a:endParaRPr lang="en-US" altLang="en-US" dirty="0"/>
          </a:p>
          <a:p>
            <a:pPr eaLnBrk="1" hangingPunct="1"/>
            <a:r>
              <a:rPr lang="en-IE" altLang="en-US" sz="1600" dirty="0"/>
              <a:t>%</a:t>
            </a:r>
            <a:r>
              <a:rPr lang="en-IE" altLang="en-US" sz="1600" dirty="0" err="1"/>
              <a:t>cpu</a:t>
            </a:r>
            <a:r>
              <a:rPr lang="en-IE" altLang="en-US" sz="1600" dirty="0"/>
              <a:t>	   %CPU	    </a:t>
            </a:r>
            <a:r>
              <a:rPr lang="en-IE" altLang="en-US" sz="1600" dirty="0" err="1"/>
              <a:t>cpu</a:t>
            </a:r>
            <a:r>
              <a:rPr lang="en-IE" altLang="en-US" sz="1600" dirty="0"/>
              <a:t> utilization of the process in "##.#" format.</a:t>
            </a:r>
          </a:p>
          <a:p>
            <a:pPr eaLnBrk="1" hangingPunct="1"/>
            <a:r>
              <a:rPr lang="en-IE" altLang="en-US" sz="1600" dirty="0"/>
              <a:t>		    Currently, it is the CPU time used divided by the time the</a:t>
            </a:r>
          </a:p>
          <a:p>
            <a:pPr eaLnBrk="1" hangingPunct="1"/>
            <a:r>
              <a:rPr lang="en-IE" altLang="en-US" sz="1600" dirty="0"/>
              <a:t>		    process has been running (</a:t>
            </a:r>
            <a:r>
              <a:rPr lang="en-IE" altLang="en-US" sz="1600" dirty="0" err="1"/>
              <a:t>cputime</a:t>
            </a:r>
            <a:r>
              <a:rPr lang="en-IE" altLang="en-US" sz="1600" dirty="0"/>
              <a:t>/</a:t>
            </a:r>
            <a:r>
              <a:rPr lang="en-IE" altLang="en-US" sz="1600" dirty="0" err="1"/>
              <a:t>realtime</a:t>
            </a:r>
            <a:r>
              <a:rPr lang="en-IE" altLang="en-US" sz="1600" dirty="0"/>
              <a:t> ratio),</a:t>
            </a:r>
          </a:p>
          <a:p>
            <a:pPr eaLnBrk="1" hangingPunct="1"/>
            <a:r>
              <a:rPr lang="en-IE" altLang="en-US" sz="1600" dirty="0"/>
              <a:t>		    expressed as a percentage. It will not add up to 100%</a:t>
            </a:r>
          </a:p>
          <a:p>
            <a:pPr eaLnBrk="1" hangingPunct="1"/>
            <a:r>
              <a:rPr lang="en-IE" altLang="en-US" sz="1600" dirty="0"/>
              <a:t>		    unless you are lucky. (alias </a:t>
            </a:r>
            <a:r>
              <a:rPr lang="en-IE" altLang="en-US" sz="1600" dirty="0" err="1"/>
              <a:t>pcpu</a:t>
            </a:r>
            <a:r>
              <a:rPr lang="en-IE" altLang="en-US" sz="1600" dirty="0"/>
              <a:t>).</a:t>
            </a:r>
          </a:p>
          <a:p>
            <a:pPr eaLnBrk="1" hangingPunct="1"/>
            <a:endParaRPr lang="en-US" altLang="en-US" sz="1600" dirty="0"/>
          </a:p>
          <a:p>
            <a:pPr eaLnBrk="1" hangingPunct="1"/>
            <a:r>
              <a:rPr lang="en-IE" altLang="en-US" sz="1600" dirty="0"/>
              <a:t>%mem	   %MEM	    ratio of the process's resident set size  to the physical</a:t>
            </a:r>
          </a:p>
          <a:p>
            <a:pPr eaLnBrk="1" hangingPunct="1"/>
            <a:r>
              <a:rPr lang="en-IE" altLang="en-US" sz="1600" dirty="0"/>
              <a:t>		    memory on the machine, expressed as a percentage.</a:t>
            </a:r>
          </a:p>
          <a:p>
            <a:pPr eaLnBrk="1" hangingPunct="1"/>
            <a:r>
              <a:rPr lang="en-IE" altLang="en-US" sz="1600" dirty="0"/>
              <a:t>		    (alias </a:t>
            </a:r>
            <a:r>
              <a:rPr lang="en-IE" altLang="en-US" sz="1600" dirty="0" err="1"/>
              <a:t>pmem</a:t>
            </a:r>
            <a:r>
              <a:rPr lang="en-IE" altLang="en-US" sz="1600" dirty="0"/>
              <a:t>).</a:t>
            </a:r>
          </a:p>
          <a:p>
            <a:pPr eaLnBrk="1" hangingPunct="1"/>
            <a:endParaRPr lang="en-US" altLang="en-US" sz="1600" dirty="0"/>
          </a:p>
        </p:txBody>
      </p:sp>
    </p:spTree>
    <p:extLst>
      <p:ext uri="{BB962C8B-B14F-4D97-AF65-F5344CB8AC3E}">
        <p14:creationId xmlns:p14="http://schemas.microsoft.com/office/powerpoint/2010/main" val="3847077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77200" cy="609600"/>
          </a:xfrm>
        </p:spPr>
        <p:txBody>
          <a:bodyPr>
            <a:normAutofit fontScale="90000"/>
          </a:bodyPr>
          <a:lstStyle/>
          <a:p>
            <a:r>
              <a:rPr lang="en-IE" dirty="0"/>
              <a:t>Example more detailed </a:t>
            </a:r>
            <a:r>
              <a:rPr lang="en-IE" dirty="0" err="1"/>
              <a:t>ps</a:t>
            </a:r>
            <a:r>
              <a:rPr lang="en-IE" dirty="0"/>
              <a:t> command</a:t>
            </a:r>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3</a:t>
            </a:fld>
            <a:endParaRPr lang="en-US" dirty="0"/>
          </a:p>
        </p:txBody>
      </p:sp>
      <p:pic>
        <p:nvPicPr>
          <p:cNvPr id="7" name="Content Placeholder 6" descr="denis.manley@apollo: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1752600"/>
            <a:ext cx="8809474" cy="3863118"/>
          </a:xfrm>
        </p:spPr>
      </p:pic>
    </p:spTree>
    <p:extLst>
      <p:ext uri="{BB962C8B-B14F-4D97-AF65-F5344CB8AC3E}">
        <p14:creationId xmlns:p14="http://schemas.microsoft.com/office/powerpoint/2010/main" val="1743945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sz="3200" dirty="0"/>
              <a:t>Top commands in </a:t>
            </a:r>
            <a:r>
              <a:rPr lang="en-IE" sz="3200" dirty="0" err="1"/>
              <a:t>linux</a:t>
            </a:r>
            <a:r>
              <a:rPr lang="en-IE" sz="3200" dirty="0"/>
              <a:t>: list of processes</a:t>
            </a:r>
          </a:p>
        </p:txBody>
      </p:sp>
      <p:pic>
        <p:nvPicPr>
          <p:cNvPr id="6" name="Content Placeholder 5" descr="denis.manley@apollo: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05293" y="1219200"/>
            <a:ext cx="6333414" cy="5029200"/>
          </a:xfrm>
        </p:spPr>
      </p:pic>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4</a:t>
            </a:fld>
            <a:endParaRPr lang="en-US" dirty="0"/>
          </a:p>
        </p:txBody>
      </p:sp>
    </p:spTree>
    <p:extLst>
      <p:ext uri="{BB962C8B-B14F-4D97-AF65-F5344CB8AC3E}">
        <p14:creationId xmlns:p14="http://schemas.microsoft.com/office/powerpoint/2010/main" val="3947233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77200" cy="762000"/>
          </a:xfrm>
        </p:spPr>
        <p:txBody>
          <a:bodyPr/>
          <a:lstStyle/>
          <a:p>
            <a:r>
              <a:rPr lang="en-IE" dirty="0" err="1"/>
              <a:t>htop</a:t>
            </a:r>
            <a:r>
              <a:rPr lang="en-IE" dirty="0"/>
              <a:t> command in </a:t>
            </a:r>
            <a:r>
              <a:rPr lang="en-IE" dirty="0" err="1"/>
              <a:t>linux</a:t>
            </a:r>
            <a:endParaRPr lang="en-IE" dirty="0"/>
          </a:p>
        </p:txBody>
      </p:sp>
      <p:pic>
        <p:nvPicPr>
          <p:cNvPr id="6" name="Content Placeholder 5" descr="denis.manley@apollo: ~"/>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7312" y="1143000"/>
            <a:ext cx="6429375" cy="5105400"/>
          </a:xfrm>
        </p:spPr>
      </p:pic>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5</a:t>
            </a:fld>
            <a:endParaRPr lang="en-US" dirty="0"/>
          </a:p>
        </p:txBody>
      </p:sp>
    </p:spTree>
    <p:extLst>
      <p:ext uri="{BB962C8B-B14F-4D97-AF65-F5344CB8AC3E}">
        <p14:creationId xmlns:p14="http://schemas.microsoft.com/office/powerpoint/2010/main" val="3770575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Process details in windows</a:t>
            </a:r>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6</a:t>
            </a:fld>
            <a:endParaRPr lang="en-US" dirty="0"/>
          </a:p>
        </p:txBody>
      </p:sp>
      <p:pic>
        <p:nvPicPr>
          <p:cNvPr id="8" name="Content Placeholder 7" descr="Windows Task Manage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9576" y="1776107"/>
            <a:ext cx="3924848" cy="4372586"/>
          </a:xfrm>
        </p:spPr>
      </p:pic>
    </p:spTree>
    <p:extLst>
      <p:ext uri="{BB962C8B-B14F-4D97-AF65-F5344CB8AC3E}">
        <p14:creationId xmlns:p14="http://schemas.microsoft.com/office/powerpoint/2010/main" val="2779385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8"/>
          <p:cNvSpPr>
            <a:spLocks noGrp="1" noChangeArrowheads="1"/>
          </p:cNvSpPr>
          <p:nvPr>
            <p:ph type="title"/>
          </p:nvPr>
        </p:nvSpPr>
        <p:spPr/>
        <p:txBody>
          <a:bodyPr/>
          <a:lstStyle/>
          <a:p>
            <a:pPr eaLnBrk="1" hangingPunct="1"/>
            <a:r>
              <a:rPr lang="en-CA" dirty="0"/>
              <a:t>Job and Process States</a:t>
            </a:r>
          </a:p>
        </p:txBody>
      </p:sp>
      <p:sp>
        <p:nvSpPr>
          <p:cNvPr id="16388" name="Rectangle 9"/>
          <p:cNvSpPr>
            <a:spLocks noGrp="1" noChangeArrowheads="1"/>
          </p:cNvSpPr>
          <p:nvPr>
            <p:ph type="body" idx="1"/>
          </p:nvPr>
        </p:nvSpPr>
        <p:spPr>
          <a:xfrm>
            <a:off x="533400" y="1295400"/>
            <a:ext cx="8077200" cy="4572000"/>
          </a:xfrm>
        </p:spPr>
        <p:txBody>
          <a:bodyPr>
            <a:normAutofit lnSpcReduction="10000"/>
          </a:bodyPr>
          <a:lstStyle/>
          <a:p>
            <a:pPr eaLnBrk="1" hangingPunct="1"/>
            <a:r>
              <a:rPr lang="en-CA" dirty="0"/>
              <a:t>Status changes: as a job or process moves</a:t>
            </a:r>
            <a:r>
              <a:rPr lang="en-US" dirty="0"/>
              <a:t> </a:t>
            </a:r>
            <a:r>
              <a:rPr lang="en-CA" dirty="0"/>
              <a:t>through the system</a:t>
            </a:r>
          </a:p>
          <a:p>
            <a:pPr lvl="1" eaLnBrk="1" hangingPunct="1"/>
            <a:r>
              <a:rPr lang="en-CA" dirty="0"/>
              <a:t>HOLD and placed in a queue (sometimes a priority queue</a:t>
            </a:r>
          </a:p>
          <a:p>
            <a:pPr lvl="1" eaLnBrk="1" hangingPunct="1"/>
            <a:r>
              <a:rPr lang="en-CA" dirty="0"/>
              <a:t>READY (job begins processing if enough resources available)</a:t>
            </a:r>
          </a:p>
          <a:p>
            <a:pPr lvl="1" eaLnBrk="1" hangingPunct="1"/>
            <a:r>
              <a:rPr lang="en-CA" dirty="0"/>
              <a:t>WAITING (can not continue until specific resource available e.g. i/o request  </a:t>
            </a:r>
          </a:p>
          <a:p>
            <a:pPr lvl="1" eaLnBrk="1" hangingPunct="1"/>
            <a:r>
              <a:rPr lang="en-CA" dirty="0"/>
              <a:t>RUNNING: processing </a:t>
            </a:r>
          </a:p>
          <a:p>
            <a:pPr lvl="1" eaLnBrk="1" hangingPunct="1"/>
            <a:r>
              <a:rPr lang="en-CA" dirty="0"/>
              <a:t>FINISHED</a:t>
            </a:r>
          </a:p>
        </p:txBody>
      </p:sp>
      <p:sp>
        <p:nvSpPr>
          <p:cNvPr id="1638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600">
                <a:solidFill>
                  <a:srgbClr val="FFFFFF"/>
                </a:solidFill>
                <a:latin typeface="Arial" charset="0"/>
              </a:defRPr>
            </a:lvl1pPr>
            <a:lvl2pPr marL="742950" indent="-285750" eaLnBrk="0" hangingPunct="0">
              <a:defRPr sz="3600">
                <a:solidFill>
                  <a:srgbClr val="FFFFFF"/>
                </a:solidFill>
                <a:latin typeface="Arial" charset="0"/>
              </a:defRPr>
            </a:lvl2pPr>
            <a:lvl3pPr marL="1143000" indent="-228600" eaLnBrk="0" hangingPunct="0">
              <a:defRPr sz="3600">
                <a:solidFill>
                  <a:srgbClr val="FFFFFF"/>
                </a:solidFill>
                <a:latin typeface="Arial" charset="0"/>
              </a:defRPr>
            </a:lvl3pPr>
            <a:lvl4pPr marL="1600200" indent="-228600" eaLnBrk="0" hangingPunct="0">
              <a:defRPr sz="3600">
                <a:solidFill>
                  <a:srgbClr val="FFFFFF"/>
                </a:solidFill>
                <a:latin typeface="Arial" charset="0"/>
              </a:defRPr>
            </a:lvl4pPr>
            <a:lvl5pPr marL="2057400" indent="-228600" eaLnBrk="0" hangingPunct="0">
              <a:defRPr sz="3600">
                <a:solidFill>
                  <a:srgbClr val="FFFFFF"/>
                </a:solidFill>
                <a:latin typeface="Arial" charset="0"/>
              </a:defRPr>
            </a:lvl5pPr>
            <a:lvl6pPr marL="2514600" indent="-228600" eaLnBrk="0" fontAlgn="base" hangingPunct="0">
              <a:spcBef>
                <a:spcPct val="0"/>
              </a:spcBef>
              <a:spcAft>
                <a:spcPct val="0"/>
              </a:spcAft>
              <a:defRPr sz="3600">
                <a:solidFill>
                  <a:srgbClr val="FFFFFF"/>
                </a:solidFill>
                <a:latin typeface="Arial" charset="0"/>
              </a:defRPr>
            </a:lvl6pPr>
            <a:lvl7pPr marL="2971800" indent="-228600" eaLnBrk="0" fontAlgn="base" hangingPunct="0">
              <a:spcBef>
                <a:spcPct val="0"/>
              </a:spcBef>
              <a:spcAft>
                <a:spcPct val="0"/>
              </a:spcAft>
              <a:defRPr sz="3600">
                <a:solidFill>
                  <a:srgbClr val="FFFFFF"/>
                </a:solidFill>
                <a:latin typeface="Arial" charset="0"/>
              </a:defRPr>
            </a:lvl7pPr>
            <a:lvl8pPr marL="3429000" indent="-228600" eaLnBrk="0" fontAlgn="base" hangingPunct="0">
              <a:spcBef>
                <a:spcPct val="0"/>
              </a:spcBef>
              <a:spcAft>
                <a:spcPct val="0"/>
              </a:spcAft>
              <a:defRPr sz="3600">
                <a:solidFill>
                  <a:srgbClr val="FFFFFF"/>
                </a:solidFill>
                <a:latin typeface="Arial" charset="0"/>
              </a:defRPr>
            </a:lvl8pPr>
            <a:lvl9pPr marL="3886200" indent="-228600" eaLnBrk="0" fontAlgn="base" hangingPunct="0">
              <a:spcBef>
                <a:spcPct val="0"/>
              </a:spcBef>
              <a:spcAft>
                <a:spcPct val="0"/>
              </a:spcAft>
              <a:defRPr sz="3600">
                <a:solidFill>
                  <a:srgbClr val="FFFFFF"/>
                </a:solidFill>
                <a:latin typeface="Arial" charset="0"/>
              </a:defRPr>
            </a:lvl9pPr>
          </a:lstStyle>
          <a:p>
            <a:pPr eaLnBrk="1" hangingPunct="1"/>
            <a:fld id="{98455985-BECB-46C6-A01B-6F041AA50FF1}" type="slidenum">
              <a:rPr lang="en-US" sz="2000" smtClean="0">
                <a:solidFill>
                  <a:srgbClr val="222222"/>
                </a:solidFill>
              </a:rPr>
              <a:pPr eaLnBrk="1" hangingPunct="1"/>
              <a:t>7</a:t>
            </a:fld>
            <a:endParaRPr lang="en-US" sz="2000" dirty="0">
              <a:solidFill>
                <a:srgbClr val="222222"/>
              </a:solidFill>
            </a:endParaRPr>
          </a:p>
        </p:txBody>
      </p:sp>
    </p:spTree>
    <p:extLst>
      <p:ext uri="{BB962C8B-B14F-4D97-AF65-F5344CB8AC3E}">
        <p14:creationId xmlns:p14="http://schemas.microsoft.com/office/powerpoint/2010/main" val="2569798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a:t>Process Creation: Unix</a:t>
            </a:r>
          </a:p>
        </p:txBody>
      </p:sp>
      <p:sp>
        <p:nvSpPr>
          <p:cNvPr id="140290" name="Content Placeholder 2"/>
          <p:cNvSpPr>
            <a:spLocks noGrp="1"/>
          </p:cNvSpPr>
          <p:nvPr>
            <p:ph idx="1"/>
          </p:nvPr>
        </p:nvSpPr>
        <p:spPr/>
        <p:txBody>
          <a:bodyPr>
            <a:normAutofit/>
          </a:bodyPr>
          <a:lstStyle/>
          <a:p>
            <a:pPr eaLnBrk="1" hangingPunct="1">
              <a:lnSpc>
                <a:spcPct val="90000"/>
              </a:lnSpc>
              <a:defRPr/>
            </a:pPr>
            <a:r>
              <a:rPr lang="en-US" altLang="en-US" sz="2800" dirty="0"/>
              <a:t>In Unix, processes are created using fork()</a:t>
            </a:r>
          </a:p>
          <a:p>
            <a:pPr eaLnBrk="1" hangingPunct="1">
              <a:lnSpc>
                <a:spcPct val="90000"/>
              </a:lnSpc>
              <a:defRPr/>
            </a:pPr>
            <a:r>
              <a:rPr lang="en-US" altLang="en-US" sz="2800" dirty="0"/>
              <a:t>Creates and initializes a PCB and creates a new address space</a:t>
            </a:r>
          </a:p>
          <a:p>
            <a:pPr eaLnBrk="1" hangingPunct="1">
              <a:lnSpc>
                <a:spcPct val="90000"/>
              </a:lnSpc>
              <a:defRPr/>
            </a:pPr>
            <a:r>
              <a:rPr lang="en-US" altLang="en-US" sz="2800" dirty="0"/>
              <a:t> Initializes the address space with a copy of the entire contents of the address space of the parent</a:t>
            </a:r>
          </a:p>
          <a:p>
            <a:pPr eaLnBrk="1" hangingPunct="1">
              <a:lnSpc>
                <a:spcPct val="90000"/>
              </a:lnSpc>
              <a:defRPr/>
            </a:pPr>
            <a:r>
              <a:rPr lang="en-US" altLang="en-US" sz="2800" dirty="0"/>
              <a:t>Initializes the kernel resources to point to the resources used by parent (e.g., open files)</a:t>
            </a:r>
          </a:p>
          <a:p>
            <a:pPr eaLnBrk="1" hangingPunct="1">
              <a:lnSpc>
                <a:spcPct val="90000"/>
              </a:lnSpc>
              <a:defRPr/>
            </a:pPr>
            <a:r>
              <a:rPr lang="en-US" altLang="en-US" sz="2800" dirty="0"/>
              <a:t>Places the child PCB on the ready queue</a:t>
            </a:r>
          </a:p>
          <a:p>
            <a:pPr eaLnBrk="1" hangingPunct="1">
              <a:lnSpc>
                <a:spcPct val="90000"/>
              </a:lnSpc>
              <a:defRPr/>
            </a:pPr>
            <a:r>
              <a:rPr lang="de-DE" altLang="en-US" sz="2800" dirty="0"/>
              <a:t>Fork returns twice: </a:t>
            </a:r>
            <a:r>
              <a:rPr lang="en-US" altLang="en-US" sz="2800" dirty="0"/>
              <a:t>Returns the child’s PID to the parent, “0” to the child</a:t>
            </a:r>
          </a:p>
        </p:txBody>
      </p:sp>
    </p:spTree>
    <p:extLst>
      <p:ext uri="{BB962C8B-B14F-4D97-AF65-F5344CB8AC3E}">
        <p14:creationId xmlns:p14="http://schemas.microsoft.com/office/powerpoint/2010/main" val="410282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1"/>
          <p:cNvSpPr>
            <a:spLocks noGrp="1" noChangeArrowheads="1"/>
          </p:cNvSpPr>
          <p:nvPr>
            <p:ph type="title"/>
          </p:nvPr>
        </p:nvSpPr>
        <p:spPr>
          <a:xfrm>
            <a:off x="457200" y="274638"/>
            <a:ext cx="8228013" cy="1141412"/>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a:lstStyle/>
          <a:p>
            <a:pPr eaLnBrk="1" fontAlgn="auto" hangingPunct="1">
              <a:lnSpc>
                <a:spcPct val="126000"/>
              </a:lnSpc>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GB"/>
              <a:t>Process Creation</a:t>
            </a:r>
          </a:p>
        </p:txBody>
      </p:sp>
      <p:sp>
        <p:nvSpPr>
          <p:cNvPr id="41986" name="Rectangle 2"/>
          <p:cNvSpPr>
            <a:spLocks noGrp="1" noChangeArrowheads="1"/>
          </p:cNvSpPr>
          <p:nvPr>
            <p:ph idx="1"/>
          </p:nvPr>
        </p:nvSpPr>
        <p:spPr>
          <a:xfrm>
            <a:off x="457200" y="1600200"/>
            <a:ext cx="8228013" cy="4605338"/>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a:normAutofit fontScale="92500" lnSpcReduction="10000"/>
          </a:bodyPr>
          <a:lstStyle/>
          <a:p>
            <a:pPr eaLnBrk="1" hangingPunct="1">
              <a:lnSpc>
                <a:spcPct val="116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altLang="en-US" sz="2400" dirty="0"/>
              <a:t>Address space</a:t>
            </a:r>
          </a:p>
          <a:p>
            <a:pPr lvl="1" eaLnBrk="1" hangingPunct="1">
              <a:lnSpc>
                <a:spcPct val="116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altLang="en-US" dirty="0"/>
              <a:t>Child duplicate of parent</a:t>
            </a:r>
          </a:p>
          <a:p>
            <a:pPr lvl="1" eaLnBrk="1" hangingPunct="1">
              <a:lnSpc>
                <a:spcPct val="116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altLang="en-US" dirty="0"/>
              <a:t>Child has a program (process) loaded into it</a:t>
            </a:r>
          </a:p>
          <a:p>
            <a:pPr eaLnBrk="1" hangingPunct="1">
              <a:lnSpc>
                <a:spcPct val="116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altLang="en-US" sz="2400" dirty="0"/>
              <a:t>UNIX/Linux examples</a:t>
            </a:r>
          </a:p>
          <a:p>
            <a:pPr lvl="1" eaLnBrk="1" hangingPunct="1">
              <a:lnSpc>
                <a:spcPct val="116000"/>
              </a:lnSpc>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r>
              <a:rPr lang="en-GB" altLang="en-US" dirty="0"/>
              <a:t>The </a:t>
            </a:r>
            <a:r>
              <a:rPr lang="en-GB" altLang="en-US" dirty="0">
                <a:latin typeface="Courier New" pitchFamily="49" charset="0"/>
              </a:rPr>
              <a:t>fork() </a:t>
            </a:r>
            <a:r>
              <a:rPr lang="en-GB" altLang="en-US" dirty="0"/>
              <a:t>system call in Unix creates a new process. After a successful </a:t>
            </a:r>
            <a:r>
              <a:rPr lang="en-GB" altLang="en-US" dirty="0">
                <a:latin typeface="Courier New" pitchFamily="49" charset="0"/>
              </a:rPr>
              <a:t>fork()</a:t>
            </a:r>
            <a:r>
              <a:rPr lang="en-GB" altLang="en-US" dirty="0"/>
              <a:t> call, </a:t>
            </a:r>
            <a:r>
              <a:rPr lang="en-GB" altLang="en-US" i="1" dirty="0"/>
              <a:t>two copies</a:t>
            </a:r>
            <a:r>
              <a:rPr lang="en-GB" altLang="en-US" dirty="0"/>
              <a:t> of the original code will be running. In the original process (the parent) the return value of </a:t>
            </a:r>
            <a:r>
              <a:rPr lang="en-GB" altLang="en-US" dirty="0">
                <a:latin typeface="Courier New" pitchFamily="49" charset="0"/>
              </a:rPr>
              <a:t>fork()</a:t>
            </a:r>
            <a:r>
              <a:rPr lang="en-GB" altLang="en-US" dirty="0"/>
              <a:t> will be the process ID of the child. In the new child process the return value of </a:t>
            </a:r>
            <a:r>
              <a:rPr lang="en-GB" altLang="en-US" dirty="0">
                <a:latin typeface="Courier New" pitchFamily="49" charset="0"/>
              </a:rPr>
              <a:t>fork()</a:t>
            </a:r>
            <a:r>
              <a:rPr lang="en-GB" altLang="en-US" dirty="0"/>
              <a:t> will be 0</a:t>
            </a:r>
          </a:p>
          <a:p>
            <a:pPr eaLnBrk="1" hangingPunct="1">
              <a:lnSpc>
                <a:spcPct val="116000"/>
              </a:lnSpc>
              <a:buFont typeface="Arial" pitchFamily="34" charset="0"/>
              <a:buNone/>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defRPr/>
            </a:pPr>
            <a:endParaRPr lang="en-GB" altLang="en-US" sz="2400" dirty="0"/>
          </a:p>
        </p:txBody>
      </p:sp>
    </p:spTree>
    <p:extLst>
      <p:ext uri="{BB962C8B-B14F-4D97-AF65-F5344CB8AC3E}">
        <p14:creationId xmlns:p14="http://schemas.microsoft.com/office/powerpoint/2010/main" val="263374996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solidFill>
                  <a:srgbClr val="000000"/>
                </a:solidFill>
              </a:rPr>
              <a:t>Understanding Operating Systems, 7e</a:t>
            </a:r>
          </a:p>
        </p:txBody>
      </p:sp>
      <p:sp>
        <p:nvSpPr>
          <p:cNvPr id="2867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E29EA255-1724-4F70-A053-B949BDD58DBC}" type="slidenum">
              <a:rPr lang="en-US" smtClean="0">
                <a:solidFill>
                  <a:srgbClr val="000000"/>
                </a:solidFill>
              </a:rPr>
              <a:pPr eaLnBrk="1" hangingPunct="1"/>
              <a:t>10</a:t>
            </a:fld>
            <a:endParaRPr lang="en-US" dirty="0">
              <a:solidFill>
                <a:srgbClr val="000000"/>
              </a:solidFill>
            </a:endParaRPr>
          </a:p>
        </p:txBody>
      </p:sp>
      <p:sp>
        <p:nvSpPr>
          <p:cNvPr id="28676" name="Rectangle 9"/>
          <p:cNvSpPr>
            <a:spLocks noGrp="1" noChangeArrowheads="1"/>
          </p:cNvSpPr>
          <p:nvPr>
            <p:ph type="title"/>
          </p:nvPr>
        </p:nvSpPr>
        <p:spPr>
          <a:xfrm>
            <a:off x="533400" y="381000"/>
            <a:ext cx="8077200" cy="838200"/>
          </a:xfrm>
        </p:spPr>
        <p:txBody>
          <a:bodyPr/>
          <a:lstStyle/>
          <a:p>
            <a:pPr eaLnBrk="1" hangingPunct="1"/>
            <a:r>
              <a:rPr lang="en-US" dirty="0"/>
              <a:t>Synchronization</a:t>
            </a:r>
          </a:p>
        </p:txBody>
      </p:sp>
      <p:sp>
        <p:nvSpPr>
          <p:cNvPr id="28677" name="Rectangle 10"/>
          <p:cNvSpPr>
            <a:spLocks noGrp="1" noChangeArrowheads="1"/>
          </p:cNvSpPr>
          <p:nvPr>
            <p:ph type="body" idx="1"/>
          </p:nvPr>
        </p:nvSpPr>
        <p:spPr>
          <a:xfrm>
            <a:off x="533400" y="990600"/>
            <a:ext cx="8077200" cy="4572000"/>
          </a:xfrm>
        </p:spPr>
        <p:txBody>
          <a:bodyPr>
            <a:normAutofit fontScale="85000" lnSpcReduction="20000"/>
          </a:bodyPr>
          <a:lstStyle/>
          <a:p>
            <a:pPr eaLnBrk="1" hangingPunct="1"/>
            <a:r>
              <a:rPr lang="en-US" b="1" dirty="0"/>
              <a:t>Fork()</a:t>
            </a:r>
            <a:r>
              <a:rPr lang="en-US" dirty="0"/>
              <a:t> </a:t>
            </a:r>
          </a:p>
          <a:p>
            <a:pPr lvl="1" eaLnBrk="1" hangingPunct="1"/>
            <a:r>
              <a:rPr lang="en-CA" dirty="0"/>
              <a:t>UNIX command: generates one</a:t>
            </a:r>
            <a:r>
              <a:rPr lang="en-US" dirty="0"/>
              <a:t> </a:t>
            </a:r>
            <a:r>
              <a:rPr lang="en-CA" dirty="0"/>
              <a:t>program from another program </a:t>
            </a:r>
            <a:endParaRPr lang="en-US" dirty="0"/>
          </a:p>
          <a:p>
            <a:pPr lvl="1" eaLnBrk="1" hangingPunct="1"/>
            <a:r>
              <a:rPr lang="en-CA" dirty="0"/>
              <a:t>Gives second</a:t>
            </a:r>
            <a:r>
              <a:rPr lang="en-US" dirty="0"/>
              <a:t> </a:t>
            </a:r>
            <a:r>
              <a:rPr lang="en-CA" dirty="0"/>
              <a:t>program all first program attributes </a:t>
            </a:r>
          </a:p>
          <a:p>
            <a:pPr lvl="1" eaLnBrk="1" hangingPunct="1"/>
            <a:r>
              <a:rPr lang="en-GB" dirty="0"/>
              <a:t>code, global data, heap and stack, registers (including </a:t>
            </a:r>
            <a:r>
              <a:rPr lang="en-GB" i="1" dirty="0"/>
              <a:t>program counter</a:t>
            </a:r>
            <a:r>
              <a:rPr lang="en-GB" dirty="0"/>
              <a:t>), and open files.</a:t>
            </a:r>
            <a:endParaRPr lang="en-CA" dirty="0"/>
          </a:p>
          <a:p>
            <a:pPr lvl="1" eaLnBrk="1" hangingPunct="1"/>
            <a:r>
              <a:rPr lang="en-CA" dirty="0"/>
              <a:t>Saves</a:t>
            </a:r>
            <a:r>
              <a:rPr lang="en-US" dirty="0"/>
              <a:t> </a:t>
            </a:r>
            <a:r>
              <a:rPr lang="en-CA" dirty="0"/>
              <a:t>first program in original form</a:t>
            </a:r>
            <a:endParaRPr lang="en-US" dirty="0"/>
          </a:p>
          <a:p>
            <a:pPr lvl="1" eaLnBrk="1" hangingPunct="1"/>
            <a:r>
              <a:rPr lang="en-US" dirty="0"/>
              <a:t>Splits program: two versions of the parent (parent and child)</a:t>
            </a:r>
          </a:p>
          <a:p>
            <a:pPr lvl="2" eaLnBrk="1" hangingPunct="1"/>
            <a:r>
              <a:rPr lang="en-US" dirty="0"/>
              <a:t>Both run from statement after </a:t>
            </a:r>
            <a:r>
              <a:rPr lang="en-US" dirty="0">
                <a:latin typeface="Courier New" pitchFamily="49" charset="0"/>
                <a:cs typeface="Courier New" pitchFamily="49" charset="0"/>
              </a:rPr>
              <a:t>fork</a:t>
            </a:r>
            <a:r>
              <a:rPr lang="en-US" dirty="0"/>
              <a:t> command</a:t>
            </a:r>
          </a:p>
          <a:p>
            <a:pPr lvl="1" eaLnBrk="1" hangingPunct="1"/>
            <a:r>
              <a:rPr lang="en-US" dirty="0">
                <a:latin typeface="Courier New" pitchFamily="49" charset="0"/>
                <a:cs typeface="Courier New" pitchFamily="49" charset="0"/>
              </a:rPr>
              <a:t>fork</a:t>
            </a:r>
            <a:r>
              <a:rPr lang="en-US" dirty="0"/>
              <a:t> executed</a:t>
            </a:r>
          </a:p>
          <a:p>
            <a:pPr lvl="2" eaLnBrk="1" hangingPunct="1"/>
            <a:r>
              <a:rPr lang="en-US" dirty="0"/>
              <a:t>“Process id” (pid) generated</a:t>
            </a:r>
          </a:p>
          <a:p>
            <a:pPr lvl="2" eaLnBrk="1" hangingPunct="1"/>
            <a:r>
              <a:rPr lang="en-US" dirty="0"/>
              <a:t>Ensures each process has unique ID number</a:t>
            </a:r>
          </a:p>
        </p:txBody>
      </p:sp>
    </p:spTree>
    <p:extLst>
      <p:ext uri="{BB962C8B-B14F-4D97-AF65-F5344CB8AC3E}">
        <p14:creationId xmlns:p14="http://schemas.microsoft.com/office/powerpoint/2010/main" val="2266110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9699"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9477703F-2956-4F3E-81CA-4BAC2EE5BE3A}" type="slidenum">
              <a:rPr lang="en-US" smtClean="0">
                <a:solidFill>
                  <a:srgbClr val="000000"/>
                </a:solidFill>
              </a:rPr>
              <a:pPr eaLnBrk="1" hangingPunct="1"/>
              <a:t>11</a:t>
            </a:fld>
            <a:endParaRPr lang="en-US" dirty="0">
              <a:solidFill>
                <a:srgbClr val="000000"/>
              </a:solidFill>
            </a:endParaRPr>
          </a:p>
        </p:txBody>
      </p:sp>
      <p:sp>
        <p:nvSpPr>
          <p:cNvPr id="29700" name="Rectangle 2"/>
          <p:cNvSpPr>
            <a:spLocks noGrp="1" noChangeArrowheads="1"/>
          </p:cNvSpPr>
          <p:nvPr>
            <p:ph type="title"/>
          </p:nvPr>
        </p:nvSpPr>
        <p:spPr/>
        <p:txBody>
          <a:bodyPr/>
          <a:lstStyle/>
          <a:p>
            <a:pPr eaLnBrk="1" hangingPunct="1"/>
            <a:r>
              <a:rPr lang="en-US" dirty="0"/>
              <a:t>Synchronization (cont'd.)</a:t>
            </a:r>
          </a:p>
        </p:txBody>
      </p:sp>
      <p:pic>
        <p:nvPicPr>
          <p:cNvPr id="29701" name="Picture 1" descr="Screen Clippi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2200" y="1495425"/>
            <a:ext cx="6288088"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2" name="Rectangle 6"/>
          <p:cNvSpPr>
            <a:spLocks noChangeArrowheads="1"/>
          </p:cNvSpPr>
          <p:nvPr/>
        </p:nvSpPr>
        <p:spPr bwMode="auto">
          <a:xfrm rot="10800000" flipV="1">
            <a:off x="228600" y="1384042"/>
            <a:ext cx="2020888"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600" dirty="0">
                <a:solidFill>
                  <a:srgbClr val="000000"/>
                </a:solidFill>
              </a:rPr>
              <a:t>when the fork command is received, </a:t>
            </a:r>
          </a:p>
          <a:p>
            <a:r>
              <a:rPr lang="en-US" sz="1600" dirty="0">
                <a:solidFill>
                  <a:srgbClr val="000000"/>
                </a:solidFill>
              </a:rPr>
              <a:t>the parent process:</a:t>
            </a:r>
          </a:p>
          <a:p>
            <a:endParaRPr lang="en-US" sz="1600" dirty="0">
              <a:solidFill>
                <a:srgbClr val="000000"/>
              </a:solidFill>
            </a:endParaRPr>
          </a:p>
          <a:p>
            <a:endParaRPr lang="en-US" sz="1600" dirty="0">
              <a:solidFill>
                <a:srgbClr val="000000"/>
              </a:solidFill>
            </a:endParaRPr>
          </a:p>
          <a:p>
            <a:r>
              <a:rPr lang="en-US" sz="1600" dirty="0">
                <a:solidFill>
                  <a:srgbClr val="000000"/>
                </a:solidFill>
              </a:rPr>
              <a:t>shown in (a) begets the child process shown </a:t>
            </a:r>
          </a:p>
          <a:p>
            <a:endParaRPr lang="en-US" sz="1600" dirty="0">
              <a:solidFill>
                <a:srgbClr val="000000"/>
              </a:solidFill>
            </a:endParaRPr>
          </a:p>
          <a:p>
            <a:endParaRPr lang="en-US" sz="1600" dirty="0">
              <a:solidFill>
                <a:srgbClr val="000000"/>
              </a:solidFill>
            </a:endParaRPr>
          </a:p>
          <a:p>
            <a:r>
              <a:rPr lang="en-US" sz="1600" dirty="0">
                <a:solidFill>
                  <a:srgbClr val="000000"/>
                </a:solidFill>
              </a:rPr>
              <a:t>in (b) and Statement 2 (one of the child and one of the parent) is executed twice.</a:t>
            </a:r>
          </a:p>
          <a:p>
            <a:pPr algn="r"/>
            <a:endParaRPr lang="en-US" sz="1600" i="1" dirty="0">
              <a:solidFill>
                <a:srgbClr val="000000"/>
              </a:solidFill>
              <a:ea typeface="ＭＳ Ｐゴシック" pitchFamily="34" charset="-128"/>
            </a:endParaRPr>
          </a:p>
          <a:p>
            <a:pPr algn="r"/>
            <a:endParaRPr lang="en-US" sz="1600" i="1" dirty="0">
              <a:solidFill>
                <a:srgbClr val="000000"/>
              </a:solidFill>
              <a:ea typeface="ＭＳ Ｐゴシック" pitchFamily="34" charset="-128"/>
            </a:endParaRPr>
          </a:p>
          <a:p>
            <a:pPr algn="r"/>
            <a:r>
              <a:rPr lang="en-US" sz="1600" i="1" dirty="0">
                <a:solidFill>
                  <a:srgbClr val="000000"/>
                </a:solidFill>
                <a:ea typeface="ＭＳ Ｐゴシック" pitchFamily="34" charset="-128"/>
              </a:rPr>
              <a:t> Cengage Learning 2014</a:t>
            </a:r>
          </a:p>
        </p:txBody>
      </p:sp>
    </p:spTree>
    <p:extLst>
      <p:ext uri="{BB962C8B-B14F-4D97-AF65-F5344CB8AC3E}">
        <p14:creationId xmlns:p14="http://schemas.microsoft.com/office/powerpoint/2010/main" val="1586736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E" dirty="0"/>
              <a:t>Fork1.c main </a:t>
            </a:r>
          </a:p>
        </p:txBody>
      </p:sp>
      <p:pic>
        <p:nvPicPr>
          <p:cNvPr id="4" name="Content Placeholder 3"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5696" y="1052736"/>
            <a:ext cx="6237364" cy="5553564"/>
          </a:xfrm>
        </p:spPr>
      </p:pic>
    </p:spTree>
    <p:extLst>
      <p:ext uri="{BB962C8B-B14F-4D97-AF65-F5344CB8AC3E}">
        <p14:creationId xmlns:p14="http://schemas.microsoft.com/office/powerpoint/2010/main" val="3751307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164976"/>
            <a:ext cx="8077200" cy="527720"/>
          </a:xfrm>
        </p:spPr>
        <p:txBody>
          <a:bodyPr>
            <a:normAutofit fontScale="90000"/>
          </a:bodyPr>
          <a:lstStyle/>
          <a:p>
            <a:r>
              <a:rPr lang="en-IE" dirty="0"/>
              <a:t>A simply program for fork: Fork1.c</a:t>
            </a:r>
          </a:p>
        </p:txBody>
      </p:sp>
      <p:sp>
        <p:nvSpPr>
          <p:cNvPr id="3" name="Footer Placeholder 2"/>
          <p:cNvSpPr>
            <a:spLocks noGrp="1"/>
          </p:cNvSpPr>
          <p:nvPr>
            <p:ph type="ftr" sz="quarter" idx="10"/>
          </p:nvPr>
        </p:nvSpPr>
        <p:spPr/>
        <p:txBody>
          <a:bodyPr/>
          <a:lstStyle/>
          <a:p>
            <a:pPr>
              <a:defRPr/>
            </a:pPr>
            <a:r>
              <a:rPr lang="en-US"/>
              <a:t>Understanding Operating Systems</a:t>
            </a:r>
            <a:endParaRPr lang="en-US" dirty="0"/>
          </a:p>
        </p:txBody>
      </p:sp>
      <p:sp>
        <p:nvSpPr>
          <p:cNvPr id="4" name="Slide Number Placeholder 3"/>
          <p:cNvSpPr>
            <a:spLocks noGrp="1"/>
          </p:cNvSpPr>
          <p:nvPr>
            <p:ph type="sldNum" sz="quarter" idx="11"/>
          </p:nvPr>
        </p:nvSpPr>
        <p:spPr/>
        <p:txBody>
          <a:bodyPr/>
          <a:lstStyle/>
          <a:p>
            <a:pPr>
              <a:defRPr/>
            </a:pPr>
            <a:fld id="{3F2B40F8-46A7-40B8-B3E3-B722609ED82A}" type="slidenum">
              <a:rPr lang="en-US" smtClean="0"/>
              <a:pPr>
                <a:defRPr/>
              </a:pPr>
              <a:t>13</a:t>
            </a:fld>
            <a:endParaRPr lang="en-US" dirty="0"/>
          </a:p>
        </p:txBody>
      </p:sp>
      <p:pic>
        <p:nvPicPr>
          <p:cNvPr id="6" name="Content Placeholder 5"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6864" y="1220452"/>
            <a:ext cx="6430272" cy="4810796"/>
          </a:xfrm>
        </p:spPr>
      </p:pic>
    </p:spTree>
    <p:extLst>
      <p:ext uri="{BB962C8B-B14F-4D97-AF65-F5344CB8AC3E}">
        <p14:creationId xmlns:p14="http://schemas.microsoft.com/office/powerpoint/2010/main" val="17044167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E" dirty="0"/>
              <a:t>A sample Output Fork1.c</a:t>
            </a:r>
            <a:br>
              <a:rPr lang="en-IE" dirty="0"/>
            </a:br>
            <a:endParaRPr lang="en-IE" dirty="0"/>
          </a:p>
        </p:txBody>
      </p:sp>
      <p:pic>
        <p:nvPicPr>
          <p:cNvPr id="4" name="Content Placeholder 3" descr="denis.manley@soc-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3728" y="980728"/>
            <a:ext cx="5044430" cy="5434013"/>
          </a:xfrm>
        </p:spPr>
      </p:pic>
    </p:spTree>
    <p:extLst>
      <p:ext uri="{BB962C8B-B14F-4D97-AF65-F5344CB8AC3E}">
        <p14:creationId xmlns:p14="http://schemas.microsoft.com/office/powerpoint/2010/main" val="40186179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E" dirty="0"/>
              <a:t>Modify Fork1.c </a:t>
            </a:r>
          </a:p>
        </p:txBody>
      </p:sp>
      <p:sp>
        <p:nvSpPr>
          <p:cNvPr id="3" name="Content Placeholder 2"/>
          <p:cNvSpPr>
            <a:spLocks noGrp="1"/>
          </p:cNvSpPr>
          <p:nvPr>
            <p:ph idx="1"/>
          </p:nvPr>
        </p:nvSpPr>
        <p:spPr>
          <a:xfrm>
            <a:off x="457200" y="980728"/>
            <a:ext cx="8229600" cy="5145435"/>
          </a:xfrm>
        </p:spPr>
        <p:txBody>
          <a:bodyPr/>
          <a:lstStyle/>
          <a:p>
            <a:r>
              <a:rPr lang="en-IE" dirty="0"/>
              <a:t>Reduce the number of iterations in the for loop: Fork1.c and Explain the effect. </a:t>
            </a:r>
          </a:p>
          <a:p>
            <a:endParaRPr lang="en-IE" dirty="0"/>
          </a:p>
          <a:p>
            <a:r>
              <a:rPr lang="en-IE" dirty="0"/>
              <a:t>Use ubuntu app/virtual machine and test the Fork1.c code: is it slower or faster?  </a:t>
            </a:r>
          </a:p>
          <a:p>
            <a:endParaRPr lang="en-IE" dirty="0"/>
          </a:p>
        </p:txBody>
      </p:sp>
    </p:spTree>
    <p:extLst>
      <p:ext uri="{BB962C8B-B14F-4D97-AF65-F5344CB8AC3E}">
        <p14:creationId xmlns:p14="http://schemas.microsoft.com/office/powerpoint/2010/main" val="516835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Fork2.c main function</a:t>
            </a:r>
          </a:p>
        </p:txBody>
      </p:sp>
      <p:pic>
        <p:nvPicPr>
          <p:cNvPr id="4" name="Content Placeholder 3"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0986" y="1600200"/>
            <a:ext cx="6522028" cy="4525963"/>
          </a:xfrm>
        </p:spPr>
      </p:pic>
    </p:spTree>
    <p:extLst>
      <p:ext uri="{BB962C8B-B14F-4D97-AF65-F5344CB8AC3E}">
        <p14:creationId xmlns:p14="http://schemas.microsoft.com/office/powerpoint/2010/main" val="561876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6219" y="908050"/>
            <a:ext cx="4951561" cy="5340350"/>
          </a:xfrm>
        </p:spPr>
      </p:pic>
      <p:sp>
        <p:nvSpPr>
          <p:cNvPr id="3" name="Footer Placeholder 2"/>
          <p:cNvSpPr>
            <a:spLocks noGrp="1"/>
          </p:cNvSpPr>
          <p:nvPr>
            <p:ph type="ftr" sz="quarter" idx="10"/>
          </p:nvPr>
        </p:nvSpPr>
        <p:spPr/>
        <p:txBody>
          <a:bodyPr/>
          <a:lstStyle/>
          <a:p>
            <a:pPr>
              <a:defRPr/>
            </a:pPr>
            <a:r>
              <a:rPr lang="en-US"/>
              <a:t>Understanding Operating Systems</a:t>
            </a:r>
            <a:endParaRPr lang="en-US" dirty="0"/>
          </a:p>
        </p:txBody>
      </p:sp>
      <p:sp>
        <p:nvSpPr>
          <p:cNvPr id="4" name="Slide Number Placeholder 3"/>
          <p:cNvSpPr>
            <a:spLocks noGrp="1"/>
          </p:cNvSpPr>
          <p:nvPr>
            <p:ph type="sldNum" sz="quarter" idx="11"/>
          </p:nvPr>
        </p:nvSpPr>
        <p:spPr/>
        <p:txBody>
          <a:bodyPr/>
          <a:lstStyle/>
          <a:p>
            <a:pPr>
              <a:defRPr/>
            </a:pPr>
            <a:fld id="{3F2B40F8-46A7-40B8-B3E3-B722609ED82A}" type="slidenum">
              <a:rPr lang="en-US" smtClean="0"/>
              <a:pPr>
                <a:defRPr/>
              </a:pPr>
              <a:t>17</a:t>
            </a:fld>
            <a:endParaRPr lang="en-US" dirty="0"/>
          </a:p>
        </p:txBody>
      </p:sp>
      <p:sp>
        <p:nvSpPr>
          <p:cNvPr id="7" name="Title 1"/>
          <p:cNvSpPr>
            <a:spLocks noGrp="1"/>
          </p:cNvSpPr>
          <p:nvPr>
            <p:ph type="title"/>
          </p:nvPr>
        </p:nvSpPr>
        <p:spPr>
          <a:xfrm>
            <a:off x="457200" y="274638"/>
            <a:ext cx="8229600" cy="562074"/>
          </a:xfrm>
        </p:spPr>
        <p:txBody>
          <a:bodyPr>
            <a:normAutofit/>
          </a:bodyPr>
          <a:lstStyle/>
          <a:p>
            <a:r>
              <a:rPr lang="en-IE" sz="2800" b="1" dirty="0"/>
              <a:t>Fork2.c: </a:t>
            </a:r>
            <a:r>
              <a:rPr lang="en-IE" sz="2800" dirty="0"/>
              <a:t> Synchronise output with </a:t>
            </a:r>
            <a:r>
              <a:rPr lang="en-IE" sz="2800" b="1" dirty="0"/>
              <a:t>sleep()</a:t>
            </a:r>
            <a:r>
              <a:rPr lang="en-IE" sz="2800" dirty="0"/>
              <a:t>  command:</a:t>
            </a:r>
          </a:p>
        </p:txBody>
      </p:sp>
      <p:cxnSp>
        <p:nvCxnSpPr>
          <p:cNvPr id="5" name="Straight Arrow Connector 4"/>
          <p:cNvCxnSpPr/>
          <p:nvPr/>
        </p:nvCxnSpPr>
        <p:spPr>
          <a:xfrm flipH="1">
            <a:off x="2915816" y="620688"/>
            <a:ext cx="3103984" cy="45365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99131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77200" cy="685800"/>
          </a:xfrm>
        </p:spPr>
        <p:txBody>
          <a:bodyPr>
            <a:normAutofit/>
          </a:bodyPr>
          <a:lstStyle/>
          <a:p>
            <a:r>
              <a:rPr lang="en-IE" sz="2800" b="1" dirty="0"/>
              <a:t>Fork2.c: </a:t>
            </a:r>
            <a:r>
              <a:rPr lang="en-IE" sz="2800" dirty="0"/>
              <a:t> Synchronise output with sleep command:</a:t>
            </a:r>
          </a:p>
        </p:txBody>
      </p:sp>
      <p:pic>
        <p:nvPicPr>
          <p:cNvPr id="6" name="Content Placeholder 5"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3400" y="1052736"/>
            <a:ext cx="8071048" cy="5040559"/>
          </a:xfrm>
        </p:spPr>
      </p:pic>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18</a:t>
            </a:fld>
            <a:endParaRPr lang="en-US" dirty="0"/>
          </a:p>
        </p:txBody>
      </p:sp>
      <p:sp>
        <p:nvSpPr>
          <p:cNvPr id="8" name="TextBox 7"/>
          <p:cNvSpPr txBox="1"/>
          <p:nvPr/>
        </p:nvSpPr>
        <p:spPr>
          <a:xfrm>
            <a:off x="1043608" y="6381328"/>
            <a:ext cx="6768752" cy="369332"/>
          </a:xfrm>
          <a:prstGeom prst="rect">
            <a:avLst/>
          </a:prstGeom>
          <a:noFill/>
        </p:spPr>
        <p:txBody>
          <a:bodyPr wrap="square" rtlCol="0">
            <a:spAutoFit/>
          </a:bodyPr>
          <a:lstStyle/>
          <a:p>
            <a:r>
              <a:rPr lang="en-IE" dirty="0"/>
              <a:t>Change position of sleep command and observe the effect!!!!!</a:t>
            </a:r>
          </a:p>
        </p:txBody>
      </p:sp>
    </p:spTree>
    <p:extLst>
      <p:ext uri="{BB962C8B-B14F-4D97-AF65-F5344CB8AC3E}">
        <p14:creationId xmlns:p14="http://schemas.microsoft.com/office/powerpoint/2010/main" val="3891965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solidFill>
                  <a:srgbClr val="000000"/>
                </a:solidFill>
              </a:rPr>
              <a:t>Understanding Operating Systems, 7e</a:t>
            </a:r>
          </a:p>
        </p:txBody>
      </p:sp>
      <p:sp>
        <p:nvSpPr>
          <p:cNvPr id="3072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4996087-24C9-4C04-A431-F8884AC3A91F}" type="slidenum">
              <a:rPr lang="en-US" smtClean="0">
                <a:solidFill>
                  <a:srgbClr val="000000"/>
                </a:solidFill>
              </a:rPr>
              <a:pPr eaLnBrk="1" hangingPunct="1"/>
              <a:t>19</a:t>
            </a:fld>
            <a:endParaRPr lang="en-US" dirty="0">
              <a:solidFill>
                <a:srgbClr val="000000"/>
              </a:solidFill>
            </a:endParaRPr>
          </a:p>
        </p:txBody>
      </p:sp>
      <p:sp>
        <p:nvSpPr>
          <p:cNvPr id="30724" name="Rectangle 5"/>
          <p:cNvSpPr>
            <a:spLocks noGrp="1" noChangeArrowheads="1"/>
          </p:cNvSpPr>
          <p:nvPr>
            <p:ph type="title"/>
          </p:nvPr>
        </p:nvSpPr>
        <p:spPr/>
        <p:txBody>
          <a:bodyPr/>
          <a:lstStyle/>
          <a:p>
            <a:pPr eaLnBrk="1" hangingPunct="1"/>
            <a:r>
              <a:rPr lang="en-US" dirty="0" err="1"/>
              <a:t>Synchronisation</a:t>
            </a:r>
            <a:r>
              <a:rPr lang="en-US" dirty="0"/>
              <a:t>: Wait()</a:t>
            </a:r>
          </a:p>
        </p:txBody>
      </p:sp>
      <p:sp>
        <p:nvSpPr>
          <p:cNvPr id="30725" name="Rectangle 6"/>
          <p:cNvSpPr>
            <a:spLocks noGrp="1" noChangeArrowheads="1"/>
          </p:cNvSpPr>
          <p:nvPr>
            <p:ph type="body" idx="1"/>
          </p:nvPr>
        </p:nvSpPr>
        <p:spPr>
          <a:xfrm>
            <a:off x="533400" y="1371600"/>
            <a:ext cx="8077200" cy="5029200"/>
          </a:xfrm>
        </p:spPr>
        <p:txBody>
          <a:bodyPr>
            <a:normAutofit fontScale="92500" lnSpcReduction="10000"/>
          </a:bodyPr>
          <a:lstStyle/>
          <a:p>
            <a:pPr eaLnBrk="1" hangingPunct="1"/>
            <a:r>
              <a:rPr lang="en-US" b="1" dirty="0"/>
              <a:t>Wait()</a:t>
            </a:r>
          </a:p>
          <a:p>
            <a:pPr lvl="1" eaLnBrk="1" hangingPunct="1"/>
            <a:r>
              <a:rPr lang="en-US" dirty="0"/>
              <a:t>A better way to ensure “</a:t>
            </a:r>
            <a:r>
              <a:rPr lang="en-US" dirty="0" err="1"/>
              <a:t>synchronisation</a:t>
            </a:r>
            <a:r>
              <a:rPr lang="en-US" dirty="0"/>
              <a:t> is using the “wait()” command. </a:t>
            </a:r>
          </a:p>
          <a:p>
            <a:pPr lvl="1" eaLnBrk="1" hangingPunct="1"/>
            <a:r>
              <a:rPr lang="en-US" dirty="0"/>
              <a:t>UNIX command: synchronizes process execution</a:t>
            </a:r>
          </a:p>
          <a:p>
            <a:pPr lvl="2" eaLnBrk="1" hangingPunct="1"/>
            <a:r>
              <a:rPr lang="en-US" dirty="0"/>
              <a:t>Suspends parent until child finished</a:t>
            </a:r>
          </a:p>
          <a:p>
            <a:pPr lvl="1" eaLnBrk="1" hangingPunct="1"/>
            <a:r>
              <a:rPr lang="en-US" dirty="0"/>
              <a:t>Program IF-THEN-ELSE structure</a:t>
            </a:r>
          </a:p>
          <a:p>
            <a:pPr lvl="2" eaLnBrk="1" hangingPunct="1"/>
            <a:r>
              <a:rPr lang="en-US" dirty="0"/>
              <a:t>Controlled by pid value</a:t>
            </a:r>
          </a:p>
          <a:p>
            <a:pPr lvl="2" eaLnBrk="1" hangingPunct="1"/>
            <a:r>
              <a:rPr lang="en-US" dirty="0"/>
              <a:t>pid &gt; zero: parent process</a:t>
            </a:r>
          </a:p>
          <a:p>
            <a:pPr lvl="2" eaLnBrk="1" hangingPunct="1"/>
            <a:r>
              <a:rPr lang="en-US" dirty="0"/>
              <a:t>pid = zero: child process</a:t>
            </a:r>
          </a:p>
          <a:p>
            <a:pPr lvl="2" eaLnBrk="1" hangingPunct="1"/>
            <a:r>
              <a:rPr lang="en-US" dirty="0"/>
              <a:t>pid &lt; zero: error in </a:t>
            </a:r>
            <a:r>
              <a:rPr lang="en-US" dirty="0">
                <a:latin typeface="Courier New" pitchFamily="49" charset="0"/>
                <a:cs typeface="Courier New" pitchFamily="49" charset="0"/>
              </a:rPr>
              <a:t>fork</a:t>
            </a:r>
            <a:r>
              <a:rPr lang="en-US" dirty="0"/>
              <a:t> call</a:t>
            </a:r>
          </a:p>
          <a:p>
            <a:pPr lvl="2" eaLnBrk="1" hangingPunct="1"/>
            <a:endParaRPr lang="en-US" dirty="0"/>
          </a:p>
          <a:p>
            <a:pPr lvl="1" eaLnBrk="1" hangingPunct="1"/>
            <a:r>
              <a:rPr lang="en-US" i="1" dirty="0"/>
              <a:t>Modify fork2.c program to use wait instead of sleep()</a:t>
            </a:r>
          </a:p>
          <a:p>
            <a:pPr lvl="1" eaLnBrk="1" hangingPunct="1"/>
            <a:endParaRPr lang="en-US" dirty="0"/>
          </a:p>
          <a:p>
            <a:pPr lvl="1" eaLnBrk="1" hangingPunct="1"/>
            <a:endParaRPr lang="en-US" dirty="0"/>
          </a:p>
        </p:txBody>
      </p:sp>
    </p:spTree>
    <p:extLst>
      <p:ext uri="{BB962C8B-B14F-4D97-AF65-F5344CB8AC3E}">
        <p14:creationId xmlns:p14="http://schemas.microsoft.com/office/powerpoint/2010/main" val="3179204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3174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0FC840C-C0B1-4553-A9E5-F44B7FBE7514}" type="slidenum">
              <a:rPr lang="en-US" smtClean="0">
                <a:solidFill>
                  <a:srgbClr val="000000"/>
                </a:solidFill>
              </a:rPr>
              <a:pPr eaLnBrk="1" hangingPunct="1"/>
              <a:t>20</a:t>
            </a:fld>
            <a:endParaRPr lang="en-US" dirty="0">
              <a:solidFill>
                <a:srgbClr val="000000"/>
              </a:solidFill>
            </a:endParaRPr>
          </a:p>
        </p:txBody>
      </p:sp>
      <p:sp>
        <p:nvSpPr>
          <p:cNvPr id="31748" name="Rectangle 2"/>
          <p:cNvSpPr>
            <a:spLocks noGrp="1" noChangeArrowheads="1"/>
          </p:cNvSpPr>
          <p:nvPr>
            <p:ph type="title"/>
          </p:nvPr>
        </p:nvSpPr>
        <p:spPr>
          <a:xfrm>
            <a:off x="533400" y="381000"/>
            <a:ext cx="8077200" cy="809397"/>
          </a:xfrm>
        </p:spPr>
        <p:txBody>
          <a:bodyPr/>
          <a:lstStyle/>
          <a:p>
            <a:pPr eaLnBrk="1" hangingPunct="1"/>
            <a:r>
              <a:rPr lang="en-US" dirty="0"/>
              <a:t>The wait command </a:t>
            </a:r>
          </a:p>
        </p:txBody>
      </p:sp>
      <p:pic>
        <p:nvPicPr>
          <p:cNvPr id="31749" name="Picture 1" descr="Screen Clippi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24250" y="1219200"/>
            <a:ext cx="5010150" cy="490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Rectangle 6"/>
          <p:cNvSpPr>
            <a:spLocks noChangeArrowheads="1"/>
          </p:cNvSpPr>
          <p:nvPr/>
        </p:nvSpPr>
        <p:spPr bwMode="auto">
          <a:xfrm rot="10800000" flipV="1">
            <a:off x="381000" y="1190397"/>
            <a:ext cx="297180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0" hangingPunct="0"/>
            <a:r>
              <a:rPr lang="en-US" sz="2000" b="1" dirty="0">
                <a:solidFill>
                  <a:srgbClr val="000000"/>
                </a:solidFill>
                <a:ea typeface="ＭＳ Ｐゴシック" pitchFamily="34" charset="-128"/>
              </a:rPr>
              <a:t> </a:t>
            </a:r>
          </a:p>
          <a:p>
            <a:pPr algn="r"/>
            <a:r>
              <a:rPr lang="en-US" sz="2000" dirty="0">
                <a:solidFill>
                  <a:srgbClr val="000000"/>
                </a:solidFill>
              </a:rPr>
              <a:t>The wait command used in conjunction with the fork command will synchronize the parent and child processes. In (a) the parent process is shown before the fork, (b) shows the parent and child after the fork, and (c) shows the parent and child during the wait.</a:t>
            </a:r>
          </a:p>
          <a:p>
            <a:pPr algn="r"/>
            <a:r>
              <a:rPr lang="en-US" sz="2000" i="1" dirty="0">
                <a:solidFill>
                  <a:srgbClr val="000000"/>
                </a:solidFill>
                <a:ea typeface="ＭＳ Ｐゴシック" pitchFamily="34" charset="-128"/>
              </a:rPr>
              <a:t>© Cengage Learning 2014</a:t>
            </a:r>
          </a:p>
        </p:txBody>
      </p:sp>
    </p:spTree>
    <p:extLst>
      <p:ext uri="{BB962C8B-B14F-4D97-AF65-F5344CB8AC3E}">
        <p14:creationId xmlns:p14="http://schemas.microsoft.com/office/powerpoint/2010/main" val="1068121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077200" cy="838200"/>
          </a:xfrm>
        </p:spPr>
        <p:txBody>
          <a:bodyPr/>
          <a:lstStyle/>
          <a:p>
            <a:r>
              <a:rPr lang="en-IE" dirty="0"/>
              <a:t>Using a wait()</a:t>
            </a:r>
          </a:p>
        </p:txBody>
      </p:sp>
      <p:pic>
        <p:nvPicPr>
          <p:cNvPr id="6" name="Content Placeholder 5" descr="03-Process.pdf - Adobe Acrobat Professional"/>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3531" y="1219200"/>
            <a:ext cx="7156938" cy="5029200"/>
          </a:xfrm>
        </p:spPr>
      </p:pic>
      <p:sp>
        <p:nvSpPr>
          <p:cNvPr id="3" name="Footer Placeholder 2"/>
          <p:cNvSpPr>
            <a:spLocks noGrp="1"/>
          </p:cNvSpPr>
          <p:nvPr>
            <p:ph type="ftr" sz="quarter" idx="10"/>
          </p:nvPr>
        </p:nvSpPr>
        <p:spPr/>
        <p:txBody>
          <a:bodyPr/>
          <a:lstStyle/>
          <a:p>
            <a:pPr>
              <a:defRPr/>
            </a:pPr>
            <a:r>
              <a:rPr lang="en-US"/>
              <a:t>Understanding Operating Systems</a:t>
            </a:r>
            <a:endParaRPr lang="en-US" dirty="0"/>
          </a:p>
        </p:txBody>
      </p:sp>
      <p:sp>
        <p:nvSpPr>
          <p:cNvPr id="4" name="Slide Number Placeholder 3"/>
          <p:cNvSpPr>
            <a:spLocks noGrp="1"/>
          </p:cNvSpPr>
          <p:nvPr>
            <p:ph type="sldNum" sz="quarter" idx="11"/>
          </p:nvPr>
        </p:nvSpPr>
        <p:spPr/>
        <p:txBody>
          <a:bodyPr/>
          <a:lstStyle/>
          <a:p>
            <a:pPr>
              <a:defRPr/>
            </a:pPr>
            <a:fld id="{3F2B40F8-46A7-40B8-B3E3-B722609ED82A}" type="slidenum">
              <a:rPr lang="en-US" smtClean="0"/>
              <a:pPr>
                <a:defRPr/>
              </a:pPr>
              <a:t>21</a:t>
            </a:fld>
            <a:endParaRPr lang="en-US" dirty="0"/>
          </a:p>
        </p:txBody>
      </p:sp>
    </p:spTree>
    <p:extLst>
      <p:ext uri="{BB962C8B-B14F-4D97-AF65-F5344CB8AC3E}">
        <p14:creationId xmlns:p14="http://schemas.microsoft.com/office/powerpoint/2010/main" val="1837376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634082"/>
          </a:xfrm>
        </p:spPr>
        <p:txBody>
          <a:bodyPr>
            <a:normAutofit fontScale="90000"/>
          </a:bodyPr>
          <a:lstStyle/>
          <a:p>
            <a:r>
              <a:rPr lang="en-IE" dirty="0"/>
              <a:t>Sample code Fork3.c (Wait command)</a:t>
            </a:r>
          </a:p>
        </p:txBody>
      </p:sp>
      <p:pic>
        <p:nvPicPr>
          <p:cNvPr id="5" name="Content Placeholder 4"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9672" y="980728"/>
            <a:ext cx="6430273" cy="5715798"/>
          </a:xfrm>
        </p:spPr>
      </p:pic>
      <p:cxnSp>
        <p:nvCxnSpPr>
          <p:cNvPr id="4" name="Straight Arrow Connector 3"/>
          <p:cNvCxnSpPr/>
          <p:nvPr/>
        </p:nvCxnSpPr>
        <p:spPr>
          <a:xfrm flipH="1">
            <a:off x="2987824" y="692696"/>
            <a:ext cx="3456384" cy="4176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1875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77200" cy="533400"/>
          </a:xfrm>
        </p:spPr>
        <p:txBody>
          <a:bodyPr/>
          <a:lstStyle/>
          <a:p>
            <a:pPr algn="l"/>
            <a:r>
              <a:rPr lang="en-IE" sz="2800" dirty="0"/>
              <a:t>Execution of Fork3.c  (</a:t>
            </a:r>
            <a:r>
              <a:rPr lang="en-IE" sz="2800" i="1" dirty="0"/>
              <a:t>MAX_COUNT = 5</a:t>
            </a:r>
            <a:r>
              <a:rPr lang="en-IE" sz="2800" dirty="0"/>
              <a:t> )</a:t>
            </a:r>
            <a:endParaRPr lang="en-IE" sz="2800" i="1" dirty="0"/>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23</a:t>
            </a:fld>
            <a:endParaRPr lang="en-US" dirty="0"/>
          </a:p>
        </p:txBody>
      </p:sp>
      <p:pic>
        <p:nvPicPr>
          <p:cNvPr id="9" name="Content Placeholder 8"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556792"/>
            <a:ext cx="8229600" cy="3206095"/>
          </a:xfrm>
        </p:spPr>
      </p:pic>
    </p:spTree>
    <p:extLst>
      <p:ext uri="{BB962C8B-B14F-4D97-AF65-F5344CB8AC3E}">
        <p14:creationId xmlns:p14="http://schemas.microsoft.com/office/powerpoint/2010/main" val="3485668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err="1"/>
              <a:t>int</a:t>
            </a:r>
            <a:r>
              <a:rPr lang="en-IE" dirty="0"/>
              <a:t> main(</a:t>
            </a:r>
            <a:r>
              <a:rPr lang="en-IE" dirty="0" err="1"/>
              <a:t>int</a:t>
            </a:r>
            <a:r>
              <a:rPr lang="en-IE" dirty="0"/>
              <a:t> </a:t>
            </a:r>
            <a:r>
              <a:rPr lang="en-IE" dirty="0" err="1"/>
              <a:t>argc</a:t>
            </a:r>
            <a:r>
              <a:rPr lang="en-IE" dirty="0"/>
              <a:t>, char **</a:t>
            </a:r>
            <a:r>
              <a:rPr lang="en-IE" dirty="0" err="1"/>
              <a:t>argv</a:t>
            </a:r>
            <a:r>
              <a:rPr lang="en-IE" dirty="0"/>
              <a:t>)  </a:t>
            </a:r>
          </a:p>
        </p:txBody>
      </p:sp>
      <p:sp>
        <p:nvSpPr>
          <p:cNvPr id="3" name="Content Placeholder 2"/>
          <p:cNvSpPr>
            <a:spLocks noGrp="1"/>
          </p:cNvSpPr>
          <p:nvPr>
            <p:ph idx="1"/>
          </p:nvPr>
        </p:nvSpPr>
        <p:spPr/>
        <p:txBody>
          <a:bodyPr>
            <a:normAutofit fontScale="70000" lnSpcReduction="20000"/>
          </a:bodyPr>
          <a:lstStyle/>
          <a:p>
            <a:r>
              <a:rPr lang="en-IE" dirty="0" err="1"/>
              <a:t>argc</a:t>
            </a:r>
            <a:r>
              <a:rPr lang="en-IE" dirty="0"/>
              <a:t> is a variable that contains the number of command line arguments</a:t>
            </a:r>
          </a:p>
          <a:p>
            <a:endParaRPr lang="en-IE" dirty="0"/>
          </a:p>
          <a:p>
            <a:r>
              <a:rPr lang="en-IE" dirty="0" err="1"/>
              <a:t>Argv</a:t>
            </a:r>
            <a:r>
              <a:rPr lang="en-IE" dirty="0"/>
              <a:t> is a character pointer array containing all the command line arguments.</a:t>
            </a:r>
          </a:p>
          <a:p>
            <a:endParaRPr lang="en-IE" dirty="0"/>
          </a:p>
          <a:p>
            <a:r>
              <a:rPr lang="en-IE" dirty="0" err="1"/>
              <a:t>argv</a:t>
            </a:r>
            <a:r>
              <a:rPr lang="en-IE" dirty="0"/>
              <a:t>[0] is the first command line argument</a:t>
            </a:r>
          </a:p>
          <a:p>
            <a:r>
              <a:rPr lang="en-IE" dirty="0"/>
              <a:t> </a:t>
            </a:r>
            <a:r>
              <a:rPr lang="en-IE" dirty="0" err="1"/>
              <a:t>argv</a:t>
            </a:r>
            <a:r>
              <a:rPr lang="en-IE" dirty="0"/>
              <a:t>[1] is the second command line argument (if there is one…</a:t>
            </a:r>
          </a:p>
          <a:p>
            <a:endParaRPr lang="en-IE" dirty="0"/>
          </a:p>
          <a:p>
            <a:r>
              <a:rPr lang="en-IE" dirty="0"/>
              <a:t>If the command line (after the prompt) is:</a:t>
            </a:r>
          </a:p>
          <a:p>
            <a:pPr lvl="1"/>
            <a:r>
              <a:rPr lang="en-IE" dirty="0" err="1"/>
              <a:t>cp</a:t>
            </a:r>
            <a:r>
              <a:rPr lang="en-IE" dirty="0"/>
              <a:t> file1 file2</a:t>
            </a:r>
          </a:p>
          <a:p>
            <a:r>
              <a:rPr lang="en-IE" dirty="0"/>
              <a:t>what is the value returned by </a:t>
            </a:r>
            <a:r>
              <a:rPr lang="en-IE" dirty="0" err="1"/>
              <a:t>argv</a:t>
            </a:r>
            <a:r>
              <a:rPr lang="en-IE" dirty="0"/>
              <a:t>[2]?</a:t>
            </a:r>
          </a:p>
          <a:p>
            <a:r>
              <a:rPr lang="en-IE" dirty="0"/>
              <a:t>What value is returned by </a:t>
            </a:r>
            <a:r>
              <a:rPr lang="en-IE" dirty="0" err="1"/>
              <a:t>argc</a:t>
            </a:r>
            <a:r>
              <a:rPr lang="en-IE" dirty="0"/>
              <a:t>?</a:t>
            </a:r>
          </a:p>
        </p:txBody>
      </p:sp>
    </p:spTree>
    <p:extLst>
      <p:ext uri="{BB962C8B-B14F-4D97-AF65-F5344CB8AC3E}">
        <p14:creationId xmlns:p14="http://schemas.microsoft.com/office/powerpoint/2010/main" val="2660426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Autofit/>
          </a:bodyPr>
          <a:lstStyle/>
          <a:p>
            <a:r>
              <a:rPr lang="en-IE" sz="3200" dirty="0"/>
              <a:t>Pass command line arguments to c program: Fork4.c</a:t>
            </a:r>
          </a:p>
        </p:txBody>
      </p:sp>
      <p:pic>
        <p:nvPicPr>
          <p:cNvPr id="9" name="Content Placeholder 8" descr="denis.manley@apollo: ~/OS2/week6"/>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95536" y="1146694"/>
            <a:ext cx="4179677" cy="5306642"/>
          </a:xfrm>
        </p:spPr>
      </p:pic>
      <p:sp>
        <p:nvSpPr>
          <p:cNvPr id="5" name="Slide Number Placeholder 4"/>
          <p:cNvSpPr>
            <a:spLocks noGrp="1"/>
          </p:cNvSpPr>
          <p:nvPr>
            <p:ph type="sldNum" sz="quarter" idx="4294967295"/>
          </p:nvPr>
        </p:nvSpPr>
        <p:spPr>
          <a:xfrm>
            <a:off x="0" y="6356350"/>
            <a:ext cx="2895600" cy="365125"/>
          </a:xfrm>
        </p:spPr>
        <p:txBody>
          <a:bodyPr/>
          <a:lstStyle/>
          <a:p>
            <a:pPr>
              <a:defRPr/>
            </a:pPr>
            <a:fld id="{3B7F103D-599D-4770-B4B8-436F0A5A460C}" type="slidenum">
              <a:rPr lang="en-US" smtClean="0"/>
              <a:pPr>
                <a:defRPr/>
              </a:pPr>
              <a:t>25</a:t>
            </a:fld>
            <a:endParaRPr lang="en-US" dirty="0"/>
          </a:p>
        </p:txBody>
      </p:sp>
      <p:pic>
        <p:nvPicPr>
          <p:cNvPr id="6" name="Content Placeholder 5" descr="denis.manley@soc-apollo: ~/OS2/week6"/>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702103" y="1146694"/>
            <a:ext cx="3830337" cy="5294128"/>
          </a:xfrm>
        </p:spPr>
      </p:pic>
      <p:sp>
        <p:nvSpPr>
          <p:cNvPr id="7" name="TextBox 6"/>
          <p:cNvSpPr txBox="1"/>
          <p:nvPr/>
        </p:nvSpPr>
        <p:spPr>
          <a:xfrm>
            <a:off x="1173116" y="6488668"/>
            <a:ext cx="7333867" cy="369332"/>
          </a:xfrm>
          <a:prstGeom prst="rect">
            <a:avLst/>
          </a:prstGeom>
          <a:noFill/>
        </p:spPr>
        <p:txBody>
          <a:bodyPr wrap="none" rtlCol="0">
            <a:spAutoFit/>
          </a:bodyPr>
          <a:lstStyle/>
          <a:p>
            <a:r>
              <a:rPr lang="en-IE" dirty="0"/>
              <a:t>If not wait the process may interleave iterations. Try with the wait command</a:t>
            </a:r>
          </a:p>
        </p:txBody>
      </p:sp>
    </p:spTree>
    <p:extLst>
      <p:ext uri="{BB962C8B-B14F-4D97-AF65-F5344CB8AC3E}">
        <p14:creationId xmlns:p14="http://schemas.microsoft.com/office/powerpoint/2010/main" val="2286355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533400" y="381000"/>
            <a:ext cx="8077200" cy="838200"/>
          </a:xfrm>
        </p:spPr>
        <p:txBody>
          <a:bodyPr/>
          <a:lstStyle/>
          <a:p>
            <a:pPr eaLnBrk="1" hangingPunct="1"/>
            <a:r>
              <a:rPr lang="en-US" altLang="en-US" dirty="0"/>
              <a:t>Process Creation: Unix</a:t>
            </a:r>
          </a:p>
        </p:txBody>
      </p:sp>
      <p:sp>
        <p:nvSpPr>
          <p:cNvPr id="27651" name="Content Placeholder 2"/>
          <p:cNvSpPr>
            <a:spLocks noGrp="1"/>
          </p:cNvSpPr>
          <p:nvPr>
            <p:ph idx="1"/>
          </p:nvPr>
        </p:nvSpPr>
        <p:spPr>
          <a:xfrm>
            <a:off x="533400" y="1143000"/>
            <a:ext cx="8077200" cy="5454352"/>
          </a:xfrm>
        </p:spPr>
        <p:txBody>
          <a:bodyPr>
            <a:normAutofit lnSpcReduction="10000"/>
          </a:bodyPr>
          <a:lstStyle/>
          <a:p>
            <a:pPr eaLnBrk="1" hangingPunct="1"/>
            <a:r>
              <a:rPr lang="en-US" altLang="en-US" dirty="0"/>
              <a:t>How do we actually start a new program?</a:t>
            </a:r>
          </a:p>
          <a:p>
            <a:pPr lvl="1" eaLnBrk="1" hangingPunct="1"/>
            <a:r>
              <a:rPr lang="en-US" altLang="en-US" dirty="0"/>
              <a:t>Use exec (</a:t>
            </a:r>
            <a:r>
              <a:rPr lang="en-US" dirty="0"/>
              <a:t>(see </a:t>
            </a:r>
            <a:r>
              <a:rPr lang="en-US" i="1" dirty="0"/>
              <a:t>man exec</a:t>
            </a:r>
            <a:r>
              <a:rPr lang="en-US" dirty="0"/>
              <a:t> for more details)</a:t>
            </a:r>
          </a:p>
          <a:p>
            <a:pPr lvl="1" eaLnBrk="1" hangingPunct="1"/>
            <a:r>
              <a:rPr lang="en-US" dirty="0"/>
              <a:t>Start new program execution from another program</a:t>
            </a:r>
          </a:p>
          <a:p>
            <a:pPr eaLnBrk="1" hangingPunct="1"/>
            <a:r>
              <a:rPr lang="da-DK" altLang="en-US" b="1" dirty="0"/>
              <a:t>E.g. int execvp(char *prog, char *argv[])</a:t>
            </a:r>
          </a:p>
          <a:p>
            <a:pPr lvl="1" eaLnBrk="1" hangingPunct="1"/>
            <a:r>
              <a:rPr lang="en-US" altLang="en-US" dirty="0"/>
              <a:t>Stops the current process (e.g. child of prompt)</a:t>
            </a:r>
          </a:p>
          <a:p>
            <a:pPr lvl="1" eaLnBrk="1" hangingPunct="1"/>
            <a:r>
              <a:rPr lang="en-US" altLang="en-US" dirty="0"/>
              <a:t>Loads the program “</a:t>
            </a:r>
            <a:r>
              <a:rPr lang="en-US" altLang="ja-JP" dirty="0" err="1">
                <a:ea typeface="ＭＳ Ｐゴシック" charset="-128"/>
              </a:rPr>
              <a:t>prog</a:t>
            </a:r>
            <a:r>
              <a:rPr lang="en-US" altLang="en-US" dirty="0"/>
              <a:t>”</a:t>
            </a:r>
            <a:r>
              <a:rPr lang="en-US" altLang="ja-JP" dirty="0">
                <a:ea typeface="ＭＳ Ｐゴシック" charset="-128"/>
              </a:rPr>
              <a:t> into the process</a:t>
            </a:r>
            <a:r>
              <a:rPr lang="en-US" altLang="en-US" dirty="0"/>
              <a:t>’</a:t>
            </a:r>
            <a:r>
              <a:rPr lang="en-US" altLang="ja-JP" dirty="0">
                <a:ea typeface="ＭＳ Ｐゴシック" charset="-128"/>
              </a:rPr>
              <a:t> address space</a:t>
            </a:r>
          </a:p>
          <a:p>
            <a:pPr lvl="1" eaLnBrk="1" hangingPunct="1"/>
            <a:r>
              <a:rPr lang="en-US" altLang="en-US" dirty="0"/>
              <a:t>Initializes hardware context and </a:t>
            </a:r>
            <a:r>
              <a:rPr lang="en-US" altLang="en-US" dirty="0" err="1"/>
              <a:t>args</a:t>
            </a:r>
            <a:r>
              <a:rPr lang="en-US" altLang="en-US" dirty="0"/>
              <a:t> for the new program</a:t>
            </a:r>
          </a:p>
          <a:p>
            <a:pPr lvl="1" eaLnBrk="1" hangingPunct="1"/>
            <a:r>
              <a:rPr lang="en-US" altLang="en-US" dirty="0"/>
              <a:t>Places the PCB of it onto the ready queue </a:t>
            </a:r>
          </a:p>
        </p:txBody>
      </p:sp>
    </p:spTree>
    <p:extLst>
      <p:ext uri="{BB962C8B-B14F-4D97-AF65-F5344CB8AC3E}">
        <p14:creationId xmlns:p14="http://schemas.microsoft.com/office/powerpoint/2010/main" val="22297673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33794"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solidFill>
                  <a:srgbClr val="000000"/>
                </a:solidFill>
              </a:rPr>
              <a:t>Understanding Operating Systems, 7e</a:t>
            </a:r>
          </a:p>
        </p:txBody>
      </p:sp>
      <p:sp>
        <p:nvSpPr>
          <p:cNvPr id="33795"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BB21F51-82D8-44D2-A083-B9AEFEA63433}" type="slidenum">
              <a:rPr lang="en-US" smtClean="0">
                <a:solidFill>
                  <a:srgbClr val="000000"/>
                </a:solidFill>
              </a:rPr>
              <a:pPr eaLnBrk="1" hangingPunct="1"/>
              <a:t>27</a:t>
            </a:fld>
            <a:endParaRPr lang="en-US" dirty="0">
              <a:solidFill>
                <a:srgbClr val="000000"/>
              </a:solidFill>
            </a:endParaRPr>
          </a:p>
        </p:txBody>
      </p:sp>
      <p:sp>
        <p:nvSpPr>
          <p:cNvPr id="33796" name="Rectangle 3"/>
          <p:cNvSpPr>
            <a:spLocks noGrp="1" noChangeArrowheads="1"/>
          </p:cNvSpPr>
          <p:nvPr>
            <p:ph type="title"/>
          </p:nvPr>
        </p:nvSpPr>
        <p:spPr/>
        <p:txBody>
          <a:bodyPr/>
          <a:lstStyle/>
          <a:p>
            <a:pPr eaLnBrk="1" hangingPunct="1"/>
            <a:r>
              <a:rPr lang="en-US" dirty="0"/>
              <a:t>Synchronization (cont'd.)</a:t>
            </a:r>
          </a:p>
        </p:txBody>
      </p:sp>
      <p:pic>
        <p:nvPicPr>
          <p:cNvPr id="33797" name="Picture 1" descr="Screen Clippi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1219200"/>
            <a:ext cx="5191125"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Rectangle 6"/>
          <p:cNvSpPr>
            <a:spLocks noChangeArrowheads="1"/>
          </p:cNvSpPr>
          <p:nvPr/>
        </p:nvSpPr>
        <p:spPr bwMode="auto">
          <a:xfrm rot="10800000" flipV="1">
            <a:off x="381000" y="2021394"/>
            <a:ext cx="29718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eaLnBrk="0" hangingPunct="0"/>
            <a:r>
              <a:rPr lang="en-US" sz="1600" b="1" dirty="0">
                <a:solidFill>
                  <a:srgbClr val="000000"/>
                </a:solidFill>
                <a:ea typeface="ＭＳ Ｐゴシック" pitchFamily="34" charset="-128"/>
              </a:rPr>
              <a:t> </a:t>
            </a:r>
          </a:p>
          <a:p>
            <a:pPr algn="r"/>
            <a:r>
              <a:rPr lang="en-US" sz="1600" dirty="0">
                <a:solidFill>
                  <a:srgbClr val="000000"/>
                </a:solidFill>
              </a:rPr>
              <a:t>The exec command is used, mostly,  after the fork and wait combination. In (a) the parent is shown before the fork, (b) shows the parent and child after the fork, and (c) shows how the child process (Process 2) is overlaid by the ls program after the exec command.</a:t>
            </a:r>
          </a:p>
          <a:p>
            <a:pPr algn="r"/>
            <a:r>
              <a:rPr lang="en-US" sz="1600" i="1" dirty="0">
                <a:solidFill>
                  <a:srgbClr val="000000"/>
                </a:solidFill>
                <a:ea typeface="ＭＳ Ｐゴシック" pitchFamily="34" charset="-128"/>
              </a:rPr>
              <a:t>© Cengage Learning 2014</a:t>
            </a:r>
          </a:p>
        </p:txBody>
      </p:sp>
    </p:spTree>
    <p:extLst>
      <p:ext uri="{BB962C8B-B14F-4D97-AF65-F5344CB8AC3E}">
        <p14:creationId xmlns:p14="http://schemas.microsoft.com/office/powerpoint/2010/main" val="592830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55AA78E9-D909-40D6-8FAF-615E5F7F3352}" type="slidenum">
              <a:rPr lang="en-US" smtClean="0">
                <a:solidFill>
                  <a:srgbClr val="000000"/>
                </a:solidFill>
              </a:rPr>
              <a:pPr eaLnBrk="1" hangingPunct="1"/>
              <a:t>28</a:t>
            </a:fld>
            <a:endParaRPr lang="en-US" dirty="0">
              <a:solidFill>
                <a:srgbClr val="000000"/>
              </a:solidFill>
            </a:endParaRPr>
          </a:p>
        </p:txBody>
      </p:sp>
      <p:sp>
        <p:nvSpPr>
          <p:cNvPr id="32772" name="Rectangle 5"/>
          <p:cNvSpPr>
            <a:spLocks noGrp="1" noChangeArrowheads="1"/>
          </p:cNvSpPr>
          <p:nvPr>
            <p:ph type="title"/>
          </p:nvPr>
        </p:nvSpPr>
        <p:spPr>
          <a:xfrm>
            <a:off x="533400" y="381000"/>
            <a:ext cx="8077200" cy="685800"/>
          </a:xfrm>
        </p:spPr>
        <p:txBody>
          <a:bodyPr>
            <a:normAutofit fontScale="90000"/>
          </a:bodyPr>
          <a:lstStyle/>
          <a:p>
            <a:pPr eaLnBrk="1" hangingPunct="1"/>
            <a:r>
              <a:rPr lang="en-US" dirty="0"/>
              <a:t>The exec commands </a:t>
            </a:r>
          </a:p>
        </p:txBody>
      </p:sp>
      <p:sp>
        <p:nvSpPr>
          <p:cNvPr id="32773" name="Rectangle 6"/>
          <p:cNvSpPr>
            <a:spLocks noGrp="1" noChangeArrowheads="1"/>
          </p:cNvSpPr>
          <p:nvPr>
            <p:ph type="body" idx="1"/>
          </p:nvPr>
        </p:nvSpPr>
        <p:spPr>
          <a:xfrm>
            <a:off x="533400" y="1295400"/>
            <a:ext cx="8077200" cy="4953000"/>
          </a:xfrm>
        </p:spPr>
        <p:txBody>
          <a:bodyPr>
            <a:normAutofit fontScale="92500" lnSpcReduction="10000"/>
          </a:bodyPr>
          <a:lstStyle/>
          <a:p>
            <a:pPr lvl="1" eaLnBrk="1" hangingPunct="1"/>
            <a:r>
              <a:rPr lang="en-GB" altLang="en-US" sz="2000" dirty="0">
                <a:latin typeface="Courier New" pitchFamily="49" charset="0"/>
              </a:rPr>
              <a:t>The exec()</a:t>
            </a:r>
            <a:r>
              <a:rPr lang="en-GB" altLang="en-US" dirty="0"/>
              <a:t> system calls can be used after a </a:t>
            </a:r>
            <a:r>
              <a:rPr lang="en-GB" altLang="en-US" sz="2000" dirty="0">
                <a:latin typeface="Courier New" pitchFamily="49" charset="0"/>
              </a:rPr>
              <a:t>fork()</a:t>
            </a:r>
            <a:r>
              <a:rPr lang="en-GB" altLang="en-US" dirty="0"/>
              <a:t> to replace the child process</a:t>
            </a:r>
            <a:r>
              <a:rPr lang="ja-JP" altLang="en-GB" dirty="0"/>
              <a:t>’</a:t>
            </a:r>
            <a:r>
              <a:rPr lang="en-GB" altLang="ja-JP" dirty="0"/>
              <a:t> memory space with a new program</a:t>
            </a:r>
          </a:p>
          <a:p>
            <a:pPr lvl="1" eaLnBrk="1" hangingPunct="1"/>
            <a:r>
              <a:rPr lang="en-US" dirty="0"/>
              <a:t>Successful </a:t>
            </a:r>
            <a:r>
              <a:rPr lang="en-US" dirty="0">
                <a:latin typeface="Courier New" pitchFamily="49" charset="0"/>
                <a:cs typeface="Courier New" pitchFamily="49" charset="0"/>
              </a:rPr>
              <a:t>exec</a:t>
            </a:r>
            <a:r>
              <a:rPr lang="en-US" dirty="0"/>
              <a:t> call </a:t>
            </a:r>
          </a:p>
          <a:p>
            <a:pPr lvl="2" eaLnBrk="1" hangingPunct="1"/>
            <a:r>
              <a:rPr lang="en-US" dirty="0"/>
              <a:t>Overlay second program over first</a:t>
            </a:r>
          </a:p>
          <a:p>
            <a:pPr lvl="2" eaLnBrk="1" hangingPunct="1"/>
            <a:r>
              <a:rPr lang="en-US" dirty="0"/>
              <a:t>Only second program in memory</a:t>
            </a:r>
          </a:p>
          <a:p>
            <a:pPr lvl="1" eaLnBrk="1" hangingPunct="1"/>
            <a:endParaRPr lang="en-US" dirty="0"/>
          </a:p>
          <a:p>
            <a:pPr lvl="1" eaLnBrk="1" hangingPunct="1"/>
            <a:r>
              <a:rPr lang="en-US" dirty="0"/>
              <a:t>No return from successful </a:t>
            </a:r>
            <a:r>
              <a:rPr lang="en-US" dirty="0">
                <a:latin typeface="Courier New" pitchFamily="49" charset="0"/>
                <a:cs typeface="Courier New" pitchFamily="49" charset="0"/>
              </a:rPr>
              <a:t>exec</a:t>
            </a:r>
            <a:r>
              <a:rPr lang="en-US" dirty="0"/>
              <a:t> call</a:t>
            </a:r>
          </a:p>
          <a:p>
            <a:pPr lvl="2" eaLnBrk="1" hangingPunct="1"/>
            <a:r>
              <a:rPr lang="en-US" dirty="0"/>
              <a:t>Parent-child concept: does not hold</a:t>
            </a:r>
          </a:p>
          <a:p>
            <a:pPr lvl="1" eaLnBrk="1" hangingPunct="1"/>
            <a:endParaRPr lang="en-US" dirty="0"/>
          </a:p>
          <a:p>
            <a:pPr lvl="1" eaLnBrk="1" hangingPunct="1"/>
            <a:r>
              <a:rPr lang="en-US" dirty="0"/>
              <a:t>Create parent-child relationship</a:t>
            </a:r>
          </a:p>
          <a:p>
            <a:pPr lvl="2" eaLnBrk="1" hangingPunct="1"/>
            <a:r>
              <a:rPr lang="en-US" dirty="0"/>
              <a:t>Call </a:t>
            </a:r>
            <a:r>
              <a:rPr lang="en-US" dirty="0">
                <a:latin typeface="Courier New" pitchFamily="49" charset="0"/>
                <a:cs typeface="Courier New" pitchFamily="49" charset="0"/>
              </a:rPr>
              <a:t>fork</a:t>
            </a:r>
            <a:r>
              <a:rPr lang="en-US" dirty="0"/>
              <a:t>, </a:t>
            </a:r>
            <a:r>
              <a:rPr lang="en-US" dirty="0">
                <a:latin typeface="Courier New" pitchFamily="49" charset="0"/>
                <a:cs typeface="Courier New" pitchFamily="49" charset="0"/>
              </a:rPr>
              <a:t>wait</a:t>
            </a:r>
            <a:r>
              <a:rPr lang="en-US" dirty="0"/>
              <a:t>, and </a:t>
            </a:r>
            <a:r>
              <a:rPr lang="en-US" dirty="0">
                <a:latin typeface="Courier New" pitchFamily="49" charset="0"/>
                <a:cs typeface="Courier New" pitchFamily="49" charset="0"/>
              </a:rPr>
              <a:t>exec</a:t>
            </a:r>
            <a:r>
              <a:rPr lang="en-US" dirty="0"/>
              <a:t> in that order</a:t>
            </a:r>
          </a:p>
        </p:txBody>
      </p:sp>
    </p:spTree>
    <p:extLst>
      <p:ext uri="{BB962C8B-B14F-4D97-AF65-F5344CB8AC3E}">
        <p14:creationId xmlns:p14="http://schemas.microsoft.com/office/powerpoint/2010/main" val="3515380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77200" cy="762000"/>
          </a:xfrm>
        </p:spPr>
        <p:txBody>
          <a:bodyPr>
            <a:normAutofit fontScale="90000"/>
          </a:bodyPr>
          <a:lstStyle/>
          <a:p>
            <a:r>
              <a:rPr lang="en-IE" dirty="0"/>
              <a:t>Example with fork(), exec() and wait()</a:t>
            </a:r>
          </a:p>
        </p:txBody>
      </p:sp>
      <p:pic>
        <p:nvPicPr>
          <p:cNvPr id="7" name="Content Placeholder 6" descr="03-Process.pdf - Adobe Acrobat Professional"/>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8846" y="1143000"/>
            <a:ext cx="6506307" cy="4572000"/>
          </a:xfrm>
        </p:spPr>
      </p:pic>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29</a:t>
            </a:fld>
            <a:endParaRPr lang="en-US" dirty="0"/>
          </a:p>
        </p:txBody>
      </p:sp>
      <p:sp>
        <p:nvSpPr>
          <p:cNvPr id="8" name="TextBox 7"/>
          <p:cNvSpPr txBox="1"/>
          <p:nvPr/>
        </p:nvSpPr>
        <p:spPr>
          <a:xfrm>
            <a:off x="457200" y="5791200"/>
            <a:ext cx="8001000" cy="830997"/>
          </a:xfrm>
          <a:prstGeom prst="rect">
            <a:avLst/>
          </a:prstGeom>
          <a:noFill/>
        </p:spPr>
        <p:txBody>
          <a:bodyPr wrap="square" rtlCol="0">
            <a:spAutoFit/>
          </a:bodyPr>
          <a:lstStyle/>
          <a:p>
            <a:r>
              <a:rPr lang="en-IE" sz="2400" dirty="0">
                <a:solidFill>
                  <a:srgbClr val="000000"/>
                </a:solidFill>
              </a:rPr>
              <a:t>Refer to </a:t>
            </a:r>
            <a:r>
              <a:rPr lang="en-IE" sz="2400" b="1" dirty="0" err="1">
                <a:solidFill>
                  <a:srgbClr val="000000"/>
                </a:solidFill>
              </a:rPr>
              <a:t>execvp.c</a:t>
            </a:r>
            <a:r>
              <a:rPr lang="en-IE" sz="2400" dirty="0">
                <a:solidFill>
                  <a:srgbClr val="000000"/>
                </a:solidFill>
              </a:rPr>
              <a:t> program; This program simulates a </a:t>
            </a:r>
            <a:r>
              <a:rPr lang="en-IE" sz="2400" b="1" dirty="0" err="1">
                <a:solidFill>
                  <a:srgbClr val="000000"/>
                </a:solidFill>
              </a:rPr>
              <a:t>linux</a:t>
            </a:r>
            <a:r>
              <a:rPr lang="en-IE" sz="2400" b="1" dirty="0">
                <a:solidFill>
                  <a:srgbClr val="000000"/>
                </a:solidFill>
              </a:rPr>
              <a:t> command line.</a:t>
            </a:r>
            <a:r>
              <a:rPr lang="en-IE" sz="2400" dirty="0">
                <a:solidFill>
                  <a:srgbClr val="000000"/>
                </a:solidFill>
              </a:rPr>
              <a:t>  </a:t>
            </a:r>
          </a:p>
        </p:txBody>
      </p:sp>
    </p:spTree>
    <p:extLst>
      <p:ext uri="{BB962C8B-B14F-4D97-AF65-F5344CB8AC3E}">
        <p14:creationId xmlns:p14="http://schemas.microsoft.com/office/powerpoint/2010/main" val="1330278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74638"/>
            <a:ext cx="8229600" cy="778098"/>
          </a:xfrm>
        </p:spPr>
        <p:txBody>
          <a:bodyPr/>
          <a:lstStyle/>
          <a:p>
            <a:r>
              <a:rPr lang="en-IE" dirty="0"/>
              <a:t>Main () for </a:t>
            </a:r>
            <a:r>
              <a:rPr lang="en-IE" dirty="0" err="1"/>
              <a:t>execvp</a:t>
            </a:r>
            <a:r>
              <a:rPr lang="en-IE" dirty="0"/>
              <a:t> program </a:t>
            </a:r>
          </a:p>
        </p:txBody>
      </p:sp>
      <p:pic>
        <p:nvPicPr>
          <p:cNvPr id="5" name="Content Placeholder 4"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6863" y="1424446"/>
            <a:ext cx="6430273" cy="4801270"/>
          </a:xfrm>
        </p:spPr>
      </p:pic>
    </p:spTree>
    <p:extLst>
      <p:ext uri="{BB962C8B-B14F-4D97-AF65-F5344CB8AC3E}">
        <p14:creationId xmlns:p14="http://schemas.microsoft.com/office/powerpoint/2010/main" val="423959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E" dirty="0"/>
              <a:t>Parse function</a:t>
            </a:r>
          </a:p>
        </p:txBody>
      </p:sp>
      <p:pic>
        <p:nvPicPr>
          <p:cNvPr id="6" name="Content Placeholder 5"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9712" y="1124744"/>
            <a:ext cx="5701794" cy="5471829"/>
          </a:xfrm>
        </p:spPr>
      </p:pic>
    </p:spTree>
    <p:extLst>
      <p:ext uri="{BB962C8B-B14F-4D97-AF65-F5344CB8AC3E}">
        <p14:creationId xmlns:p14="http://schemas.microsoft.com/office/powerpoint/2010/main" val="3079244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fontScale="90000"/>
          </a:bodyPr>
          <a:lstStyle/>
          <a:p>
            <a:r>
              <a:rPr lang="en-IE" dirty="0"/>
              <a:t>Execute function: equivalent to </a:t>
            </a:r>
            <a:r>
              <a:rPr lang="en-IE" dirty="0" err="1"/>
              <a:t>execvp</a:t>
            </a:r>
            <a:r>
              <a:rPr lang="en-IE" dirty="0"/>
              <a:t>()</a:t>
            </a:r>
          </a:p>
        </p:txBody>
      </p:sp>
      <p:pic>
        <p:nvPicPr>
          <p:cNvPr id="4" name="Content Placeholder 3"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6863" y="1225215"/>
            <a:ext cx="6430273" cy="4801270"/>
          </a:xfrm>
        </p:spPr>
      </p:pic>
      <p:sp>
        <p:nvSpPr>
          <p:cNvPr id="3" name="TextBox 2"/>
          <p:cNvSpPr txBox="1"/>
          <p:nvPr/>
        </p:nvSpPr>
        <p:spPr>
          <a:xfrm>
            <a:off x="1356863" y="6309320"/>
            <a:ext cx="6239473" cy="646331"/>
          </a:xfrm>
          <a:prstGeom prst="rect">
            <a:avLst/>
          </a:prstGeom>
          <a:noFill/>
        </p:spPr>
        <p:txBody>
          <a:bodyPr wrap="square" rtlCol="0">
            <a:spAutoFit/>
          </a:bodyPr>
          <a:lstStyle/>
          <a:p>
            <a:r>
              <a:rPr lang="en-IE" b="1" dirty="0" err="1"/>
              <a:t>argv</a:t>
            </a:r>
            <a:r>
              <a:rPr lang="en-IE" dirty="0"/>
              <a:t>: An array of strings implemented a array of char* : </a:t>
            </a:r>
            <a:r>
              <a:rPr lang="en-IE" dirty="0" err="1"/>
              <a:t>argv</a:t>
            </a:r>
            <a:r>
              <a:rPr lang="en-IE" dirty="0"/>
              <a:t>  is ** </a:t>
            </a:r>
          </a:p>
        </p:txBody>
      </p:sp>
      <p:cxnSp>
        <p:nvCxnSpPr>
          <p:cNvPr id="6" name="Straight Arrow Connector 5"/>
          <p:cNvCxnSpPr/>
          <p:nvPr/>
        </p:nvCxnSpPr>
        <p:spPr>
          <a:xfrm flipV="1">
            <a:off x="2627784" y="1916832"/>
            <a:ext cx="504056" cy="4464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9693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1519" y="443551"/>
            <a:ext cx="8470067" cy="609600"/>
          </a:xfrm>
        </p:spPr>
        <p:txBody>
          <a:bodyPr>
            <a:normAutofit fontScale="90000"/>
          </a:bodyPr>
          <a:lstStyle/>
          <a:p>
            <a:r>
              <a:rPr lang="en-IE" sz="2400" dirty="0"/>
              <a:t>Sample output </a:t>
            </a:r>
            <a:r>
              <a:rPr lang="en-IE" sz="2400" dirty="0" err="1"/>
              <a:t>execvp.c</a:t>
            </a:r>
            <a:r>
              <a:rPr lang="en-IE" sz="2400" dirty="0"/>
              <a:t>: it uses exec() command to run the program ./</a:t>
            </a:r>
            <a:r>
              <a:rPr lang="en-IE" sz="2400" i="1" dirty="0"/>
              <a:t>Fork3</a:t>
            </a:r>
            <a:r>
              <a:rPr lang="en-IE" sz="2400" dirty="0"/>
              <a:t>. </a:t>
            </a:r>
            <a:br>
              <a:rPr lang="en-IE" sz="2400" dirty="0"/>
            </a:br>
            <a:r>
              <a:rPr lang="en-IE" sz="2400" dirty="0"/>
              <a:t>“Shell (enter exit to finish) is equivalent to the “</a:t>
            </a:r>
            <a:r>
              <a:rPr lang="en-IE" sz="2400" dirty="0" err="1"/>
              <a:t>linux</a:t>
            </a:r>
            <a:r>
              <a:rPr lang="en-IE" sz="2400" dirty="0"/>
              <a:t> prompt”. </a:t>
            </a:r>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33</a:t>
            </a:fld>
            <a:endParaRPr lang="en-US" dirty="0"/>
          </a:p>
        </p:txBody>
      </p:sp>
      <p:pic>
        <p:nvPicPr>
          <p:cNvPr id="7" name="Content Placeholder 6" descr="denis.manley@apollo: ~/OS2/week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1987" y="1391974"/>
            <a:ext cx="8229600" cy="4100819"/>
          </a:xfrm>
        </p:spPr>
      </p:pic>
      <p:sp>
        <p:nvSpPr>
          <p:cNvPr id="3" name="Rectangle 2"/>
          <p:cNvSpPr/>
          <p:nvPr/>
        </p:nvSpPr>
        <p:spPr>
          <a:xfrm>
            <a:off x="683568" y="5601406"/>
            <a:ext cx="7488832" cy="369332"/>
          </a:xfrm>
          <a:prstGeom prst="rect">
            <a:avLst/>
          </a:prstGeom>
        </p:spPr>
        <p:txBody>
          <a:bodyPr wrap="square">
            <a:spAutoFit/>
          </a:bodyPr>
          <a:lstStyle/>
          <a:p>
            <a:r>
              <a:rPr lang="en-IE" dirty="0">
                <a:solidFill>
                  <a:srgbClr val="000000"/>
                </a:solidFill>
              </a:rPr>
              <a:t>remove </a:t>
            </a:r>
            <a:r>
              <a:rPr lang="en-IE" b="1" dirty="0">
                <a:solidFill>
                  <a:srgbClr val="000000"/>
                </a:solidFill>
              </a:rPr>
              <a:t>wait</a:t>
            </a:r>
            <a:r>
              <a:rPr lang="en-IE" dirty="0">
                <a:solidFill>
                  <a:srgbClr val="000000"/>
                </a:solidFill>
              </a:rPr>
              <a:t> command and see what happened: explain what is happening </a:t>
            </a:r>
            <a:endParaRPr lang="en-IE" dirty="0"/>
          </a:p>
        </p:txBody>
      </p:sp>
      <p:cxnSp>
        <p:nvCxnSpPr>
          <p:cNvPr id="8" name="Straight Arrow Connector 7"/>
          <p:cNvCxnSpPr/>
          <p:nvPr/>
        </p:nvCxnSpPr>
        <p:spPr>
          <a:xfrm flipH="1">
            <a:off x="1187624" y="1124744"/>
            <a:ext cx="360040" cy="792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3419872" y="764704"/>
            <a:ext cx="1296144" cy="10801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58888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77200" cy="533400"/>
          </a:xfrm>
        </p:spPr>
        <p:txBody>
          <a:bodyPr>
            <a:normAutofit fontScale="90000"/>
          </a:bodyPr>
          <a:lstStyle/>
          <a:p>
            <a:r>
              <a:rPr lang="en-IE" dirty="0"/>
              <a:t>Function heading </a:t>
            </a:r>
          </a:p>
        </p:txBody>
      </p:sp>
      <p:sp>
        <p:nvSpPr>
          <p:cNvPr id="3" name="Content Placeholder 2"/>
          <p:cNvSpPr>
            <a:spLocks noGrp="1"/>
          </p:cNvSpPr>
          <p:nvPr>
            <p:ph idx="1"/>
          </p:nvPr>
        </p:nvSpPr>
        <p:spPr>
          <a:xfrm>
            <a:off x="533400" y="990600"/>
            <a:ext cx="8077200" cy="5105400"/>
          </a:xfrm>
        </p:spPr>
        <p:txBody>
          <a:bodyPr>
            <a:normAutofit fontScale="92500" lnSpcReduction="20000"/>
          </a:bodyPr>
          <a:lstStyle/>
          <a:p>
            <a:r>
              <a:rPr lang="da-DK" altLang="en-US" b="1" dirty="0"/>
              <a:t>In the execvp function we have:</a:t>
            </a:r>
          </a:p>
          <a:p>
            <a:pPr lvl="1"/>
            <a:r>
              <a:rPr lang="da-DK" altLang="en-US" b="1" dirty="0"/>
              <a:t>int execvp(char *prog, char *argv[])</a:t>
            </a:r>
          </a:p>
          <a:p>
            <a:endParaRPr lang="da-DK" b="1" dirty="0"/>
          </a:p>
          <a:p>
            <a:r>
              <a:rPr lang="da-DK" b="1" dirty="0"/>
              <a:t>These should not be confused with the  </a:t>
            </a:r>
          </a:p>
          <a:p>
            <a:pPr lvl="1"/>
            <a:r>
              <a:rPr lang="da-DK" b="1" dirty="0"/>
              <a:t>int main (int argc, char *argv[]).  </a:t>
            </a:r>
          </a:p>
          <a:p>
            <a:pPr lvl="1"/>
            <a:endParaRPr lang="da-DK" b="1" dirty="0"/>
          </a:p>
          <a:p>
            <a:pPr lvl="1"/>
            <a:r>
              <a:rPr lang="da-DK" b="1" dirty="0"/>
              <a:t>The arguments in main refer to command line arguments: </a:t>
            </a:r>
          </a:p>
          <a:p>
            <a:pPr lvl="1"/>
            <a:r>
              <a:rPr lang="da-DK" b="1" dirty="0"/>
              <a:t>argc is the number of command line arguments</a:t>
            </a:r>
          </a:p>
          <a:p>
            <a:pPr lvl="1"/>
            <a:r>
              <a:rPr lang="da-DK" b="1" dirty="0"/>
              <a:t>Argv is an array of strings corresponing to the command line arguments: n.b. The program name is also a command line  argument   </a:t>
            </a:r>
            <a:endParaRPr lang="en-IE" dirty="0"/>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34</a:t>
            </a:fld>
            <a:endParaRPr lang="en-US" dirty="0"/>
          </a:p>
        </p:txBody>
      </p:sp>
    </p:spTree>
    <p:extLst>
      <p:ext uri="{BB962C8B-B14F-4D97-AF65-F5344CB8AC3E}">
        <p14:creationId xmlns:p14="http://schemas.microsoft.com/office/powerpoint/2010/main" val="5449529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077200" cy="527720"/>
          </a:xfrm>
        </p:spPr>
        <p:txBody>
          <a:bodyPr>
            <a:normAutofit fontScale="90000"/>
          </a:bodyPr>
          <a:lstStyle/>
          <a:p>
            <a:r>
              <a:rPr lang="en-IE" dirty="0"/>
              <a:t>Homework Exercise</a:t>
            </a:r>
          </a:p>
        </p:txBody>
      </p:sp>
      <p:sp>
        <p:nvSpPr>
          <p:cNvPr id="3" name="Content Placeholder 2"/>
          <p:cNvSpPr>
            <a:spLocks noGrp="1"/>
          </p:cNvSpPr>
          <p:nvPr>
            <p:ph idx="1"/>
          </p:nvPr>
        </p:nvSpPr>
        <p:spPr>
          <a:xfrm>
            <a:off x="533400" y="980728"/>
            <a:ext cx="8287072" cy="5616624"/>
          </a:xfrm>
        </p:spPr>
        <p:txBody>
          <a:bodyPr>
            <a:normAutofit lnSpcReduction="10000"/>
          </a:bodyPr>
          <a:lstStyle/>
          <a:p>
            <a:r>
              <a:rPr lang="en-IE" dirty="0"/>
              <a:t>Compile and Run the program fork1.c fork2.c fork3.c and fork4.c </a:t>
            </a:r>
            <a:r>
              <a:rPr lang="en-IE" b="1" dirty="0"/>
              <a:t>using the </a:t>
            </a:r>
            <a:r>
              <a:rPr lang="en-IE" b="1" dirty="0" err="1"/>
              <a:t>execvp</a:t>
            </a:r>
            <a:r>
              <a:rPr lang="en-IE" b="1" dirty="0"/>
              <a:t> program</a:t>
            </a:r>
          </a:p>
          <a:p>
            <a:endParaRPr lang="en-IE" dirty="0"/>
          </a:p>
          <a:p>
            <a:r>
              <a:rPr lang="en-IE" dirty="0"/>
              <a:t>Write a program  that calls the fork command twice and each child will run a different functions e.g. child one calculates the cube of a command line argument and child two calculates the factorial of the 3</a:t>
            </a:r>
            <a:r>
              <a:rPr lang="en-IE" baseline="30000" dirty="0"/>
              <a:t>rd</a:t>
            </a:r>
            <a:r>
              <a:rPr lang="en-IE" dirty="0"/>
              <a:t> </a:t>
            </a:r>
            <a:r>
              <a:rPr lang="en-IE" dirty="0" err="1"/>
              <a:t>commandline</a:t>
            </a:r>
            <a:r>
              <a:rPr lang="en-IE" dirty="0"/>
              <a:t> argument. You will need to use the wait command to synchronise output.: refer to fork3.c wait command </a:t>
            </a:r>
          </a:p>
        </p:txBody>
      </p:sp>
      <p:sp>
        <p:nvSpPr>
          <p:cNvPr id="4" name="Footer Placeholder 3"/>
          <p:cNvSpPr>
            <a:spLocks noGrp="1"/>
          </p:cNvSpPr>
          <p:nvPr>
            <p:ph type="ftr" sz="quarter" idx="10"/>
          </p:nvPr>
        </p:nvSpPr>
        <p:spPr/>
        <p:txBody>
          <a:bodyPr/>
          <a:lstStyle/>
          <a:p>
            <a:pPr>
              <a:defRPr/>
            </a:pPr>
            <a:r>
              <a:rPr lang="en-US"/>
              <a:t>Understanding Operating Systems</a:t>
            </a:r>
            <a:endParaRPr lang="en-US" dirty="0"/>
          </a:p>
        </p:txBody>
      </p:sp>
      <p:sp>
        <p:nvSpPr>
          <p:cNvPr id="5" name="Slide Number Placeholder 4"/>
          <p:cNvSpPr>
            <a:spLocks noGrp="1"/>
          </p:cNvSpPr>
          <p:nvPr>
            <p:ph type="sldNum" sz="quarter" idx="11"/>
          </p:nvPr>
        </p:nvSpPr>
        <p:spPr/>
        <p:txBody>
          <a:bodyPr/>
          <a:lstStyle/>
          <a:p>
            <a:pPr>
              <a:defRPr/>
            </a:pPr>
            <a:fld id="{3B7F103D-599D-4770-B4B8-436F0A5A460C}" type="slidenum">
              <a:rPr lang="en-US" smtClean="0"/>
              <a:pPr>
                <a:defRPr/>
              </a:pPr>
              <a:t>35</a:t>
            </a:fld>
            <a:endParaRPr lang="en-US" dirty="0"/>
          </a:p>
        </p:txBody>
      </p:sp>
    </p:spTree>
    <p:extLst>
      <p:ext uri="{BB962C8B-B14F-4D97-AF65-F5344CB8AC3E}">
        <p14:creationId xmlns:p14="http://schemas.microsoft.com/office/powerpoint/2010/main" val="1299614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685d9ec5-1ac6-490e-857c-e4709b38f28b"/>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2028</TotalTime>
  <Words>1492</Words>
  <Application>Microsoft Office PowerPoint</Application>
  <PresentationFormat>On-screen Show (4:3)</PresentationFormat>
  <Paragraphs>195</Paragraphs>
  <Slides>35</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Courier New</vt:lpstr>
      <vt:lpstr>Office Theme</vt:lpstr>
      <vt:lpstr>Process in unix  </vt:lpstr>
      <vt:lpstr>Process in Unix </vt:lpstr>
      <vt:lpstr>Example more detailed ps command</vt:lpstr>
      <vt:lpstr>Top commands in linux: list of processes</vt:lpstr>
      <vt:lpstr>htop command in linux</vt:lpstr>
      <vt:lpstr>Process details in windows</vt:lpstr>
      <vt:lpstr>Job and Process States</vt:lpstr>
      <vt:lpstr>Process Creation: Unix</vt:lpstr>
      <vt:lpstr>Process Creation</vt:lpstr>
      <vt:lpstr>Synchronization</vt:lpstr>
      <vt:lpstr>Synchronization (cont'd.)</vt:lpstr>
      <vt:lpstr>Fork1.c main </vt:lpstr>
      <vt:lpstr>A simply program for fork: Fork1.c</vt:lpstr>
      <vt:lpstr>A sample Output Fork1.c </vt:lpstr>
      <vt:lpstr>Modify Fork1.c </vt:lpstr>
      <vt:lpstr>Fork2.c main function</vt:lpstr>
      <vt:lpstr>Fork2.c:  Synchronise output with sleep()  command:</vt:lpstr>
      <vt:lpstr>Fork2.c:  Synchronise output with sleep command:</vt:lpstr>
      <vt:lpstr>Synchronisation: Wait()</vt:lpstr>
      <vt:lpstr>The wait command </vt:lpstr>
      <vt:lpstr>Using a wait()</vt:lpstr>
      <vt:lpstr>Sample code Fork3.c (Wait command)</vt:lpstr>
      <vt:lpstr>Execution of Fork3.c  (MAX_COUNT = 5 )</vt:lpstr>
      <vt:lpstr>int main(int argc, char **argv)  </vt:lpstr>
      <vt:lpstr>Pass command line arguments to c program: Fork4.c</vt:lpstr>
      <vt:lpstr>Process Creation: Unix</vt:lpstr>
      <vt:lpstr>Synchronization (cont'd.)</vt:lpstr>
      <vt:lpstr>The exec commands </vt:lpstr>
      <vt:lpstr>Example with fork(), exec() and wait()</vt:lpstr>
      <vt:lpstr>Main () for execvp program </vt:lpstr>
      <vt:lpstr>Parse function</vt:lpstr>
      <vt:lpstr>Execute function: equivalent to execvp()</vt:lpstr>
      <vt:lpstr>Sample output execvp.c: it uses exec() command to run the program ./Fork3.  “Shell (enter exit to finish) is equivalent to the “linux prompt”. </vt:lpstr>
      <vt:lpstr>Function heading </vt:lpstr>
      <vt:lpstr>Homework 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in unix</dc:title>
  <dc:creator>Denis Manley</dc:creator>
  <cp:lastModifiedBy>Denis Manley</cp:lastModifiedBy>
  <cp:revision>40</cp:revision>
  <dcterms:created xsi:type="dcterms:W3CDTF">2018-10-15T15:26:40Z</dcterms:created>
  <dcterms:modified xsi:type="dcterms:W3CDTF">2023-10-19T17:48:33Z</dcterms:modified>
</cp:coreProperties>
</file>