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9" r:id="rId4"/>
    <p:sldId id="315" r:id="rId5"/>
    <p:sldId id="267" r:id="rId6"/>
    <p:sldId id="314" r:id="rId7"/>
    <p:sldId id="261" r:id="rId8"/>
    <p:sldId id="262" r:id="rId9"/>
    <p:sldId id="263" r:id="rId10"/>
    <p:sldId id="264" r:id="rId11"/>
    <p:sldId id="265" r:id="rId12"/>
    <p:sldId id="266" r:id="rId13"/>
    <p:sldId id="276" r:id="rId14"/>
    <p:sldId id="277" r:id="rId15"/>
    <p:sldId id="269" r:id="rId16"/>
    <p:sldId id="270" r:id="rId17"/>
    <p:sldId id="271" r:id="rId18"/>
    <p:sldId id="274" r:id="rId19"/>
    <p:sldId id="311" r:id="rId20"/>
    <p:sldId id="316" r:id="rId21"/>
  </p:sldIdLst>
  <p:sldSz cx="9144000" cy="6858000" type="screen4x3"/>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 Manley" userId="445117d2-14a5-4c3e-af19-f1006b049bb1" providerId="ADAL" clId="{846AA738-6E9B-4B6B-9010-F7A13429F096}"/>
    <pc:docChg chg="custSel modSld replTag delTag">
      <pc:chgData name="Denis Manley" userId="445117d2-14a5-4c3e-af19-f1006b049bb1" providerId="ADAL" clId="{846AA738-6E9B-4B6B-9010-F7A13429F096}" dt="2023-09-15T18:16:55.572" v="108"/>
      <pc:docMkLst>
        <pc:docMk/>
      </pc:docMkLst>
      <pc:sldChg chg="modSp mod">
        <pc:chgData name="Denis Manley" userId="445117d2-14a5-4c3e-af19-f1006b049bb1" providerId="ADAL" clId="{846AA738-6E9B-4B6B-9010-F7A13429F096}" dt="2023-09-15T18:15:45.759" v="105" actId="6549"/>
        <pc:sldMkLst>
          <pc:docMk/>
          <pc:sldMk cId="2025082179" sldId="316"/>
        </pc:sldMkLst>
        <pc:spChg chg="mod">
          <ac:chgData name="Denis Manley" userId="445117d2-14a5-4c3e-af19-f1006b049bb1" providerId="ADAL" clId="{846AA738-6E9B-4B6B-9010-F7A13429F096}" dt="2023-09-15T18:15:45.759" v="105" actId="6549"/>
          <ac:spMkLst>
            <pc:docMk/>
            <pc:sldMk cId="2025082179" sldId="316"/>
            <ac:spMk id="3" creationId="{00000000-0000-0000-0000-000000000000}"/>
          </ac:spMkLst>
        </pc:spChg>
      </pc:sldChg>
    </pc:docChg>
  </pc:docChgLst>
  <pc:docChgLst>
    <pc:chgData name="Denis Manley" userId="445117d2-14a5-4c3e-af19-f1006b049bb1" providerId="ADAL" clId="{C8177237-C609-443A-A535-94F79EE86CE0}"/>
    <pc:docChg chg="custSel modSld">
      <pc:chgData name="Denis Manley" userId="445117d2-14a5-4c3e-af19-f1006b049bb1" providerId="ADAL" clId="{C8177237-C609-443A-A535-94F79EE86CE0}" dt="2024-09-09T14:49:39.654" v="179" actId="27636"/>
      <pc:docMkLst>
        <pc:docMk/>
      </pc:docMkLst>
      <pc:sldChg chg="modSp mod">
        <pc:chgData name="Denis Manley" userId="445117d2-14a5-4c3e-af19-f1006b049bb1" providerId="ADAL" clId="{C8177237-C609-443A-A535-94F79EE86CE0}" dt="2024-09-09T14:49:39.654" v="179" actId="27636"/>
        <pc:sldMkLst>
          <pc:docMk/>
          <pc:sldMk cId="2025082179" sldId="316"/>
        </pc:sldMkLst>
        <pc:spChg chg="mod">
          <ac:chgData name="Denis Manley" userId="445117d2-14a5-4c3e-af19-f1006b049bb1" providerId="ADAL" clId="{C8177237-C609-443A-A535-94F79EE86CE0}" dt="2024-09-09T14:49:39.654" v="179" actId="27636"/>
          <ac:spMkLst>
            <pc:docMk/>
            <pc:sldMk cId="2025082179" sldId="31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4DBCD-7CFA-437B-B0E2-AEDEBA179EA3}" type="datetimeFigureOut">
              <a:rPr lang="en-IE" smtClean="0"/>
              <a:pPr/>
              <a:t>09/09/2024</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2072A9-C273-47F3-9651-996B0B838009}" type="slidenum">
              <a:rPr lang="en-IE" smtClean="0"/>
              <a:pPr/>
              <a:t>‹#›</a:t>
            </a:fld>
            <a:endParaRPr lang="en-IE"/>
          </a:p>
        </p:txBody>
      </p:sp>
    </p:spTree>
    <p:extLst>
      <p:ext uri="{BB962C8B-B14F-4D97-AF65-F5344CB8AC3E}">
        <p14:creationId xmlns:p14="http://schemas.microsoft.com/office/powerpoint/2010/main" val="613539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F76E9504-832D-42B5-A2BD-607F90F2A8D5}" type="slidenum">
              <a:rPr lang="en-US"/>
              <a:pPr/>
              <a:t>10</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3399"/>
            <a:ext cx="5029200" cy="4114800"/>
          </a:xfrm>
          <a:noFill/>
          <a:ln/>
        </p:spPr>
        <p:txBody>
          <a:bodyPr/>
          <a:lstStyle/>
          <a:p>
            <a:pPr eaLnBrk="1" hangingPunct="1"/>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0DF9C348-2E9C-4119-9A9E-6AF6686A23FD}" type="slidenum">
              <a:rPr lang="en-US"/>
              <a:pPr/>
              <a:t>11</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14400" y="4343399"/>
            <a:ext cx="5029200" cy="4114800"/>
          </a:xfrm>
          <a:noFill/>
          <a:ln/>
        </p:spPr>
        <p:txBody>
          <a:bodyPr/>
          <a:lstStyle/>
          <a:p>
            <a:pPr eaLnBrk="1" hangingPunct="1"/>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eaLnBrk="0" hangingPunct="0">
              <a:defRPr sz="2000">
                <a:solidFill>
                  <a:srgbClr val="FFFFFF"/>
                </a:solidFill>
                <a:latin typeface="Times New Roman" pitchFamily="18" charset="0"/>
              </a:defRPr>
            </a:lvl1pPr>
            <a:lvl2pPr marL="742950" indent="-285750" defTabSz="946150" eaLnBrk="0" hangingPunct="0">
              <a:defRPr sz="2000">
                <a:solidFill>
                  <a:srgbClr val="FFFFFF"/>
                </a:solidFill>
                <a:latin typeface="Times New Roman" pitchFamily="18" charset="0"/>
              </a:defRPr>
            </a:lvl2pPr>
            <a:lvl3pPr marL="1143000" indent="-228600" defTabSz="946150" eaLnBrk="0" hangingPunct="0">
              <a:defRPr sz="2000">
                <a:solidFill>
                  <a:srgbClr val="FFFFFF"/>
                </a:solidFill>
                <a:latin typeface="Times New Roman" pitchFamily="18" charset="0"/>
              </a:defRPr>
            </a:lvl3pPr>
            <a:lvl4pPr marL="1600200" indent="-228600" defTabSz="946150" eaLnBrk="0" hangingPunct="0">
              <a:defRPr sz="2000">
                <a:solidFill>
                  <a:srgbClr val="FFFFFF"/>
                </a:solidFill>
                <a:latin typeface="Times New Roman" pitchFamily="18" charset="0"/>
              </a:defRPr>
            </a:lvl4pPr>
            <a:lvl5pPr marL="2057400" indent="-228600" defTabSz="946150" eaLnBrk="0" hangingPunct="0">
              <a:defRPr sz="2000">
                <a:solidFill>
                  <a:srgbClr val="FFFFFF"/>
                </a:solidFill>
                <a:latin typeface="Times New Roman" pitchFamily="18" charset="0"/>
              </a:defRPr>
            </a:lvl5pPr>
            <a:lvl6pPr marL="2514600" indent="-228600" defTabSz="946150" eaLnBrk="0" fontAlgn="base" hangingPunct="0">
              <a:spcBef>
                <a:spcPct val="0"/>
              </a:spcBef>
              <a:spcAft>
                <a:spcPct val="0"/>
              </a:spcAft>
              <a:defRPr sz="2000">
                <a:solidFill>
                  <a:srgbClr val="FFFFFF"/>
                </a:solidFill>
                <a:latin typeface="Times New Roman" pitchFamily="18" charset="0"/>
              </a:defRPr>
            </a:lvl6pPr>
            <a:lvl7pPr marL="2971800" indent="-228600" defTabSz="946150" eaLnBrk="0" fontAlgn="base" hangingPunct="0">
              <a:spcBef>
                <a:spcPct val="0"/>
              </a:spcBef>
              <a:spcAft>
                <a:spcPct val="0"/>
              </a:spcAft>
              <a:defRPr sz="2000">
                <a:solidFill>
                  <a:srgbClr val="FFFFFF"/>
                </a:solidFill>
                <a:latin typeface="Times New Roman" pitchFamily="18" charset="0"/>
              </a:defRPr>
            </a:lvl7pPr>
            <a:lvl8pPr marL="3429000" indent="-228600" defTabSz="946150" eaLnBrk="0" fontAlgn="base" hangingPunct="0">
              <a:spcBef>
                <a:spcPct val="0"/>
              </a:spcBef>
              <a:spcAft>
                <a:spcPct val="0"/>
              </a:spcAft>
              <a:defRPr sz="2000">
                <a:solidFill>
                  <a:srgbClr val="FFFFFF"/>
                </a:solidFill>
                <a:latin typeface="Times New Roman" pitchFamily="18" charset="0"/>
              </a:defRPr>
            </a:lvl8pPr>
            <a:lvl9pPr marL="3886200" indent="-228600" defTabSz="946150" eaLnBrk="0" fontAlgn="base" hangingPunct="0">
              <a:spcBef>
                <a:spcPct val="0"/>
              </a:spcBef>
              <a:spcAft>
                <a:spcPct val="0"/>
              </a:spcAft>
              <a:defRPr sz="2000">
                <a:solidFill>
                  <a:srgbClr val="FFFFFF"/>
                </a:solidFill>
                <a:latin typeface="Times New Roman" pitchFamily="18" charset="0"/>
              </a:defRPr>
            </a:lvl9pPr>
          </a:lstStyle>
          <a:p>
            <a:pPr eaLnBrk="1" hangingPunct="1"/>
            <a:fld id="{481E8743-FF71-41CC-B556-837EF1CB30C7}" type="slidenum">
              <a:rPr lang="en-US" altLang="en-US" sz="1300" smtClean="0">
                <a:solidFill>
                  <a:schemeClr val="tx1"/>
                </a:solidFill>
              </a:rPr>
              <a:pPr eaLnBrk="1" hangingPunct="1"/>
              <a:t>18</a:t>
            </a:fld>
            <a:endParaRPr lang="en-US" altLang="en-US" sz="130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53328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878047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390585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789901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04965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63305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26400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739710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396833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689856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09/09/2024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528182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2954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5257800" y="1295400"/>
            <a:ext cx="3810000" cy="48006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4992C7E-3AFB-430E-A773-D83AD5FB059E}" type="slidenum">
              <a:rPr lang="en-US"/>
              <a:pPr/>
              <a:t>‹#›</a:t>
            </a:fld>
            <a:endParaRPr lang="en-US"/>
          </a:p>
        </p:txBody>
      </p:sp>
    </p:spTree>
    <p:extLst>
      <p:ext uri="{BB962C8B-B14F-4D97-AF65-F5344CB8AC3E}">
        <p14:creationId xmlns:p14="http://schemas.microsoft.com/office/powerpoint/2010/main" val="2430359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2954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A4FAD93-BD8C-4AEE-B19E-E84F4447AD3E}" type="slidenum">
              <a:rPr lang="en-US"/>
              <a:pPr/>
              <a:t>‹#›</a:t>
            </a:fld>
            <a:endParaRPr lang="en-US"/>
          </a:p>
        </p:txBody>
      </p:sp>
    </p:spTree>
    <p:extLst>
      <p:ext uri="{BB962C8B-B14F-4D97-AF65-F5344CB8AC3E}">
        <p14:creationId xmlns:p14="http://schemas.microsoft.com/office/powerpoint/2010/main" val="2492648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able Placeholder 2"/>
          <p:cNvSpPr>
            <a:spLocks noGrp="1"/>
          </p:cNvSpPr>
          <p:nvPr>
            <p:ph type="tbl" idx="1"/>
          </p:nvPr>
        </p:nvSpPr>
        <p:spPr>
          <a:xfrm>
            <a:off x="1295400" y="1295400"/>
            <a:ext cx="7772400" cy="48006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15D44575-D017-4FCA-941A-736108AD5445}" type="slidenum">
              <a:rPr lang="en-US"/>
              <a:pPr/>
              <a:t>‹#›</a:t>
            </a:fld>
            <a:endParaRPr lang="en-US"/>
          </a:p>
        </p:txBody>
      </p:sp>
    </p:spTree>
    <p:extLst>
      <p:ext uri="{BB962C8B-B14F-4D97-AF65-F5344CB8AC3E}">
        <p14:creationId xmlns:p14="http://schemas.microsoft.com/office/powerpoint/2010/main" val="2877817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DC011-95B1-4783-A1CE-346184AD83D9}" type="datetimeFigureOut">
              <a:rPr lang="en-IE" smtClean="0"/>
              <a:pPr/>
              <a:t>09/09/2024</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91607-5CE1-44F6-A0A5-97A2A4B5BBCE}" type="slidenum">
              <a:rPr lang="en-IE" smtClean="0"/>
              <a:pPr/>
              <a:t>‹#›</a:t>
            </a:fld>
            <a:endParaRPr lang="en-IE"/>
          </a:p>
        </p:txBody>
      </p:sp>
    </p:spTree>
    <p:extLst>
      <p:ext uri="{BB962C8B-B14F-4D97-AF65-F5344CB8AC3E}">
        <p14:creationId xmlns:p14="http://schemas.microsoft.com/office/powerpoint/2010/main" val="3576849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E" dirty="0"/>
              <a:t>Review of the basic of Computer architecture and Operating system</a:t>
            </a:r>
          </a:p>
        </p:txBody>
      </p:sp>
      <p:sp>
        <p:nvSpPr>
          <p:cNvPr id="3" name="Subtitle 2"/>
          <p:cNvSpPr>
            <a:spLocks noGrp="1"/>
          </p:cNvSpPr>
          <p:nvPr>
            <p:ph type="subTitle" idx="1"/>
          </p:nvPr>
        </p:nvSpPr>
        <p:spPr/>
        <p:txBody>
          <a:bodyPr/>
          <a:lstStyle/>
          <a:p>
            <a:r>
              <a:rPr lang="en-IE" dirty="0"/>
              <a:t>Lecture 2</a:t>
            </a:r>
          </a:p>
        </p:txBody>
      </p:sp>
    </p:spTree>
    <p:extLst>
      <p:ext uri="{BB962C8B-B14F-4D97-AF65-F5344CB8AC3E}">
        <p14:creationId xmlns:p14="http://schemas.microsoft.com/office/powerpoint/2010/main" val="327438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sz="4000" dirty="0"/>
              <a:t>von Neumann Architecture</a:t>
            </a:r>
            <a:r>
              <a:rPr lang="en-US" dirty="0"/>
              <a:t> </a:t>
            </a:r>
            <a:r>
              <a:rPr lang="en-US" sz="2800" dirty="0"/>
              <a:t>(1945)</a:t>
            </a:r>
            <a:endParaRPr lang="en-US" sz="2800" dirty="0">
              <a:latin typeface="Times New Roman" charset="0"/>
            </a:endParaRPr>
          </a:p>
        </p:txBody>
      </p:sp>
      <p:sp>
        <p:nvSpPr>
          <p:cNvPr id="63492" name="Rectangle 3"/>
          <p:cNvSpPr>
            <a:spLocks noGrp="1" noChangeArrowheads="1"/>
          </p:cNvSpPr>
          <p:nvPr>
            <p:ph idx="1"/>
          </p:nvPr>
        </p:nvSpPr>
        <p:spPr/>
        <p:txBody>
          <a:bodyPr>
            <a:normAutofit lnSpcReduction="10000"/>
          </a:bodyPr>
          <a:lstStyle/>
          <a:p>
            <a:pPr>
              <a:buClr>
                <a:schemeClr val="tx2"/>
              </a:buClr>
            </a:pPr>
            <a:r>
              <a:rPr lang="en-US" sz="2800" dirty="0"/>
              <a:t>John Von Neumann is usually considered to be the developer of modern computer architecture.</a:t>
            </a:r>
          </a:p>
          <a:p>
            <a:pPr>
              <a:buClr>
                <a:schemeClr val="tx2"/>
              </a:buClr>
            </a:pPr>
            <a:r>
              <a:rPr lang="en-US" sz="2800" dirty="0"/>
              <a:t>The major guidelines that define a Von Neumann architecture are:</a:t>
            </a:r>
          </a:p>
          <a:p>
            <a:pPr lvl="1">
              <a:buClr>
                <a:schemeClr val="tx2"/>
              </a:buClr>
            </a:pPr>
            <a:r>
              <a:rPr lang="en-US" sz="2400" dirty="0"/>
              <a:t>Stored program concept - memory holds both programs and data. </a:t>
            </a:r>
          </a:p>
          <a:p>
            <a:pPr lvl="1">
              <a:buClr>
                <a:schemeClr val="tx2"/>
              </a:buClr>
            </a:pPr>
            <a:r>
              <a:rPr lang="en-US" sz="2400" dirty="0"/>
              <a:t>Memory is addressed linearly – </a:t>
            </a:r>
            <a:r>
              <a:rPr lang="en-US" sz="2400" dirty="0" err="1"/>
              <a:t>i.e</a:t>
            </a:r>
            <a:r>
              <a:rPr lang="en-US" sz="2400" dirty="0"/>
              <a:t> address consists of a single number</a:t>
            </a:r>
          </a:p>
          <a:p>
            <a:pPr lvl="1">
              <a:buClr>
                <a:schemeClr val="tx2"/>
              </a:buClr>
            </a:pPr>
            <a:r>
              <a:rPr lang="en-US" sz="2400" dirty="0"/>
              <a:t>Memory is addressed without regard to content i.e. it can be an instruction or data.</a:t>
            </a:r>
          </a:p>
          <a:p>
            <a:pPr lvl="1">
              <a:buClr>
                <a:schemeClr val="tx2"/>
              </a:buClr>
            </a:pPr>
            <a:r>
              <a:rPr lang="en-US" sz="2400" dirty="0"/>
              <a:t>Instructions are generally executed sequentially….</a:t>
            </a:r>
            <a:endParaRPr lang="en-US" sz="2400" baseline="30000" dirty="0"/>
          </a:p>
        </p:txBody>
      </p:sp>
      <p:sp>
        <p:nvSpPr>
          <p:cNvPr id="63490" name="Slide Number Placeholder 5"/>
          <p:cNvSpPr>
            <a:spLocks noGrp="1"/>
          </p:cNvSpPr>
          <p:nvPr>
            <p:ph type="sldNum" sz="quarter" idx="12"/>
          </p:nvPr>
        </p:nvSpPr>
        <p:spPr>
          <a:noFill/>
        </p:spPr>
        <p:txBody>
          <a:bodyPr/>
          <a:lstStyle/>
          <a:p>
            <a:fld id="{462C0142-327E-4D7B-BEEF-2D1144242460}" type="slidenum">
              <a:rPr lang="en-US"/>
              <a:pPr/>
              <a:t>2</a:t>
            </a:fld>
            <a:endParaRPr lang="en-US"/>
          </a:p>
        </p:txBody>
      </p:sp>
    </p:spTree>
    <p:extLst>
      <p:ext uri="{BB962C8B-B14F-4D97-AF65-F5344CB8AC3E}">
        <p14:creationId xmlns:p14="http://schemas.microsoft.com/office/powerpoint/2010/main" val="1080422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pPr eaLnBrk="1" hangingPunct="1"/>
            <a:r>
              <a:rPr lang="en-US" dirty="0"/>
              <a:t>Von Neumann Architecture</a:t>
            </a:r>
          </a:p>
        </p:txBody>
      </p:sp>
      <p:sp>
        <p:nvSpPr>
          <p:cNvPr id="65541" name="Rectangle 3"/>
          <p:cNvSpPr>
            <a:spLocks noGrp="1" noChangeArrowheads="1"/>
          </p:cNvSpPr>
          <p:nvPr>
            <p:ph type="body" sz="half" idx="1"/>
          </p:nvPr>
        </p:nvSpPr>
        <p:spPr>
          <a:xfrm>
            <a:off x="762000" y="1371600"/>
            <a:ext cx="7162800" cy="4800600"/>
          </a:xfrm>
        </p:spPr>
        <p:txBody>
          <a:bodyPr>
            <a:normAutofit/>
          </a:bodyPr>
          <a:lstStyle/>
          <a:p>
            <a:pPr eaLnBrk="1" hangingPunct="1"/>
            <a:r>
              <a:rPr lang="en-US" sz="2800" dirty="0"/>
              <a:t>Von Neumann defined the functional </a:t>
            </a:r>
            <a:r>
              <a:rPr lang="en-US" sz="2800" dirty="0" err="1"/>
              <a:t>organisation</a:t>
            </a:r>
            <a:r>
              <a:rPr lang="en-US" sz="2800" dirty="0"/>
              <a:t> of the computer to be made up of:</a:t>
            </a:r>
          </a:p>
          <a:p>
            <a:pPr marL="971550" lvl="1" indent="-514350" eaLnBrk="1" hangingPunct="1">
              <a:buFont typeface="+mj-lt"/>
              <a:buAutoNum type="arabicPeriod"/>
            </a:pPr>
            <a:r>
              <a:rPr lang="en-US" dirty="0"/>
              <a:t>A </a:t>
            </a:r>
            <a:r>
              <a:rPr lang="en-US" i="1" dirty="0"/>
              <a:t>control unit</a:t>
            </a:r>
            <a:r>
              <a:rPr lang="en-US" dirty="0"/>
              <a:t> that executes instructions</a:t>
            </a:r>
          </a:p>
          <a:p>
            <a:pPr marL="971550" lvl="1" indent="-514350" eaLnBrk="1" hangingPunct="1">
              <a:buFont typeface="+mj-lt"/>
              <a:buAutoNum type="arabicPeriod"/>
            </a:pPr>
            <a:r>
              <a:rPr lang="en-US" dirty="0"/>
              <a:t>An </a:t>
            </a:r>
            <a:r>
              <a:rPr lang="en-US" i="1" dirty="0"/>
              <a:t>arithmetic logic unit</a:t>
            </a:r>
            <a:r>
              <a:rPr lang="en-US" dirty="0"/>
              <a:t> that performs arithmetic and logical calculations,</a:t>
            </a:r>
          </a:p>
          <a:p>
            <a:pPr marL="971550" lvl="1" indent="-514350" eaLnBrk="1" hangingPunct="1">
              <a:buFont typeface="+mj-lt"/>
              <a:buAutoNum type="arabicPeriod"/>
            </a:pPr>
            <a:r>
              <a:rPr lang="en-US" dirty="0"/>
              <a:t>Memory locations</a:t>
            </a:r>
          </a:p>
          <a:p>
            <a:pPr marL="971550" lvl="1" indent="-514350" eaLnBrk="1" hangingPunct="1">
              <a:buFont typeface="+mj-lt"/>
              <a:buAutoNum type="arabicPeriod"/>
            </a:pPr>
            <a:r>
              <a:rPr lang="en-US" dirty="0"/>
              <a:t>Input/output</a:t>
            </a:r>
          </a:p>
          <a:p>
            <a:pPr marL="971550" lvl="1" indent="-514350" eaLnBrk="1" hangingPunct="1">
              <a:buFont typeface="+mj-lt"/>
              <a:buAutoNum type="arabicPeriod"/>
            </a:pPr>
            <a:r>
              <a:rPr lang="en-US" dirty="0"/>
              <a:t>Communication bus</a:t>
            </a:r>
          </a:p>
        </p:txBody>
      </p:sp>
      <p:sp>
        <p:nvSpPr>
          <p:cNvPr id="65539" name="Slide Number Placeholder 6"/>
          <p:cNvSpPr>
            <a:spLocks noGrp="1"/>
          </p:cNvSpPr>
          <p:nvPr>
            <p:ph type="sldNum" sz="quarter" idx="12"/>
          </p:nvPr>
        </p:nvSpPr>
        <p:spPr>
          <a:noFill/>
        </p:spPr>
        <p:txBody>
          <a:bodyPr/>
          <a:lstStyle/>
          <a:p>
            <a:fld id="{90C4F8CB-5807-4646-AF58-183B3D4F488C}" type="slidenum">
              <a:rPr lang="en-US"/>
              <a:pPr/>
              <a:t>3</a:t>
            </a:fld>
            <a:endParaRPr lang="en-US"/>
          </a:p>
        </p:txBody>
      </p:sp>
    </p:spTree>
    <p:extLst>
      <p:ext uri="{BB962C8B-B14F-4D97-AF65-F5344CB8AC3E}">
        <p14:creationId xmlns:p14="http://schemas.microsoft.com/office/powerpoint/2010/main" val="3847218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94992C7E-3AFB-430E-A773-D83AD5FB059E}" type="slidenum">
              <a:rPr lang="en-US" smtClean="0"/>
              <a:pPr/>
              <a:t>4</a:t>
            </a:fld>
            <a:endParaRPr lang="en-US"/>
          </a:p>
        </p:txBody>
      </p:sp>
      <p:graphicFrame>
        <p:nvGraphicFramePr>
          <p:cNvPr id="131074" name="Object 2"/>
          <p:cNvGraphicFramePr>
            <a:graphicFrameLocks noChangeAspect="1"/>
          </p:cNvGraphicFramePr>
          <p:nvPr/>
        </p:nvGraphicFramePr>
        <p:xfrm>
          <a:off x="609600" y="457200"/>
          <a:ext cx="8126413" cy="6116638"/>
        </p:xfrm>
        <a:graphic>
          <a:graphicData uri="http://schemas.openxmlformats.org/presentationml/2006/ole">
            <mc:AlternateContent xmlns:mc="http://schemas.openxmlformats.org/markup-compatibility/2006">
              <mc:Choice xmlns:v="urn:schemas-microsoft-com:vml" Requires="v">
                <p:oleObj r:id="rId2" imgW="5819048" imgH="4382112" progId="">
                  <p:embed/>
                </p:oleObj>
              </mc:Choice>
              <mc:Fallback>
                <p:oleObj r:id="rId2" imgW="5819048" imgH="4382112" progId="">
                  <p:embed/>
                  <p:pic>
                    <p:nvPicPr>
                      <p:cNvPr id="131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57200"/>
                        <a:ext cx="8126413" cy="6116638"/>
                      </a:xfrm>
                      <a:prstGeom prst="rect">
                        <a:avLst/>
                      </a:prstGeom>
                      <a:noFill/>
                      <a:extLst>
                        <a:ext uri="{909E8E84-426E-40DD-AFC4-6F175D3DCCD1}">
                          <a14:hiddenFill xmlns:a14="http://schemas.microsoft.com/office/drawing/2010/main">
                            <a:solidFill>
                              <a:srgbClr val="00CC99"/>
                            </a:solidFill>
                          </a14:hiddenFill>
                        </a:ext>
                      </a:extLst>
                    </p:spPr>
                  </p:pic>
                </p:oleObj>
              </mc:Fallback>
            </mc:AlternateContent>
          </a:graphicData>
        </a:graphic>
      </p:graphicFrame>
    </p:spTree>
    <p:extLst>
      <p:ext uri="{BB962C8B-B14F-4D97-AF65-F5344CB8AC3E}">
        <p14:creationId xmlns:p14="http://schemas.microsoft.com/office/powerpoint/2010/main" val="163934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762000" y="274638"/>
            <a:ext cx="7842448" cy="1143000"/>
          </a:xfrm>
        </p:spPr>
        <p:txBody>
          <a:bodyPr>
            <a:normAutofit/>
          </a:bodyPr>
          <a:lstStyle/>
          <a:p>
            <a:pPr eaLnBrk="1" hangingPunct="1"/>
            <a:r>
              <a:rPr lang="en-US" sz="4000" dirty="0"/>
              <a:t>Contents of Memory locations</a:t>
            </a:r>
          </a:p>
        </p:txBody>
      </p:sp>
      <p:sp>
        <p:nvSpPr>
          <p:cNvPr id="26628" name="Rectangle 3"/>
          <p:cNvSpPr>
            <a:spLocks noGrp="1" noChangeArrowheads="1"/>
          </p:cNvSpPr>
          <p:nvPr>
            <p:ph type="body" sz="half" idx="1"/>
          </p:nvPr>
        </p:nvSpPr>
        <p:spPr>
          <a:xfrm>
            <a:off x="1295400" y="1295400"/>
            <a:ext cx="7696200" cy="4800600"/>
          </a:xfrm>
        </p:spPr>
        <p:txBody>
          <a:bodyPr/>
          <a:lstStyle/>
          <a:p>
            <a:pPr eaLnBrk="1" hangingPunct="1"/>
            <a:r>
              <a:rPr lang="en-US" sz="2800" dirty="0"/>
              <a:t>Op code</a:t>
            </a:r>
          </a:p>
          <a:p>
            <a:pPr lvl="1" eaLnBrk="1" hangingPunct="1"/>
            <a:r>
              <a:rPr lang="en-US" sz="2400" dirty="0"/>
              <a:t>Operation code</a:t>
            </a:r>
          </a:p>
          <a:p>
            <a:pPr lvl="1" eaLnBrk="1" hangingPunct="1"/>
            <a:r>
              <a:rPr lang="en-US" sz="2400" dirty="0"/>
              <a:t>Arbitrary mnemonic</a:t>
            </a:r>
          </a:p>
          <a:p>
            <a:pPr eaLnBrk="1" hangingPunct="1"/>
            <a:r>
              <a:rPr lang="en-US" sz="2800" dirty="0"/>
              <a:t>Operand</a:t>
            </a:r>
          </a:p>
          <a:p>
            <a:pPr lvl="1" eaLnBrk="1" hangingPunct="1"/>
            <a:r>
              <a:rPr lang="en-US" sz="2400" dirty="0"/>
              <a:t>Object to be manipulated</a:t>
            </a:r>
          </a:p>
          <a:p>
            <a:pPr lvl="2" eaLnBrk="1" hangingPunct="1"/>
            <a:r>
              <a:rPr lang="en-US" sz="2000" dirty="0"/>
              <a:t>Data or</a:t>
            </a:r>
          </a:p>
          <a:p>
            <a:pPr lvl="2" eaLnBrk="1" hangingPunct="1"/>
            <a:r>
              <a:rPr lang="en-US" sz="2000" dirty="0"/>
              <a:t>Address of data</a:t>
            </a:r>
          </a:p>
        </p:txBody>
      </p:sp>
      <p:graphicFrame>
        <p:nvGraphicFramePr>
          <p:cNvPr id="42043" name="Group 59"/>
          <p:cNvGraphicFramePr>
            <a:graphicFrameLocks noGrp="1"/>
          </p:cNvGraphicFramePr>
          <p:nvPr>
            <p:ph sz="half" idx="2"/>
          </p:nvPr>
        </p:nvGraphicFramePr>
        <p:xfrm>
          <a:off x="1981200" y="4572000"/>
          <a:ext cx="5715000" cy="109728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Address</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Content</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hMerge="1">
                  <a:txBody>
                    <a:bodyPr/>
                    <a:lstStyle/>
                    <a:p>
                      <a:endParaRPr lang="en-IE"/>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Op code</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Operand</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6626" name="Slide Number Placeholder 6"/>
          <p:cNvSpPr>
            <a:spLocks noGrp="1"/>
          </p:cNvSpPr>
          <p:nvPr>
            <p:ph type="sldNum" sz="quarter" idx="12"/>
          </p:nvPr>
        </p:nvSpPr>
        <p:spPr>
          <a:noFill/>
        </p:spPr>
        <p:txBody>
          <a:bodyPr/>
          <a:lstStyle/>
          <a:p>
            <a:fld id="{8EAFE197-2134-493C-8D9D-CD629AE49C82}" type="slidenum">
              <a:rPr lang="en-US"/>
              <a:pPr/>
              <a:t>5</a:t>
            </a:fld>
            <a:endParaRPr lang="en-US"/>
          </a:p>
        </p:txBody>
      </p:sp>
    </p:spTree>
    <p:extLst>
      <p:ext uri="{BB962C8B-B14F-4D97-AF65-F5344CB8AC3E}">
        <p14:creationId xmlns:p14="http://schemas.microsoft.com/office/powerpoint/2010/main" val="2937676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457200" y="152400"/>
            <a:ext cx="8534400" cy="1143000"/>
          </a:xfrm>
        </p:spPr>
        <p:txBody>
          <a:bodyPr>
            <a:normAutofit fontScale="90000"/>
          </a:bodyPr>
          <a:lstStyle/>
          <a:p>
            <a:pPr eaLnBrk="1" hangingPunct="1"/>
            <a:r>
              <a:rPr lang="en-US" dirty="0"/>
              <a:t>Sample Machine code Instruction Set</a:t>
            </a:r>
          </a:p>
        </p:txBody>
      </p:sp>
      <p:graphicFrame>
        <p:nvGraphicFramePr>
          <p:cNvPr id="73840" name="Group 112"/>
          <p:cNvGraphicFramePr>
            <a:graphicFrameLocks noGrp="1"/>
          </p:cNvGraphicFramePr>
          <p:nvPr>
            <p:ph type="tbl" idx="1"/>
            <p:extLst>
              <p:ext uri="{D42A27DB-BD31-4B8C-83A1-F6EECF244321}">
                <p14:modId xmlns:p14="http://schemas.microsoft.com/office/powerpoint/2010/main" val="317765726"/>
              </p:ext>
            </p:extLst>
          </p:nvPr>
        </p:nvGraphicFramePr>
        <p:xfrm>
          <a:off x="1600200" y="1447800"/>
          <a:ext cx="5159375" cy="4392615"/>
        </p:xfrm>
        <a:graphic>
          <a:graphicData uri="http://schemas.openxmlformats.org/drawingml/2006/table">
            <a:tbl>
              <a:tblPr/>
              <a:tblGrid>
                <a:gridCol w="2779713">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5262">
                  <a:extLst>
                    <a:ext uri="{9D8B030D-6E8A-4147-A177-3AD203B41FA5}">
                      <a16:colId xmlns:a16="http://schemas.microsoft.com/office/drawing/2014/main" val="20002"/>
                    </a:ext>
                  </a:extLst>
                </a:gridCol>
              </a:tblGrid>
              <a:tr h="685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Arithmetic</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80"/>
                          </a:solidFill>
                          <a:effectLst/>
                          <a:latin typeface="Arial" charset="0"/>
                          <a:ea typeface="ＭＳ Ｐゴシック" charset="-128"/>
                        </a:rPr>
                        <a:t>1xx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80"/>
                          </a:solidFill>
                          <a:effectLst/>
                          <a:latin typeface="Arial" charset="0"/>
                          <a:ea typeface="ＭＳ Ｐゴシック" charset="-128"/>
                        </a:rPr>
                        <a:t>ADD</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80"/>
                        </a:solidFill>
                        <a:effectLst/>
                        <a:latin typeface="Arial" charset="0"/>
                        <a:ea typeface="ＭＳ Ｐゴシック"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2xx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SUBTRACT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9F11"/>
                          </a:solidFill>
                          <a:effectLst/>
                          <a:latin typeface="Arial" charset="0"/>
                          <a:ea typeface="ＭＳ Ｐゴシック" charset="-128"/>
                        </a:rPr>
                        <a:t>Data Movement</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3xx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9F11"/>
                          </a:solidFill>
                          <a:effectLst/>
                          <a:latin typeface="Arial" charset="0"/>
                          <a:ea typeface="ＭＳ Ｐゴシック" charset="-128"/>
                        </a:rPr>
                        <a:t>STORE</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FF9F11"/>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5xx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LOAD</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Input/Output</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901</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INPUT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FD1313"/>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902</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OUTPUT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6445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555FFF"/>
                          </a:solidFill>
                          <a:effectLst/>
                          <a:latin typeface="Arial" charset="0"/>
                          <a:ea typeface="ＭＳ Ｐゴシック" charset="-128"/>
                        </a:rPr>
                        <a:t>Machine Control</a:t>
                      </a:r>
                      <a:br>
                        <a:rPr kumimoji="0" lang="en-US" sz="1800" b="0" i="0" u="none" strike="noStrike" cap="none" normalizeH="0" baseline="0">
                          <a:ln>
                            <a:noFill/>
                          </a:ln>
                          <a:solidFill>
                            <a:srgbClr val="555FFF"/>
                          </a:solidFill>
                          <a:effectLst/>
                          <a:latin typeface="Arial" charset="0"/>
                          <a:ea typeface="ＭＳ Ｐゴシック" charset="-128"/>
                        </a:rPr>
                      </a:br>
                      <a:r>
                        <a:rPr kumimoji="0" lang="en-US" sz="1800" b="0" i="0" u="none" strike="noStrike" cap="none" normalizeH="0" baseline="0">
                          <a:ln>
                            <a:noFill/>
                          </a:ln>
                          <a:solidFill>
                            <a:srgbClr val="555FFF"/>
                          </a:solidFill>
                          <a:effectLst/>
                          <a:latin typeface="Arial" charset="0"/>
                          <a:ea typeface="ＭＳ Ｐゴシック" charset="-128"/>
                        </a:rPr>
                        <a:t>(coffee break)</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555FFF"/>
                          </a:solidFill>
                          <a:effectLst/>
                          <a:latin typeface="Arial" charset="0"/>
                          <a:ea typeface="ＭＳ Ｐゴシック" charset="-128"/>
                        </a:rPr>
                        <a:t>000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555FFF"/>
                          </a:solidFill>
                          <a:effectLst/>
                          <a:latin typeface="Arial" charset="0"/>
                          <a:ea typeface="ＭＳ Ｐゴシック" charset="-128"/>
                        </a:rPr>
                        <a:t>STOP</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555FFF"/>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4818" name="Slide Number Placeholder 5"/>
          <p:cNvSpPr>
            <a:spLocks noGrp="1"/>
          </p:cNvSpPr>
          <p:nvPr>
            <p:ph type="sldNum" sz="quarter" idx="12"/>
          </p:nvPr>
        </p:nvSpPr>
        <p:spPr>
          <a:noFill/>
        </p:spPr>
        <p:txBody>
          <a:bodyPr/>
          <a:lstStyle/>
          <a:p>
            <a:fld id="{A21F47EF-28A0-4C77-86F2-946F42B187CB}" type="slidenum">
              <a:rPr lang="en-US"/>
              <a:pPr/>
              <a:t>6</a:t>
            </a:fld>
            <a:endParaRPr lang="en-US"/>
          </a:p>
        </p:txBody>
      </p:sp>
    </p:spTree>
    <p:extLst>
      <p:ext uri="{BB962C8B-B14F-4D97-AF65-F5344CB8AC3E}">
        <p14:creationId xmlns:p14="http://schemas.microsoft.com/office/powerpoint/2010/main" val="359726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dirty="0"/>
              <a:t>Instruction Cycle</a:t>
            </a:r>
          </a:p>
        </p:txBody>
      </p:sp>
      <p:sp>
        <p:nvSpPr>
          <p:cNvPr id="55300" name="Rectangle 3"/>
          <p:cNvSpPr>
            <a:spLocks noGrp="1" noChangeArrowheads="1"/>
          </p:cNvSpPr>
          <p:nvPr>
            <p:ph idx="1"/>
          </p:nvPr>
        </p:nvSpPr>
        <p:spPr/>
        <p:txBody>
          <a:bodyPr>
            <a:normAutofit fontScale="92500" lnSpcReduction="10000"/>
          </a:bodyPr>
          <a:lstStyle/>
          <a:p>
            <a:pPr eaLnBrk="1" hangingPunct="1"/>
            <a:endParaRPr lang="en-US" i="1" dirty="0">
              <a:solidFill>
                <a:srgbClr val="000080"/>
              </a:solidFill>
            </a:endParaRPr>
          </a:p>
          <a:p>
            <a:pPr eaLnBrk="1" hangingPunct="1"/>
            <a:r>
              <a:rPr lang="en-US" i="1" dirty="0">
                <a:solidFill>
                  <a:srgbClr val="000080"/>
                </a:solidFill>
              </a:rPr>
              <a:t>Fetch</a:t>
            </a:r>
            <a:r>
              <a:rPr lang="en-US" dirty="0"/>
              <a:t>: Little Man finds out what instruction he is to execute</a:t>
            </a:r>
          </a:p>
          <a:p>
            <a:pPr eaLnBrk="1" hangingPunct="1"/>
            <a:endParaRPr lang="en-US" i="1" dirty="0">
              <a:solidFill>
                <a:srgbClr val="000080"/>
              </a:solidFill>
            </a:endParaRPr>
          </a:p>
          <a:p>
            <a:pPr eaLnBrk="1" hangingPunct="1"/>
            <a:r>
              <a:rPr lang="en-US" i="1" dirty="0">
                <a:solidFill>
                  <a:srgbClr val="000080"/>
                </a:solidFill>
              </a:rPr>
              <a:t>Execute</a:t>
            </a:r>
            <a:r>
              <a:rPr lang="en-US" dirty="0"/>
              <a:t>:  Little Man performs the work he is instructed to perform</a:t>
            </a:r>
          </a:p>
          <a:p>
            <a:pPr eaLnBrk="1" hangingPunct="1"/>
            <a:endParaRPr lang="en-US" dirty="0"/>
          </a:p>
          <a:p>
            <a:pPr eaLnBrk="1" hangingPunct="1"/>
            <a:r>
              <a:rPr lang="en-US" dirty="0"/>
              <a:t>The following shows the operation of the </a:t>
            </a:r>
            <a:r>
              <a:rPr lang="en-US" b="1" dirty="0"/>
              <a:t>load instruction</a:t>
            </a:r>
          </a:p>
        </p:txBody>
      </p:sp>
      <p:sp>
        <p:nvSpPr>
          <p:cNvPr id="55298" name="Slide Number Placeholder 5"/>
          <p:cNvSpPr>
            <a:spLocks noGrp="1"/>
          </p:cNvSpPr>
          <p:nvPr>
            <p:ph type="sldNum" sz="quarter" idx="12"/>
          </p:nvPr>
        </p:nvSpPr>
        <p:spPr>
          <a:noFill/>
        </p:spPr>
        <p:txBody>
          <a:bodyPr/>
          <a:lstStyle/>
          <a:p>
            <a:fld id="{FE48E5D3-7FE0-4858-BFF5-B4C0DBA46A95}" type="slidenum">
              <a:rPr lang="en-US"/>
              <a:pPr/>
              <a:t>7</a:t>
            </a:fld>
            <a:endParaRPr lang="en-US"/>
          </a:p>
        </p:txBody>
      </p:sp>
    </p:spTree>
    <p:extLst>
      <p:ext uri="{BB962C8B-B14F-4D97-AF65-F5344CB8AC3E}">
        <p14:creationId xmlns:p14="http://schemas.microsoft.com/office/powerpoint/2010/main" val="122968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normAutofit fontScale="90000"/>
          </a:bodyPr>
          <a:lstStyle/>
          <a:p>
            <a:pPr eaLnBrk="1" hangingPunct="1">
              <a:lnSpc>
                <a:spcPct val="90000"/>
              </a:lnSpc>
            </a:pPr>
            <a:r>
              <a:rPr lang="en-US" sz="4000" dirty="0"/>
              <a:t>Fetch Portion of</a:t>
            </a:r>
            <a:br>
              <a:rPr lang="en-US" sz="4000" dirty="0"/>
            </a:br>
            <a:r>
              <a:rPr lang="en-US" sz="4000" dirty="0"/>
              <a:t>Fetch and Execute Cycle</a:t>
            </a:r>
          </a:p>
        </p:txBody>
      </p:sp>
      <p:pic>
        <p:nvPicPr>
          <p:cNvPr id="56326" name="Picture 10" descr="c06f05a"/>
          <p:cNvPicPr>
            <a:picLocks noGrp="1" noChangeAspect="1" noChangeArrowheads="1"/>
          </p:cNvPicPr>
          <p:nvPr>
            <p:ph idx="1"/>
          </p:nvPr>
        </p:nvPicPr>
        <p:blipFill>
          <a:blip r:embed="rId2" cstate="print"/>
          <a:srcRect r="44540" b="32655"/>
          <a:stretch>
            <a:fillRect/>
          </a:stretch>
        </p:blipFill>
        <p:spPr>
          <a:xfrm>
            <a:off x="1295400" y="1524000"/>
            <a:ext cx="3276600" cy="4724400"/>
          </a:xfrm>
          <a:noFill/>
        </p:spPr>
      </p:pic>
      <p:sp>
        <p:nvSpPr>
          <p:cNvPr id="56322" name="Slide Number Placeholder 5"/>
          <p:cNvSpPr>
            <a:spLocks noGrp="1"/>
          </p:cNvSpPr>
          <p:nvPr>
            <p:ph type="sldNum" sz="quarter" idx="12"/>
          </p:nvPr>
        </p:nvSpPr>
        <p:spPr>
          <a:noFill/>
        </p:spPr>
        <p:txBody>
          <a:bodyPr/>
          <a:lstStyle/>
          <a:p>
            <a:fld id="{D348B2A5-F8CD-48E8-BA0A-057EFD540311}" type="slidenum">
              <a:rPr lang="en-US"/>
              <a:pPr/>
              <a:t>8</a:t>
            </a:fld>
            <a:endParaRPr lang="en-US"/>
          </a:p>
        </p:txBody>
      </p:sp>
      <p:sp>
        <p:nvSpPr>
          <p:cNvPr id="56324" name="Text Box 4"/>
          <p:cNvSpPr txBox="1">
            <a:spLocks noChangeArrowheads="1"/>
          </p:cNvSpPr>
          <p:nvPr/>
        </p:nvSpPr>
        <p:spPr bwMode="auto">
          <a:xfrm>
            <a:off x="4800600" y="2133600"/>
            <a:ext cx="3276600" cy="1196975"/>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1.</a:t>
            </a:r>
            <a:r>
              <a:rPr lang="en-US" sz="2400" dirty="0">
                <a:solidFill>
                  <a:schemeClr val="tx2"/>
                </a:solidFill>
                <a:latin typeface="Tahoma" charset="0"/>
              </a:rPr>
              <a:t> Little Man reads the address from the location counter</a:t>
            </a:r>
          </a:p>
        </p:txBody>
      </p:sp>
      <p:sp>
        <p:nvSpPr>
          <p:cNvPr id="56325" name="Text Box 5"/>
          <p:cNvSpPr txBox="1">
            <a:spLocks noChangeArrowheads="1"/>
          </p:cNvSpPr>
          <p:nvPr/>
        </p:nvSpPr>
        <p:spPr bwMode="auto">
          <a:xfrm>
            <a:off x="4876800" y="4191000"/>
            <a:ext cx="3276600" cy="1565275"/>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a:solidFill>
                  <a:srgbClr val="000080"/>
                </a:solidFill>
                <a:latin typeface="Tahoma" charset="0"/>
              </a:rPr>
              <a:t>2.</a:t>
            </a:r>
            <a:r>
              <a:rPr lang="en-US" sz="2400">
                <a:solidFill>
                  <a:schemeClr val="tx2"/>
                </a:solidFill>
                <a:latin typeface="Tahoma" charset="0"/>
              </a:rPr>
              <a:t> He walks over to the mailbox that corresponds to the  location counter</a:t>
            </a:r>
          </a:p>
        </p:txBody>
      </p:sp>
    </p:spTree>
    <p:extLst>
      <p:ext uri="{BB962C8B-B14F-4D97-AF65-F5344CB8AC3E}">
        <p14:creationId xmlns:p14="http://schemas.microsoft.com/office/powerpoint/2010/main" val="3271684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Fetch, </a:t>
            </a:r>
            <a:r>
              <a:rPr lang="en-US" sz="2800"/>
              <a:t>cont.</a:t>
            </a:r>
          </a:p>
        </p:txBody>
      </p:sp>
      <p:pic>
        <p:nvPicPr>
          <p:cNvPr id="57349" name="Picture 8" descr="c06f05a"/>
          <p:cNvPicPr>
            <a:picLocks noGrp="1" noChangeAspect="1" noChangeArrowheads="1"/>
          </p:cNvPicPr>
          <p:nvPr>
            <p:ph idx="1"/>
          </p:nvPr>
        </p:nvPicPr>
        <p:blipFill>
          <a:blip r:embed="rId2" cstate="print"/>
          <a:srcRect t="65662" r="41988"/>
          <a:stretch>
            <a:fillRect/>
          </a:stretch>
        </p:blipFill>
        <p:spPr>
          <a:xfrm>
            <a:off x="1524000" y="1860550"/>
            <a:ext cx="3581400" cy="2516188"/>
          </a:xfrm>
          <a:noFill/>
        </p:spPr>
      </p:pic>
      <p:sp>
        <p:nvSpPr>
          <p:cNvPr id="57346" name="Slide Number Placeholder 5"/>
          <p:cNvSpPr>
            <a:spLocks noGrp="1"/>
          </p:cNvSpPr>
          <p:nvPr>
            <p:ph type="sldNum" sz="quarter" idx="12"/>
          </p:nvPr>
        </p:nvSpPr>
        <p:spPr>
          <a:noFill/>
        </p:spPr>
        <p:txBody>
          <a:bodyPr/>
          <a:lstStyle/>
          <a:p>
            <a:fld id="{1BC700C1-EA24-488C-9D27-C3698D20CFA3}" type="slidenum">
              <a:rPr lang="en-US"/>
              <a:pPr/>
              <a:t>9</a:t>
            </a:fld>
            <a:endParaRPr lang="en-US"/>
          </a:p>
        </p:txBody>
      </p:sp>
      <p:sp>
        <p:nvSpPr>
          <p:cNvPr id="57348" name="Text Box 4"/>
          <p:cNvSpPr txBox="1">
            <a:spLocks noChangeArrowheads="1"/>
          </p:cNvSpPr>
          <p:nvPr/>
        </p:nvSpPr>
        <p:spPr bwMode="auto">
          <a:xfrm>
            <a:off x="5029200" y="1981200"/>
            <a:ext cx="3276600" cy="397031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3.</a:t>
            </a:r>
            <a:r>
              <a:rPr lang="en-US" sz="2400" dirty="0">
                <a:solidFill>
                  <a:schemeClr val="tx2"/>
                </a:solidFill>
                <a:latin typeface="Tahoma" charset="0"/>
              </a:rPr>
              <a:t> And reads (involves knowing the meaning of the op code…) the contents on the slip of paper (he puts the slip back in case he needs to read it again later)</a:t>
            </a:r>
          </a:p>
          <a:p>
            <a:pPr marL="339725" indent="-339725">
              <a:spcBef>
                <a:spcPct val="50000"/>
              </a:spcBef>
            </a:pPr>
            <a:endParaRPr lang="en-US" sz="2400" dirty="0">
              <a:solidFill>
                <a:schemeClr val="tx2"/>
              </a:solidFill>
              <a:latin typeface="Tahoma" charset="0"/>
            </a:endParaRPr>
          </a:p>
        </p:txBody>
      </p:sp>
    </p:spTree>
    <p:extLst>
      <p:ext uri="{BB962C8B-B14F-4D97-AF65-F5344CB8AC3E}">
        <p14:creationId xmlns:p14="http://schemas.microsoft.com/office/powerpoint/2010/main" val="4000380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p:txBody>
          <a:bodyPr/>
          <a:lstStyle/>
          <a:p>
            <a:pPr eaLnBrk="1" hangingPunct="1"/>
            <a:r>
              <a:rPr lang="en-US" dirty="0"/>
              <a:t>Execute Portion</a:t>
            </a:r>
          </a:p>
        </p:txBody>
      </p:sp>
      <p:sp>
        <p:nvSpPr>
          <p:cNvPr id="58370" name="Slide Number Placeholder 5"/>
          <p:cNvSpPr>
            <a:spLocks noGrp="1"/>
          </p:cNvSpPr>
          <p:nvPr>
            <p:ph type="sldNum" sz="quarter" idx="12"/>
          </p:nvPr>
        </p:nvSpPr>
        <p:spPr>
          <a:noFill/>
        </p:spPr>
        <p:txBody>
          <a:bodyPr/>
          <a:lstStyle/>
          <a:p>
            <a:fld id="{F4FABAA8-1E55-4A66-822B-C955D520C685}" type="slidenum">
              <a:rPr lang="en-US"/>
              <a:pPr/>
              <a:t>10</a:t>
            </a:fld>
            <a:endParaRPr lang="en-US"/>
          </a:p>
        </p:txBody>
      </p:sp>
      <p:sp>
        <p:nvSpPr>
          <p:cNvPr id="58372" name="Text Box 4"/>
          <p:cNvSpPr txBox="1">
            <a:spLocks noChangeArrowheads="1"/>
          </p:cNvSpPr>
          <p:nvPr/>
        </p:nvSpPr>
        <p:spPr bwMode="auto">
          <a:xfrm>
            <a:off x="4191000" y="2438400"/>
            <a:ext cx="2971800" cy="460375"/>
          </a:xfrm>
          <a:prstGeom prst="rect">
            <a:avLst/>
          </a:prstGeom>
          <a:noFill/>
          <a:ln w="9525">
            <a:noFill/>
            <a:miter lim="800000"/>
            <a:headEnd/>
            <a:tailEnd/>
          </a:ln>
        </p:spPr>
        <p:txBody>
          <a:bodyPr>
            <a:spAutoFit/>
          </a:bodyPr>
          <a:lstStyle/>
          <a:p>
            <a:pPr>
              <a:spcBef>
                <a:spcPct val="50000"/>
              </a:spcBef>
            </a:pPr>
            <a:endParaRPr lang="en-GB" sz="2400">
              <a:latin typeface="Tahoma" charset="0"/>
            </a:endParaRPr>
          </a:p>
        </p:txBody>
      </p:sp>
      <p:sp>
        <p:nvSpPr>
          <p:cNvPr id="58373" name="Text Box 10"/>
          <p:cNvSpPr txBox="1">
            <a:spLocks noChangeArrowheads="1"/>
          </p:cNvSpPr>
          <p:nvPr/>
        </p:nvSpPr>
        <p:spPr bwMode="auto">
          <a:xfrm>
            <a:off x="4648200" y="4114800"/>
            <a:ext cx="533400" cy="366713"/>
          </a:xfrm>
          <a:prstGeom prst="rect">
            <a:avLst/>
          </a:prstGeom>
          <a:solidFill>
            <a:schemeClr val="bg1"/>
          </a:solidFill>
          <a:ln w="9525">
            <a:noFill/>
            <a:miter lim="800000"/>
            <a:headEnd/>
            <a:tailEnd/>
          </a:ln>
        </p:spPr>
        <p:txBody>
          <a:bodyPr>
            <a:spAutoFit/>
          </a:bodyPr>
          <a:lstStyle/>
          <a:p>
            <a:pPr>
              <a:spcBef>
                <a:spcPct val="50000"/>
              </a:spcBef>
            </a:pPr>
            <a:r>
              <a:rPr lang="en-US"/>
              <a:t>   </a:t>
            </a:r>
          </a:p>
        </p:txBody>
      </p:sp>
      <p:sp>
        <p:nvSpPr>
          <p:cNvPr id="58374" name="Text Box 14"/>
          <p:cNvSpPr txBox="1">
            <a:spLocks noChangeArrowheads="1"/>
          </p:cNvSpPr>
          <p:nvPr/>
        </p:nvSpPr>
        <p:spPr bwMode="auto">
          <a:xfrm>
            <a:off x="899592" y="1524000"/>
            <a:ext cx="7848600" cy="4401205"/>
          </a:xfrm>
          <a:prstGeom prst="rect">
            <a:avLst/>
          </a:prstGeom>
          <a:noFill/>
          <a:ln w="9525">
            <a:noFill/>
            <a:miter lim="800000"/>
            <a:headEnd/>
            <a:tailEnd/>
          </a:ln>
        </p:spPr>
        <p:txBody>
          <a:bodyPr>
            <a:spAutoFit/>
          </a:bodyPr>
          <a:lstStyle/>
          <a:p>
            <a:pPr marL="288925" indent="-288925">
              <a:spcBef>
                <a:spcPct val="50000"/>
              </a:spcBef>
              <a:buFontTx/>
              <a:buChar char="•"/>
            </a:pPr>
            <a:r>
              <a:rPr lang="en-US" sz="2800" dirty="0"/>
              <a:t>The execution portion of each instruction is, of course, different for each instruction.</a:t>
            </a:r>
          </a:p>
          <a:p>
            <a:pPr marL="288925" indent="-288925">
              <a:spcBef>
                <a:spcPct val="50000"/>
              </a:spcBef>
              <a:buFontTx/>
              <a:buChar char="•"/>
            </a:pPr>
            <a:endParaRPr lang="en-US" sz="2800" dirty="0"/>
          </a:p>
          <a:p>
            <a:pPr marL="288925" indent="-288925">
              <a:spcBef>
                <a:spcPct val="50000"/>
              </a:spcBef>
              <a:buFontTx/>
              <a:buChar char="•"/>
            </a:pPr>
            <a:r>
              <a:rPr lang="en-US" sz="2800" dirty="0"/>
              <a:t>However, even here, there are many similarities.</a:t>
            </a:r>
          </a:p>
          <a:p>
            <a:pPr marL="288925" indent="-288925">
              <a:spcBef>
                <a:spcPct val="50000"/>
              </a:spcBef>
              <a:buFontTx/>
              <a:buChar char="•"/>
            </a:pPr>
            <a:endParaRPr lang="en-US" sz="2800" dirty="0"/>
          </a:p>
          <a:p>
            <a:pPr marL="288925" indent="-288925">
              <a:spcBef>
                <a:spcPct val="50000"/>
              </a:spcBef>
              <a:buFontTx/>
              <a:buChar char="•"/>
            </a:pPr>
            <a:r>
              <a:rPr lang="en-US" sz="2800" dirty="0"/>
              <a:t>The load instruction  (LDA) is typical. (589: where 5 is the load op-code and 89 refers to the mail box whose contents are loaded into calculator) </a:t>
            </a:r>
          </a:p>
        </p:txBody>
      </p:sp>
    </p:spTree>
    <p:extLst>
      <p:ext uri="{BB962C8B-B14F-4D97-AF65-F5344CB8AC3E}">
        <p14:creationId xmlns:p14="http://schemas.microsoft.com/office/powerpoint/2010/main" val="1332295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lstStyle/>
          <a:p>
            <a:pPr eaLnBrk="1" hangingPunct="1"/>
            <a:r>
              <a:rPr lang="en-US" dirty="0"/>
              <a:t>Execute Portion (LDA)</a:t>
            </a:r>
          </a:p>
        </p:txBody>
      </p:sp>
      <p:pic>
        <p:nvPicPr>
          <p:cNvPr id="60421" name="Picture 7" descr="c06f05b"/>
          <p:cNvPicPr>
            <a:picLocks noGrp="1" noChangeAspect="1" noChangeArrowheads="1"/>
          </p:cNvPicPr>
          <p:nvPr>
            <p:ph sz="half" idx="1"/>
          </p:nvPr>
        </p:nvPicPr>
        <p:blipFill>
          <a:blip r:embed="rId3" cstate="print"/>
          <a:srcRect r="53885" b="68011"/>
          <a:stretch>
            <a:fillRect/>
          </a:stretch>
        </p:blipFill>
        <p:spPr>
          <a:xfrm>
            <a:off x="1295400" y="1338263"/>
            <a:ext cx="3657600" cy="2543175"/>
          </a:xfrm>
          <a:noFill/>
        </p:spPr>
      </p:pic>
      <p:pic>
        <p:nvPicPr>
          <p:cNvPr id="60419" name="Picture 9" descr="c06f05b"/>
          <p:cNvPicPr>
            <a:picLocks noGrp="1" noChangeAspect="1" noChangeArrowheads="1"/>
          </p:cNvPicPr>
          <p:nvPr>
            <p:ph sz="half" idx="2"/>
          </p:nvPr>
        </p:nvPicPr>
        <p:blipFill>
          <a:blip r:embed="rId3" cstate="print"/>
          <a:srcRect l="54088" t="22322" b="43782"/>
          <a:stretch>
            <a:fillRect/>
          </a:stretch>
        </p:blipFill>
        <p:spPr>
          <a:xfrm>
            <a:off x="4953000" y="3581400"/>
            <a:ext cx="3657600" cy="2652713"/>
          </a:xfrm>
          <a:noFill/>
        </p:spPr>
      </p:pic>
      <p:sp>
        <p:nvSpPr>
          <p:cNvPr id="60418" name="Slide Number Placeholder 6"/>
          <p:cNvSpPr>
            <a:spLocks noGrp="1"/>
          </p:cNvSpPr>
          <p:nvPr>
            <p:ph type="sldNum" sz="quarter" idx="12"/>
          </p:nvPr>
        </p:nvSpPr>
        <p:spPr>
          <a:noFill/>
        </p:spPr>
        <p:txBody>
          <a:bodyPr/>
          <a:lstStyle/>
          <a:p>
            <a:fld id="{F48C924D-1C1A-4928-85BA-75FE7B62A953}" type="slidenum">
              <a:rPr lang="en-US"/>
              <a:pPr/>
              <a:t>11</a:t>
            </a:fld>
            <a:endParaRPr lang="en-US"/>
          </a:p>
        </p:txBody>
      </p:sp>
      <p:sp>
        <p:nvSpPr>
          <p:cNvPr id="60422" name="Text Box 3"/>
          <p:cNvSpPr txBox="1">
            <a:spLocks noChangeArrowheads="1"/>
          </p:cNvSpPr>
          <p:nvPr/>
        </p:nvSpPr>
        <p:spPr bwMode="auto">
          <a:xfrm>
            <a:off x="4191000" y="2438400"/>
            <a:ext cx="2971800" cy="460375"/>
          </a:xfrm>
          <a:prstGeom prst="rect">
            <a:avLst/>
          </a:prstGeom>
          <a:noFill/>
          <a:ln w="9525">
            <a:noFill/>
            <a:miter lim="800000"/>
            <a:headEnd/>
            <a:tailEnd/>
          </a:ln>
        </p:spPr>
        <p:txBody>
          <a:bodyPr>
            <a:spAutoFit/>
          </a:bodyPr>
          <a:lstStyle/>
          <a:p>
            <a:pPr>
              <a:spcBef>
                <a:spcPct val="50000"/>
              </a:spcBef>
            </a:pPr>
            <a:endParaRPr lang="en-GB" sz="2400">
              <a:latin typeface="Tahoma" charset="0"/>
            </a:endParaRPr>
          </a:p>
        </p:txBody>
      </p:sp>
      <p:sp>
        <p:nvSpPr>
          <p:cNvPr id="60423" name="Text Box 4"/>
          <p:cNvSpPr txBox="1">
            <a:spLocks noChangeArrowheads="1"/>
          </p:cNvSpPr>
          <p:nvPr/>
        </p:nvSpPr>
        <p:spPr bwMode="auto">
          <a:xfrm>
            <a:off x="4953000" y="1828800"/>
            <a:ext cx="3581400" cy="137953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1.</a:t>
            </a:r>
            <a:r>
              <a:rPr lang="en-US" sz="2400" dirty="0">
                <a:solidFill>
                  <a:schemeClr val="tx2"/>
                </a:solidFill>
                <a:latin typeface="Tahoma" charset="0"/>
              </a:rPr>
              <a:t> </a:t>
            </a:r>
            <a:r>
              <a:rPr lang="en-US" sz="2000" dirty="0">
                <a:solidFill>
                  <a:schemeClr val="tx2"/>
                </a:solidFill>
                <a:latin typeface="Tahoma" charset="0"/>
              </a:rPr>
              <a:t>The Little Man goes to the mailbox address specified in the instruction he just fetched.</a:t>
            </a:r>
          </a:p>
        </p:txBody>
      </p:sp>
      <p:sp>
        <p:nvSpPr>
          <p:cNvPr id="60424" name="Text Box 5"/>
          <p:cNvSpPr txBox="1">
            <a:spLocks noChangeArrowheads="1"/>
          </p:cNvSpPr>
          <p:nvPr/>
        </p:nvSpPr>
        <p:spPr bwMode="auto">
          <a:xfrm>
            <a:off x="1219200" y="4343400"/>
            <a:ext cx="3733800" cy="137953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2.</a:t>
            </a:r>
            <a:r>
              <a:rPr lang="en-US" sz="2400" dirty="0">
                <a:solidFill>
                  <a:schemeClr val="tx2"/>
                </a:solidFill>
                <a:latin typeface="Tahoma" charset="0"/>
              </a:rPr>
              <a:t> </a:t>
            </a:r>
            <a:r>
              <a:rPr lang="en-US" sz="2000" dirty="0">
                <a:solidFill>
                  <a:schemeClr val="tx2"/>
                </a:solidFill>
                <a:latin typeface="Tahoma" charset="0"/>
              </a:rPr>
              <a:t>He reads the number in that mailbox (he remembers to replace it in case he needs it later).</a:t>
            </a:r>
          </a:p>
        </p:txBody>
      </p:sp>
      <p:sp>
        <p:nvSpPr>
          <p:cNvPr id="60425" name="Rectangle 11"/>
          <p:cNvSpPr>
            <a:spLocks noChangeArrowheads="1"/>
          </p:cNvSpPr>
          <p:nvPr/>
        </p:nvSpPr>
        <p:spPr bwMode="auto">
          <a:xfrm>
            <a:off x="5029200" y="4267200"/>
            <a:ext cx="228600" cy="609600"/>
          </a:xfrm>
          <a:prstGeom prst="rect">
            <a:avLst/>
          </a:prstGeom>
          <a:noFill/>
          <a:ln w="9525">
            <a:noFill/>
            <a:miter lim="800000"/>
            <a:headEnd/>
            <a:tailEnd/>
          </a:ln>
        </p:spPr>
        <p:txBody>
          <a:bodyPr wrap="none" anchor="ctr"/>
          <a:lstStyle/>
          <a:p>
            <a:endParaRPr lang="en-US"/>
          </a:p>
        </p:txBody>
      </p:sp>
      <p:sp>
        <p:nvSpPr>
          <p:cNvPr id="60426" name="Rectangle 12"/>
          <p:cNvSpPr>
            <a:spLocks noChangeArrowheads="1"/>
          </p:cNvSpPr>
          <p:nvPr/>
        </p:nvSpPr>
        <p:spPr bwMode="auto">
          <a:xfrm>
            <a:off x="4876800" y="4191000"/>
            <a:ext cx="304800" cy="762000"/>
          </a:xfrm>
          <a:prstGeom prst="rect">
            <a:avLst/>
          </a:prstGeom>
          <a:solidFill>
            <a:schemeClr val="bg1"/>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169262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t>Execute, cont. </a:t>
            </a:r>
          </a:p>
        </p:txBody>
      </p:sp>
      <p:pic>
        <p:nvPicPr>
          <p:cNvPr id="62468" name="Picture 10" descr="c06f05b"/>
          <p:cNvPicPr>
            <a:picLocks noGrp="1" noChangeAspect="1" noChangeArrowheads="1"/>
          </p:cNvPicPr>
          <p:nvPr>
            <p:ph sz="half" idx="1"/>
          </p:nvPr>
        </p:nvPicPr>
        <p:blipFill>
          <a:blip r:embed="rId2" cstate="print"/>
          <a:srcRect t="43774" r="54681" b="19186"/>
          <a:stretch>
            <a:fillRect/>
          </a:stretch>
        </p:blipFill>
        <p:spPr>
          <a:xfrm>
            <a:off x="1295400" y="1549400"/>
            <a:ext cx="3581400" cy="2736850"/>
          </a:xfrm>
          <a:noFill/>
        </p:spPr>
      </p:pic>
      <p:pic>
        <p:nvPicPr>
          <p:cNvPr id="62472" name="Picture 12" descr="c06f05b"/>
          <p:cNvPicPr>
            <a:picLocks noGrp="1" noChangeAspect="1" noChangeArrowheads="1"/>
          </p:cNvPicPr>
          <p:nvPr>
            <p:ph sz="half" idx="2"/>
          </p:nvPr>
        </p:nvPicPr>
        <p:blipFill>
          <a:blip r:embed="rId2" cstate="print"/>
          <a:srcRect l="53999" t="65916"/>
          <a:stretch>
            <a:fillRect/>
          </a:stretch>
        </p:blipFill>
        <p:spPr>
          <a:xfrm>
            <a:off x="5181600" y="3810000"/>
            <a:ext cx="3048000" cy="2398713"/>
          </a:xfrm>
          <a:noFill/>
        </p:spPr>
      </p:pic>
      <p:sp>
        <p:nvSpPr>
          <p:cNvPr id="62466" name="Slide Number Placeholder 6"/>
          <p:cNvSpPr>
            <a:spLocks noGrp="1"/>
          </p:cNvSpPr>
          <p:nvPr>
            <p:ph type="sldNum" sz="quarter" idx="12"/>
          </p:nvPr>
        </p:nvSpPr>
        <p:spPr>
          <a:noFill/>
        </p:spPr>
        <p:txBody>
          <a:bodyPr/>
          <a:lstStyle/>
          <a:p>
            <a:fld id="{C9003C0B-B8EB-4A29-9D3E-E18D711025C7}" type="slidenum">
              <a:rPr lang="en-US"/>
              <a:pPr/>
              <a:t>12</a:t>
            </a:fld>
            <a:endParaRPr lang="en-US"/>
          </a:p>
        </p:txBody>
      </p:sp>
      <p:sp>
        <p:nvSpPr>
          <p:cNvPr id="62469" name="Text Box 4"/>
          <p:cNvSpPr txBox="1">
            <a:spLocks noChangeArrowheads="1"/>
          </p:cNvSpPr>
          <p:nvPr/>
        </p:nvSpPr>
        <p:spPr bwMode="auto">
          <a:xfrm>
            <a:off x="4953000" y="2133600"/>
            <a:ext cx="3581400" cy="1073150"/>
          </a:xfrm>
          <a:prstGeom prst="rect">
            <a:avLst/>
          </a:prstGeom>
          <a:solidFill>
            <a:srgbClr val="FFFFFF"/>
          </a:solidFill>
          <a:ln w="9525">
            <a:noFill/>
            <a:miter lim="800000"/>
            <a:headEnd/>
            <a:tailEnd/>
          </a:ln>
        </p:spPr>
        <p:txBody>
          <a:bodyPr>
            <a:spAutoFit/>
          </a:bodyPr>
          <a:lstStyle/>
          <a:p>
            <a:pPr marL="342900" indent="-342900">
              <a:spcBef>
                <a:spcPct val="50000"/>
              </a:spcBef>
            </a:pPr>
            <a:r>
              <a:rPr lang="en-US" sz="2400" dirty="0">
                <a:solidFill>
                  <a:srgbClr val="000080"/>
                </a:solidFill>
                <a:latin typeface="Tahoma" charset="0"/>
              </a:rPr>
              <a:t>3.</a:t>
            </a:r>
            <a:r>
              <a:rPr lang="en-US" sz="2400" dirty="0">
                <a:solidFill>
                  <a:schemeClr val="tx2"/>
                </a:solidFill>
                <a:latin typeface="Tahoma" charset="0"/>
              </a:rPr>
              <a:t> </a:t>
            </a:r>
            <a:r>
              <a:rPr lang="en-US" sz="2000" dirty="0">
                <a:solidFill>
                  <a:schemeClr val="tx2"/>
                </a:solidFill>
                <a:latin typeface="Tahoma" charset="0"/>
              </a:rPr>
              <a:t>He walks over to the calculator and punches the number in.</a:t>
            </a:r>
          </a:p>
        </p:txBody>
      </p:sp>
      <p:sp>
        <p:nvSpPr>
          <p:cNvPr id="62470" name="Text Box 5"/>
          <p:cNvSpPr txBox="1">
            <a:spLocks noChangeArrowheads="1"/>
          </p:cNvSpPr>
          <p:nvPr/>
        </p:nvSpPr>
        <p:spPr bwMode="auto">
          <a:xfrm>
            <a:off x="1219200" y="4495800"/>
            <a:ext cx="3810000" cy="1379538"/>
          </a:xfrm>
          <a:prstGeom prst="rect">
            <a:avLst/>
          </a:prstGeom>
          <a:solidFill>
            <a:srgbClr val="FFFFFF"/>
          </a:solidFill>
          <a:ln w="9525">
            <a:noFill/>
            <a:miter lim="800000"/>
            <a:headEnd/>
            <a:tailEnd/>
          </a:ln>
        </p:spPr>
        <p:txBody>
          <a:bodyPr>
            <a:spAutoFit/>
          </a:bodyPr>
          <a:lstStyle/>
          <a:p>
            <a:pPr marL="342900" indent="-342900">
              <a:spcBef>
                <a:spcPct val="50000"/>
              </a:spcBef>
            </a:pPr>
            <a:r>
              <a:rPr lang="en-US" sz="2400" dirty="0">
                <a:solidFill>
                  <a:srgbClr val="000080"/>
                </a:solidFill>
                <a:latin typeface="Tahoma" charset="0"/>
              </a:rPr>
              <a:t>4.</a:t>
            </a:r>
            <a:r>
              <a:rPr lang="en-US" sz="2400" dirty="0">
                <a:solidFill>
                  <a:schemeClr val="tx2"/>
                </a:solidFill>
                <a:latin typeface="Tahoma" charset="0"/>
              </a:rPr>
              <a:t> </a:t>
            </a:r>
            <a:r>
              <a:rPr lang="en-US" sz="2000" dirty="0">
                <a:solidFill>
                  <a:schemeClr val="tx2"/>
                </a:solidFill>
                <a:latin typeface="Tahoma" charset="0"/>
              </a:rPr>
              <a:t>He walks over to the location counter and clicks it, which gets him ready to fetch the next instruction.</a:t>
            </a:r>
          </a:p>
        </p:txBody>
      </p:sp>
      <p:sp>
        <p:nvSpPr>
          <p:cNvPr id="62471" name="Text Box 9"/>
          <p:cNvSpPr txBox="1">
            <a:spLocks noChangeArrowheads="1"/>
          </p:cNvSpPr>
          <p:nvPr/>
        </p:nvSpPr>
        <p:spPr bwMode="auto">
          <a:xfrm>
            <a:off x="4724400" y="4953000"/>
            <a:ext cx="381000" cy="184150"/>
          </a:xfrm>
          <a:prstGeom prst="rect">
            <a:avLst/>
          </a:prstGeom>
          <a:solidFill>
            <a:schemeClr val="bg1"/>
          </a:solidFill>
          <a:ln w="9525">
            <a:noFill/>
            <a:miter lim="800000"/>
            <a:headEnd/>
            <a:tailEnd/>
          </a:ln>
        </p:spPr>
        <p:txBody>
          <a:bodyPr>
            <a:spAutoFit/>
          </a:bodyPr>
          <a:lstStyle/>
          <a:p>
            <a:pPr>
              <a:spcBef>
                <a:spcPct val="50000"/>
              </a:spcBef>
            </a:pPr>
            <a:r>
              <a:rPr lang="en-US" sz="600"/>
              <a:t>   </a:t>
            </a:r>
          </a:p>
        </p:txBody>
      </p:sp>
      <p:sp>
        <p:nvSpPr>
          <p:cNvPr id="62473" name="Rectangle 14"/>
          <p:cNvSpPr>
            <a:spLocks noChangeArrowheads="1"/>
          </p:cNvSpPr>
          <p:nvPr/>
        </p:nvSpPr>
        <p:spPr bwMode="auto">
          <a:xfrm>
            <a:off x="4953000" y="5181600"/>
            <a:ext cx="381000" cy="228600"/>
          </a:xfrm>
          <a:prstGeom prst="rect">
            <a:avLst/>
          </a:prstGeom>
          <a:solidFill>
            <a:schemeClr val="bg1"/>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1285573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pPr eaLnBrk="1" hangingPunct="1"/>
            <a:r>
              <a:rPr lang="en-GB" altLang="en-US" sz="4000" dirty="0"/>
              <a:t>An O.S. Architecture</a:t>
            </a:r>
          </a:p>
        </p:txBody>
      </p:sp>
      <p:sp>
        <p:nvSpPr>
          <p:cNvPr id="20483" name="Oval 3"/>
          <p:cNvSpPr>
            <a:spLocks noChangeArrowheads="1"/>
          </p:cNvSpPr>
          <p:nvPr/>
        </p:nvSpPr>
        <p:spPr bwMode="auto">
          <a:xfrm>
            <a:off x="1524000" y="1524000"/>
            <a:ext cx="5257800" cy="53340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4" name="Oval 4"/>
          <p:cNvSpPr>
            <a:spLocks noChangeArrowheads="1"/>
          </p:cNvSpPr>
          <p:nvPr/>
        </p:nvSpPr>
        <p:spPr bwMode="auto">
          <a:xfrm>
            <a:off x="2057400" y="2133600"/>
            <a:ext cx="4191000" cy="4114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5" name="Oval 5"/>
          <p:cNvSpPr>
            <a:spLocks noChangeArrowheads="1"/>
          </p:cNvSpPr>
          <p:nvPr/>
        </p:nvSpPr>
        <p:spPr bwMode="auto">
          <a:xfrm>
            <a:off x="2743200" y="2743200"/>
            <a:ext cx="2895600" cy="28956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6" name="Oval 6"/>
          <p:cNvSpPr>
            <a:spLocks noChangeArrowheads="1"/>
          </p:cNvSpPr>
          <p:nvPr/>
        </p:nvSpPr>
        <p:spPr bwMode="auto">
          <a:xfrm>
            <a:off x="3276600" y="3352800"/>
            <a:ext cx="1828800" cy="1828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7" name="Text Box 7"/>
          <p:cNvSpPr txBox="1">
            <a:spLocks noChangeArrowheads="1"/>
          </p:cNvSpPr>
          <p:nvPr/>
        </p:nvSpPr>
        <p:spPr bwMode="auto">
          <a:xfrm>
            <a:off x="2971800" y="1752600"/>
            <a:ext cx="2197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Application Programs</a:t>
            </a:r>
          </a:p>
        </p:txBody>
      </p:sp>
      <p:sp>
        <p:nvSpPr>
          <p:cNvPr id="20488" name="Text Box 8"/>
          <p:cNvSpPr txBox="1">
            <a:spLocks noChangeArrowheads="1"/>
          </p:cNvSpPr>
          <p:nvPr/>
        </p:nvSpPr>
        <p:spPr bwMode="auto">
          <a:xfrm>
            <a:off x="3352800" y="2376488"/>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Shell Editors</a:t>
            </a:r>
          </a:p>
        </p:txBody>
      </p:sp>
      <p:sp>
        <p:nvSpPr>
          <p:cNvPr id="20489" name="Text Box 9"/>
          <p:cNvSpPr txBox="1">
            <a:spLocks noChangeArrowheads="1"/>
          </p:cNvSpPr>
          <p:nvPr/>
        </p:nvSpPr>
        <p:spPr bwMode="auto">
          <a:xfrm>
            <a:off x="3733800" y="2971800"/>
            <a:ext cx="806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Kernel</a:t>
            </a:r>
          </a:p>
        </p:txBody>
      </p:sp>
      <p:sp>
        <p:nvSpPr>
          <p:cNvPr id="20490" name="Text Box 10"/>
          <p:cNvSpPr txBox="1">
            <a:spLocks noChangeArrowheads="1"/>
          </p:cNvSpPr>
          <p:nvPr/>
        </p:nvSpPr>
        <p:spPr bwMode="auto">
          <a:xfrm>
            <a:off x="3733800" y="4038600"/>
            <a:ext cx="108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Hardware</a:t>
            </a:r>
          </a:p>
        </p:txBody>
      </p:sp>
      <p:sp>
        <p:nvSpPr>
          <p:cNvPr id="20491" name="Line 11"/>
          <p:cNvSpPr>
            <a:spLocks noChangeShapeType="1"/>
          </p:cNvSpPr>
          <p:nvPr/>
        </p:nvSpPr>
        <p:spPr bwMode="auto">
          <a:xfrm>
            <a:off x="1981200" y="2743200"/>
            <a:ext cx="990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0492" name="Line 12"/>
          <p:cNvSpPr>
            <a:spLocks noChangeShapeType="1"/>
          </p:cNvSpPr>
          <p:nvPr/>
        </p:nvSpPr>
        <p:spPr bwMode="auto">
          <a:xfrm flipV="1">
            <a:off x="1600200" y="44196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0493" name="Text Box 13"/>
          <p:cNvSpPr txBox="1">
            <a:spLocks noChangeArrowheads="1"/>
          </p:cNvSpPr>
          <p:nvPr/>
        </p:nvSpPr>
        <p:spPr bwMode="auto">
          <a:xfrm rot="-5224865">
            <a:off x="1212057" y="3588543"/>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Compiler</a:t>
            </a:r>
          </a:p>
        </p:txBody>
      </p:sp>
      <p:sp>
        <p:nvSpPr>
          <p:cNvPr id="20494" name="Text Box 14"/>
          <p:cNvSpPr txBox="1">
            <a:spLocks noChangeArrowheads="1"/>
          </p:cNvSpPr>
          <p:nvPr/>
        </p:nvSpPr>
        <p:spPr bwMode="auto">
          <a:xfrm rot="-5224865">
            <a:off x="1774825" y="3527425"/>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Assembler, loader</a:t>
            </a:r>
          </a:p>
        </p:txBody>
      </p:sp>
    </p:spTree>
    <p:extLst>
      <p:ext uri="{BB962C8B-B14F-4D97-AF65-F5344CB8AC3E}">
        <p14:creationId xmlns:p14="http://schemas.microsoft.com/office/powerpoint/2010/main" val="355460676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altLang="en-US" sz="4000" dirty="0"/>
              <a:t>An O.S. Architecture</a:t>
            </a:r>
          </a:p>
        </p:txBody>
      </p:sp>
      <p:sp>
        <p:nvSpPr>
          <p:cNvPr id="21507" name="Rectangle 3"/>
          <p:cNvSpPr>
            <a:spLocks noGrp="1" noChangeArrowheads="1"/>
          </p:cNvSpPr>
          <p:nvPr>
            <p:ph type="body" idx="1"/>
          </p:nvPr>
        </p:nvSpPr>
        <p:spPr/>
        <p:txBody>
          <a:bodyPr/>
          <a:lstStyle/>
          <a:p>
            <a:pPr eaLnBrk="1" hangingPunct="1"/>
            <a:r>
              <a:rPr lang="en-GB" altLang="en-US"/>
              <a:t>The hardware is </a:t>
            </a:r>
            <a:r>
              <a:rPr lang="en-GB" altLang="en-US" i="1"/>
              <a:t>encapsulated</a:t>
            </a:r>
            <a:r>
              <a:rPr lang="en-GB" altLang="en-US"/>
              <a:t> by the kernel</a:t>
            </a:r>
          </a:p>
          <a:p>
            <a:pPr eaLnBrk="1" hangingPunct="1"/>
            <a:r>
              <a:rPr lang="en-GB" altLang="en-US"/>
              <a:t>It provides systems services to application programs </a:t>
            </a:r>
          </a:p>
          <a:p>
            <a:pPr eaLnBrk="1" hangingPunct="1"/>
            <a:r>
              <a:rPr lang="en-GB" altLang="en-US"/>
              <a:t>The user communicates with the kernel via the shell</a:t>
            </a:r>
          </a:p>
          <a:p>
            <a:pPr eaLnBrk="1" hangingPunct="1"/>
            <a:r>
              <a:rPr lang="en-GB" altLang="en-US"/>
              <a:t>The user can invoke the C compiler to create applications which can be executed by the kernel</a:t>
            </a:r>
          </a:p>
        </p:txBody>
      </p:sp>
    </p:spTree>
    <p:extLst>
      <p:ext uri="{BB962C8B-B14F-4D97-AF65-F5344CB8AC3E}">
        <p14:creationId xmlns:p14="http://schemas.microsoft.com/office/powerpoint/2010/main" val="368124566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CA" altLang="en-US"/>
              <a:t>What </a:t>
            </a:r>
            <a:r>
              <a:rPr lang="en-US" altLang="en-US"/>
              <a:t>is</a:t>
            </a:r>
            <a:r>
              <a:rPr lang="en-CA" altLang="en-US"/>
              <a:t> an Operating System?</a:t>
            </a:r>
          </a:p>
        </p:txBody>
      </p:sp>
      <p:sp>
        <p:nvSpPr>
          <p:cNvPr id="7172" name="Rectangle 3"/>
          <p:cNvSpPr>
            <a:spLocks noGrp="1" noChangeArrowheads="1"/>
          </p:cNvSpPr>
          <p:nvPr>
            <p:ph idx="1"/>
          </p:nvPr>
        </p:nvSpPr>
        <p:spPr/>
        <p:txBody>
          <a:bodyPr>
            <a:normAutofit lnSpcReduction="10000"/>
          </a:bodyPr>
          <a:lstStyle/>
          <a:p>
            <a:pPr>
              <a:lnSpc>
                <a:spcPct val="90000"/>
              </a:lnSpc>
            </a:pPr>
            <a:r>
              <a:rPr lang="en-US" altLang="en-US" b="1"/>
              <a:t>Computer System</a:t>
            </a:r>
            <a:endParaRPr lang="en-US" altLang="en-US"/>
          </a:p>
          <a:p>
            <a:pPr lvl="1">
              <a:lnSpc>
                <a:spcPct val="90000"/>
              </a:lnSpc>
            </a:pPr>
            <a:r>
              <a:rPr lang="en-US" altLang="en-US"/>
              <a:t>Software (programs)</a:t>
            </a:r>
          </a:p>
          <a:p>
            <a:pPr lvl="1">
              <a:lnSpc>
                <a:spcPct val="90000"/>
              </a:lnSpc>
            </a:pPr>
            <a:r>
              <a:rPr lang="en-US" altLang="en-US"/>
              <a:t>Hardware (physical machine and electronic components)</a:t>
            </a:r>
          </a:p>
          <a:p>
            <a:pPr>
              <a:lnSpc>
                <a:spcPct val="90000"/>
              </a:lnSpc>
            </a:pPr>
            <a:r>
              <a:rPr lang="en-US" altLang="en-US" b="1"/>
              <a:t>Operating System</a:t>
            </a:r>
            <a:endParaRPr lang="en-US" altLang="en-US"/>
          </a:p>
          <a:p>
            <a:pPr lvl="1">
              <a:lnSpc>
                <a:spcPct val="90000"/>
              </a:lnSpc>
            </a:pPr>
            <a:r>
              <a:rPr lang="en-CA" altLang="en-US"/>
              <a:t>Part of computer system (software)</a:t>
            </a:r>
          </a:p>
          <a:p>
            <a:pPr lvl="1">
              <a:lnSpc>
                <a:spcPct val="90000"/>
              </a:lnSpc>
            </a:pPr>
            <a:r>
              <a:rPr lang="en-CA" altLang="en-US"/>
              <a:t>Manages all hardware and software</a:t>
            </a:r>
            <a:endParaRPr lang="en-US" altLang="en-US"/>
          </a:p>
          <a:p>
            <a:pPr lvl="2">
              <a:lnSpc>
                <a:spcPct val="90000"/>
              </a:lnSpc>
            </a:pPr>
            <a:r>
              <a:rPr lang="en-US" altLang="en-US"/>
              <a:t>Controls every file, device, section of main memory and nanosecond of processing time</a:t>
            </a:r>
          </a:p>
          <a:p>
            <a:pPr lvl="2">
              <a:lnSpc>
                <a:spcPct val="90000"/>
              </a:lnSpc>
            </a:pPr>
            <a:r>
              <a:rPr lang="en-US" altLang="en-US"/>
              <a:t>Controls </a:t>
            </a:r>
            <a:r>
              <a:rPr lang="en-US" altLang="en-US" i="1"/>
              <a:t>who</a:t>
            </a:r>
            <a:r>
              <a:rPr lang="en-US" altLang="en-US"/>
              <a:t> can use the system</a:t>
            </a:r>
          </a:p>
          <a:p>
            <a:pPr lvl="2">
              <a:lnSpc>
                <a:spcPct val="90000"/>
              </a:lnSpc>
            </a:pPr>
            <a:r>
              <a:rPr lang="en-US" altLang="en-US"/>
              <a:t>Controls </a:t>
            </a:r>
            <a:r>
              <a:rPr lang="en-US" altLang="en-US" i="1"/>
              <a:t>how</a:t>
            </a:r>
            <a:r>
              <a:rPr lang="en-US" altLang="en-US"/>
              <a:t> system is used</a:t>
            </a:r>
          </a:p>
        </p:txBody>
      </p:sp>
      <p:sp>
        <p:nvSpPr>
          <p:cNvPr id="7170"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Tree>
    <p:extLst>
      <p:ext uri="{BB962C8B-B14F-4D97-AF65-F5344CB8AC3E}">
        <p14:creationId xmlns:p14="http://schemas.microsoft.com/office/powerpoint/2010/main" val="1853766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533400" y="381000"/>
            <a:ext cx="8077200" cy="762000"/>
          </a:xfrm>
        </p:spPr>
        <p:txBody>
          <a:bodyPr/>
          <a:lstStyle/>
          <a:p>
            <a:r>
              <a:rPr lang="en-CA" altLang="en-US"/>
              <a:t>Operating System</a:t>
            </a:r>
            <a:r>
              <a:rPr lang="en-US" altLang="en-US"/>
              <a:t> Software</a:t>
            </a:r>
            <a:endParaRPr lang="en-CA" altLang="en-US"/>
          </a:p>
        </p:txBody>
      </p:sp>
      <p:sp>
        <p:nvSpPr>
          <p:cNvPr id="8194"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
        <p:nvSpPr>
          <p:cNvPr id="6" name="Rectangle 6"/>
          <p:cNvSpPr>
            <a:spLocks noGrp="1" noChangeArrowheads="1"/>
          </p:cNvSpPr>
          <p:nvPr>
            <p:ph type="sldNum" sz="quarter" idx="12"/>
          </p:nvPr>
        </p:nvSpPr>
        <p:spPr/>
        <p:txBody>
          <a:bodyPr/>
          <a:lstStyle/>
          <a:p>
            <a:pPr>
              <a:defRPr/>
            </a:pPr>
            <a:fld id="{F2EA58F0-3AA3-4792-8068-74890AC1B12D}" type="slidenum">
              <a:rPr lang="en-US"/>
              <a:pPr>
                <a:defRPr/>
              </a:pPr>
              <a:t>16</a:t>
            </a:fld>
            <a:endParaRPr lang="en-US" dirty="0"/>
          </a:p>
        </p:txBody>
      </p:sp>
      <p:pic>
        <p:nvPicPr>
          <p:cNvPr id="8197" name="Picture 6"/>
          <p:cNvPicPr>
            <a:picLocks noChangeAspect="1" noChangeArrowheads="1"/>
          </p:cNvPicPr>
          <p:nvPr/>
        </p:nvPicPr>
        <p:blipFill>
          <a:blip r:embed="rId2" cstate="print">
            <a:lum bright="-10000"/>
            <a:extLst>
              <a:ext uri="{28A0092B-C50C-407E-A947-70E740481C1C}">
                <a14:useLocalDpi xmlns:a14="http://schemas.microsoft.com/office/drawing/2010/main" val="0"/>
              </a:ext>
            </a:extLst>
          </a:blip>
          <a:srcRect/>
          <a:stretch>
            <a:fillRect/>
          </a:stretch>
        </p:blipFill>
        <p:spPr bwMode="auto">
          <a:xfrm>
            <a:off x="685800" y="2786063"/>
            <a:ext cx="7550150" cy="34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a:xfrm>
            <a:off x="533400" y="1143000"/>
            <a:ext cx="8077200" cy="1676400"/>
          </a:xfrm>
          <a:prstGeom prst="rect">
            <a:avLst/>
          </a:prstGeom>
        </p:spPr>
        <p:txBody>
          <a:bodyPr/>
          <a:lstStyle>
            <a:lvl1pPr marL="342900" indent="-342900" algn="l" rtl="0" eaLnBrk="0" fontAlgn="base" hangingPunct="0">
              <a:spcBef>
                <a:spcPct val="20000"/>
              </a:spcBef>
              <a:spcAft>
                <a:spcPct val="0"/>
              </a:spcAft>
              <a:buChar char="•"/>
              <a:defRPr sz="2600">
                <a:solidFill>
                  <a:srgbClr val="222222"/>
                </a:solidFill>
                <a:latin typeface="+mn-lt"/>
                <a:ea typeface="+mn-ea"/>
                <a:cs typeface="+mn-cs"/>
              </a:defRPr>
            </a:lvl1pPr>
            <a:lvl2pPr marL="742950" indent="-285750" algn="l" rtl="0" eaLnBrk="0" fontAlgn="base" hangingPunct="0">
              <a:spcBef>
                <a:spcPct val="20000"/>
              </a:spcBef>
              <a:spcAft>
                <a:spcPct val="0"/>
              </a:spcAft>
              <a:buChar char="–"/>
              <a:defRPr sz="2400">
                <a:solidFill>
                  <a:srgbClr val="222222"/>
                </a:solidFill>
                <a:latin typeface="+mn-lt"/>
              </a:defRPr>
            </a:lvl2pPr>
            <a:lvl3pPr marL="1143000" indent="-228600" algn="l" rtl="0" eaLnBrk="0" fontAlgn="base" hangingPunct="0">
              <a:spcBef>
                <a:spcPct val="20000"/>
              </a:spcBef>
              <a:spcAft>
                <a:spcPct val="0"/>
              </a:spcAft>
              <a:buChar char="•"/>
              <a:defRPr sz="2200">
                <a:solidFill>
                  <a:srgbClr val="222222"/>
                </a:solidFill>
                <a:latin typeface="+mn-lt"/>
              </a:defRPr>
            </a:lvl3pPr>
            <a:lvl4pPr marL="1600200" indent="-228600" algn="l" rtl="0" eaLnBrk="0" fontAlgn="base" hangingPunct="0">
              <a:spcBef>
                <a:spcPct val="20000"/>
              </a:spcBef>
              <a:spcAft>
                <a:spcPct val="0"/>
              </a:spcAft>
              <a:buChar char="–"/>
              <a:defRPr sz="2200">
                <a:solidFill>
                  <a:srgbClr val="222222"/>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a:lstStyle>
          <a:p>
            <a:pPr>
              <a:defRPr/>
            </a:pPr>
            <a:r>
              <a:rPr lang="en-US" altLang="en-US" kern="0" dirty="0"/>
              <a:t>Includes four essential</a:t>
            </a:r>
            <a:r>
              <a:rPr lang="en-US" altLang="en-US" b="1" kern="0" dirty="0"/>
              <a:t> </a:t>
            </a:r>
            <a:r>
              <a:rPr lang="en-US" altLang="en-US" kern="0" dirty="0"/>
              <a:t>subsystem managers</a:t>
            </a:r>
          </a:p>
          <a:p>
            <a:pPr lvl="1">
              <a:defRPr/>
            </a:pPr>
            <a:r>
              <a:rPr lang="en-US" altLang="en-US" kern="0" dirty="0"/>
              <a:t>Main Memory Manager, Processor Manager</a:t>
            </a:r>
          </a:p>
          <a:p>
            <a:pPr lvl="1">
              <a:defRPr/>
            </a:pPr>
            <a:r>
              <a:rPr lang="en-US" altLang="en-US" kern="0" dirty="0"/>
              <a:t>Device Manager and File Manager (hard drives)</a:t>
            </a:r>
          </a:p>
        </p:txBody>
      </p:sp>
    </p:spTree>
    <p:extLst>
      <p:ext uri="{BB962C8B-B14F-4D97-AF65-F5344CB8AC3E}">
        <p14:creationId xmlns:p14="http://schemas.microsoft.com/office/powerpoint/2010/main" val="1312362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normAutofit fontScale="90000"/>
          </a:bodyPr>
          <a:lstStyle/>
          <a:p>
            <a:r>
              <a:rPr lang="en-CA" altLang="en-US"/>
              <a:t>Operating System</a:t>
            </a:r>
            <a:r>
              <a:rPr lang="en-US" altLang="en-US"/>
              <a:t> Software (cont'd.)</a:t>
            </a:r>
            <a:endParaRPr lang="en-CA" altLang="en-US"/>
          </a:p>
        </p:txBody>
      </p:sp>
      <p:sp>
        <p:nvSpPr>
          <p:cNvPr id="9221" name="Rectangle 3"/>
          <p:cNvSpPr>
            <a:spLocks noGrp="1" noChangeArrowheads="1"/>
          </p:cNvSpPr>
          <p:nvPr>
            <p:ph idx="1"/>
          </p:nvPr>
        </p:nvSpPr>
        <p:spPr>
          <a:xfrm>
            <a:off x="533400" y="1752600"/>
            <a:ext cx="8077200" cy="4267200"/>
          </a:xfrm>
        </p:spPr>
        <p:txBody>
          <a:bodyPr>
            <a:normAutofit fontScale="92500" lnSpcReduction="10000"/>
          </a:bodyPr>
          <a:lstStyle/>
          <a:p>
            <a:r>
              <a:rPr lang="en-US" altLang="en-US"/>
              <a:t>Each manager:</a:t>
            </a:r>
          </a:p>
          <a:p>
            <a:pPr lvl="1"/>
            <a:r>
              <a:rPr lang="en-US" altLang="en-US"/>
              <a:t>Works closely with other managers</a:t>
            </a:r>
          </a:p>
          <a:p>
            <a:pPr lvl="1"/>
            <a:r>
              <a:rPr lang="en-US" altLang="en-US"/>
              <a:t>Performs a unique role</a:t>
            </a:r>
          </a:p>
          <a:p>
            <a:r>
              <a:rPr lang="en-US" altLang="en-US"/>
              <a:t>Manager tasks</a:t>
            </a:r>
          </a:p>
          <a:p>
            <a:pPr lvl="1"/>
            <a:r>
              <a:rPr lang="en-US" altLang="en-US"/>
              <a:t>Monitor its resources continuously</a:t>
            </a:r>
          </a:p>
          <a:p>
            <a:pPr lvl="1"/>
            <a:r>
              <a:rPr lang="en-US" altLang="en-US"/>
              <a:t>Enforce policies determining:</a:t>
            </a:r>
          </a:p>
          <a:p>
            <a:pPr lvl="2"/>
            <a:r>
              <a:rPr lang="en-US" altLang="en-US"/>
              <a:t> Who gets what, when, and how much</a:t>
            </a:r>
          </a:p>
          <a:p>
            <a:pPr lvl="1"/>
            <a:r>
              <a:rPr lang="en-US" altLang="en-US"/>
              <a:t>Allocate the resource (when appropriate)</a:t>
            </a:r>
          </a:p>
          <a:p>
            <a:pPr lvl="1"/>
            <a:r>
              <a:rPr lang="en-US" altLang="en-US"/>
              <a:t>Deallocate the resource (when appropriate)</a:t>
            </a:r>
          </a:p>
        </p:txBody>
      </p:sp>
      <p:sp>
        <p:nvSpPr>
          <p:cNvPr id="9218"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
        <p:nvSpPr>
          <p:cNvPr id="5" name="Rectangle 6"/>
          <p:cNvSpPr>
            <a:spLocks noGrp="1" noChangeArrowheads="1"/>
          </p:cNvSpPr>
          <p:nvPr>
            <p:ph type="sldNum" sz="quarter" idx="12"/>
          </p:nvPr>
        </p:nvSpPr>
        <p:spPr/>
        <p:txBody>
          <a:bodyPr/>
          <a:lstStyle/>
          <a:p>
            <a:pPr>
              <a:defRPr/>
            </a:pPr>
            <a:fld id="{B99C197C-5D79-4B00-A9B6-29EA7BFB56C1}" type="slidenum">
              <a:rPr lang="en-US"/>
              <a:pPr>
                <a:defRPr/>
              </a:pPr>
              <a:t>17</a:t>
            </a:fld>
            <a:endParaRPr lang="en-US" dirty="0"/>
          </a:p>
        </p:txBody>
      </p:sp>
    </p:spTree>
    <p:extLst>
      <p:ext uri="{BB962C8B-B14F-4D97-AF65-F5344CB8AC3E}">
        <p14:creationId xmlns:p14="http://schemas.microsoft.com/office/powerpoint/2010/main" val="642701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274638"/>
            <a:ext cx="8229600" cy="922114"/>
          </a:xfrm>
        </p:spPr>
        <p:txBody>
          <a:bodyPr/>
          <a:lstStyle/>
          <a:p>
            <a:r>
              <a:rPr lang="en-US" altLang="en-US" dirty="0"/>
              <a:t>Design Considerations</a:t>
            </a:r>
          </a:p>
        </p:txBody>
      </p:sp>
      <p:sp>
        <p:nvSpPr>
          <p:cNvPr id="48131" name="Content Placeholder 2"/>
          <p:cNvSpPr>
            <a:spLocks noGrp="1"/>
          </p:cNvSpPr>
          <p:nvPr>
            <p:ph idx="1"/>
          </p:nvPr>
        </p:nvSpPr>
        <p:spPr>
          <a:xfrm>
            <a:off x="457200" y="1340768"/>
            <a:ext cx="8229600" cy="4968552"/>
          </a:xfrm>
        </p:spPr>
        <p:txBody>
          <a:bodyPr>
            <a:normAutofit lnSpcReduction="10000"/>
          </a:bodyPr>
          <a:lstStyle/>
          <a:p>
            <a:r>
              <a:rPr lang="en-US" altLang="en-US" dirty="0"/>
              <a:t>Most common overall goal</a:t>
            </a:r>
          </a:p>
          <a:p>
            <a:pPr lvl="1"/>
            <a:r>
              <a:rPr lang="en-US" altLang="en-US" b="1" dirty="0"/>
              <a:t>Maximize use of the system’s resources</a:t>
            </a:r>
          </a:p>
          <a:p>
            <a:pPr lvl="1"/>
            <a:r>
              <a:rPr lang="en-US" altLang="en-US" b="1" dirty="0" err="1"/>
              <a:t>Maximise</a:t>
            </a:r>
            <a:r>
              <a:rPr lang="en-US" altLang="en-US" b="1" dirty="0"/>
              <a:t> throughput </a:t>
            </a:r>
            <a:r>
              <a:rPr lang="en-US" altLang="en-US" dirty="0"/>
              <a:t> (memory, processing…)</a:t>
            </a:r>
          </a:p>
          <a:p>
            <a:pPr lvl="1"/>
            <a:r>
              <a:rPr lang="en-US" altLang="en-US" b="1" dirty="0"/>
              <a:t>Minimize downtime</a:t>
            </a:r>
          </a:p>
          <a:p>
            <a:r>
              <a:rPr lang="en-US" altLang="en-US" dirty="0"/>
              <a:t>Factors included in developmental efforts</a:t>
            </a:r>
          </a:p>
          <a:p>
            <a:pPr lvl="1"/>
            <a:r>
              <a:rPr lang="en-US" altLang="en-US" dirty="0"/>
              <a:t>RAM resources</a:t>
            </a:r>
          </a:p>
          <a:p>
            <a:pPr lvl="1"/>
            <a:r>
              <a:rPr lang="en-US" altLang="en-US" dirty="0"/>
              <a:t>CPUs: number and type available</a:t>
            </a:r>
          </a:p>
          <a:p>
            <a:pPr lvl="1"/>
            <a:r>
              <a:rPr lang="en-US" altLang="en-US" dirty="0"/>
              <a:t>Peripheral devices: variety likely to be connected</a:t>
            </a:r>
          </a:p>
          <a:p>
            <a:pPr lvl="1"/>
            <a:r>
              <a:rPr lang="en-US" altLang="en-US" dirty="0"/>
              <a:t>Networking capability</a:t>
            </a:r>
          </a:p>
          <a:p>
            <a:pPr lvl="1"/>
            <a:r>
              <a:rPr lang="en-US" altLang="en-US" dirty="0"/>
              <a:t>Security requirements, etc.</a:t>
            </a:r>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r>
              <a:rPr lang="en-US" altLang="en-US" sz="1400" dirty="0">
                <a:solidFill>
                  <a:srgbClr val="222222"/>
                </a:solidFill>
                <a:latin typeface="Arial" pitchFamily="34" charset="0"/>
              </a:rPr>
              <a:t>Understanding Operating Systems</a:t>
            </a:r>
          </a:p>
        </p:txBody>
      </p:sp>
      <p:sp>
        <p:nvSpPr>
          <p:cNvPr id="5" name="Slide Number Placeholder 4"/>
          <p:cNvSpPr>
            <a:spLocks noGrp="1"/>
          </p:cNvSpPr>
          <p:nvPr>
            <p:ph type="sldNum" sz="quarter" idx="12"/>
          </p:nvPr>
        </p:nvSpPr>
        <p:spPr/>
        <p:txBody>
          <a:bodyPr/>
          <a:lstStyle/>
          <a:p>
            <a:pPr>
              <a:defRPr/>
            </a:pPr>
            <a:fld id="{EAFFBA64-4F17-4504-9289-19E8587B0211}" type="slidenum">
              <a:rPr lang="en-US" smtClean="0"/>
              <a:pPr>
                <a:defRPr/>
              </a:pPr>
              <a:t>18</a:t>
            </a:fld>
            <a:endParaRPr lang="en-US" dirty="0"/>
          </a:p>
        </p:txBody>
      </p:sp>
    </p:spTree>
    <p:extLst>
      <p:ext uri="{BB962C8B-B14F-4D97-AF65-F5344CB8AC3E}">
        <p14:creationId xmlns:p14="http://schemas.microsoft.com/office/powerpoint/2010/main" val="280985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Potential Exam Questions</a:t>
            </a:r>
          </a:p>
        </p:txBody>
      </p:sp>
      <p:sp>
        <p:nvSpPr>
          <p:cNvPr id="3" name="Content Placeholder 2"/>
          <p:cNvSpPr>
            <a:spLocks noGrp="1"/>
          </p:cNvSpPr>
          <p:nvPr>
            <p:ph idx="1"/>
          </p:nvPr>
        </p:nvSpPr>
        <p:spPr/>
        <p:txBody>
          <a:bodyPr>
            <a:normAutofit/>
          </a:bodyPr>
          <a:lstStyle/>
          <a:p>
            <a:r>
              <a:rPr lang="en-IE" dirty="0"/>
              <a:t>What parts of the L.M.C. correspond to the elements of the Von Neumann architecture 							</a:t>
            </a:r>
            <a:r>
              <a:rPr lang="en-IE" b="1" dirty="0"/>
              <a:t>(4 marks)</a:t>
            </a:r>
            <a:r>
              <a:rPr lang="en-IE" dirty="0"/>
              <a:t> </a:t>
            </a:r>
          </a:p>
          <a:p>
            <a:r>
              <a:rPr lang="en-IE" dirty="0"/>
              <a:t>Describe how the LMC performs the Fetch and execute cycle 					</a:t>
            </a:r>
            <a:r>
              <a:rPr lang="en-IE" b="1" dirty="0"/>
              <a:t>(8 marks)</a:t>
            </a:r>
          </a:p>
          <a:p>
            <a:endParaRPr lang="en-IE" b="1" dirty="0"/>
          </a:p>
          <a:p>
            <a:pPr lvl="1"/>
            <a:endParaRPr lang="en-IE" dirty="0"/>
          </a:p>
        </p:txBody>
      </p:sp>
    </p:spTree>
    <p:extLst>
      <p:ext uri="{BB962C8B-B14F-4D97-AF65-F5344CB8AC3E}">
        <p14:creationId xmlns:p14="http://schemas.microsoft.com/office/powerpoint/2010/main" val="1180480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IE" dirty="0"/>
              <a:t>Setting up </a:t>
            </a:r>
            <a:r>
              <a:rPr lang="en-IE" dirty="0" err="1"/>
              <a:t>linux</a:t>
            </a:r>
            <a:r>
              <a:rPr lang="en-IE" dirty="0"/>
              <a:t> in the labs</a:t>
            </a:r>
          </a:p>
        </p:txBody>
      </p:sp>
      <p:sp>
        <p:nvSpPr>
          <p:cNvPr id="3" name="Content Placeholder 2"/>
          <p:cNvSpPr>
            <a:spLocks noGrp="1"/>
          </p:cNvSpPr>
          <p:nvPr>
            <p:ph idx="1"/>
          </p:nvPr>
        </p:nvSpPr>
        <p:spPr>
          <a:xfrm>
            <a:off x="457200" y="1268760"/>
            <a:ext cx="8229600" cy="5112568"/>
          </a:xfrm>
        </p:spPr>
        <p:txBody>
          <a:bodyPr>
            <a:normAutofit fontScale="92500"/>
          </a:bodyPr>
          <a:lstStyle/>
          <a:p>
            <a:r>
              <a:rPr lang="en-IE" dirty="0"/>
              <a:t>The </a:t>
            </a:r>
            <a:r>
              <a:rPr lang="en-IE" dirty="0" err="1"/>
              <a:t>linux</a:t>
            </a:r>
            <a:r>
              <a:rPr lang="en-IE" dirty="0"/>
              <a:t> IP </a:t>
            </a:r>
            <a:r>
              <a:rPr lang="en-IE" dirty="0" err="1"/>
              <a:t>addess</a:t>
            </a:r>
            <a:r>
              <a:rPr lang="en-IE" dirty="0"/>
              <a:t> is: 147.252.250.34</a:t>
            </a:r>
          </a:p>
          <a:p>
            <a:pPr lvl="1"/>
            <a:r>
              <a:rPr lang="en-IE" dirty="0"/>
              <a:t>Use putty to ssh to server/ ssh via </a:t>
            </a:r>
            <a:r>
              <a:rPr lang="en-IE" dirty="0" err="1"/>
              <a:t>cmd</a:t>
            </a:r>
            <a:r>
              <a:rPr lang="en-IE" dirty="0"/>
              <a:t> window</a:t>
            </a:r>
          </a:p>
          <a:p>
            <a:pPr lvl="1"/>
            <a:r>
              <a:rPr lang="en-IE" dirty="0"/>
              <a:t>Enter  your user-name and password you use on the lab desktops</a:t>
            </a:r>
          </a:p>
          <a:p>
            <a:pPr lvl="1"/>
            <a:r>
              <a:rPr lang="en-IE" dirty="0"/>
              <a:t>Ubuntu app or </a:t>
            </a:r>
          </a:p>
          <a:p>
            <a:pPr lvl="1"/>
            <a:r>
              <a:rPr lang="en-IE" dirty="0"/>
              <a:t>Virtual machine (a basic </a:t>
            </a:r>
            <a:r>
              <a:rPr lang="en-IE" dirty="0" err="1"/>
              <a:t>ubtunu</a:t>
            </a:r>
            <a:r>
              <a:rPr lang="en-IE" dirty="0"/>
              <a:t> VM is on Brightspace</a:t>
            </a:r>
            <a:r>
              <a:rPr lang="en-IE"/>
              <a:t>)  </a:t>
            </a:r>
            <a:endParaRPr lang="en-IE" dirty="0"/>
          </a:p>
          <a:p>
            <a:r>
              <a:rPr lang="en-IE" dirty="0"/>
              <a:t>Lab 1: Create a file called </a:t>
            </a:r>
            <a:r>
              <a:rPr lang="en-IE" dirty="0" err="1"/>
              <a:t>HelloWorld.c</a:t>
            </a:r>
            <a:r>
              <a:rPr lang="en-IE" dirty="0"/>
              <a:t> using the vi/nano text editor. (refer to instructions given in the lab section of </a:t>
            </a:r>
            <a:r>
              <a:rPr lang="en-IE" dirty="0" err="1"/>
              <a:t>brightspace</a:t>
            </a:r>
            <a:r>
              <a:rPr lang="en-IE" dirty="0"/>
              <a:t>)</a:t>
            </a:r>
          </a:p>
          <a:p>
            <a:r>
              <a:rPr lang="en-IE" dirty="0"/>
              <a:t>Any issues?    </a:t>
            </a:r>
          </a:p>
        </p:txBody>
      </p:sp>
    </p:spTree>
    <p:extLst>
      <p:ext uri="{BB962C8B-B14F-4D97-AF65-F5344CB8AC3E}">
        <p14:creationId xmlns:p14="http://schemas.microsoft.com/office/powerpoint/2010/main" val="2025082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9283e230-89c0-4638-afb1-087a4403b0f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TotalTime>
  <Words>862</Words>
  <Application>Microsoft Office PowerPoint</Application>
  <PresentationFormat>On-screen Show (4:3)</PresentationFormat>
  <Paragraphs>152</Paragraphs>
  <Slides>20</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20</vt:i4>
      </vt:variant>
    </vt:vector>
  </HeadingPairs>
  <TitlesOfParts>
    <vt:vector size="25" baseType="lpstr">
      <vt:lpstr>Arial</vt:lpstr>
      <vt:lpstr>Calibri</vt:lpstr>
      <vt:lpstr>Tahoma</vt:lpstr>
      <vt:lpstr>Times New Roman</vt:lpstr>
      <vt:lpstr>Office Theme</vt:lpstr>
      <vt:lpstr>Review of the basic of Computer architecture and Operating system</vt:lpstr>
      <vt:lpstr>von Neumann Architecture (1945)</vt:lpstr>
      <vt:lpstr>Von Neumann Architecture</vt:lpstr>
      <vt:lpstr>PowerPoint Presentation</vt:lpstr>
      <vt:lpstr>Contents of Memory locations</vt:lpstr>
      <vt:lpstr>Sample Machine code Instruction Set</vt:lpstr>
      <vt:lpstr>Instruction Cycle</vt:lpstr>
      <vt:lpstr>Fetch Portion of Fetch and Execute Cycle</vt:lpstr>
      <vt:lpstr>Fetch, cont.</vt:lpstr>
      <vt:lpstr>Execute Portion</vt:lpstr>
      <vt:lpstr>Execute Portion (LDA)</vt:lpstr>
      <vt:lpstr>Execute, cont. </vt:lpstr>
      <vt:lpstr>An O.S. Architecture</vt:lpstr>
      <vt:lpstr>An O.S. Architecture</vt:lpstr>
      <vt:lpstr>What is an Operating System?</vt:lpstr>
      <vt:lpstr>Operating System Software</vt:lpstr>
      <vt:lpstr>Operating System Software (cont'd.)</vt:lpstr>
      <vt:lpstr>Design Considerations</vt:lpstr>
      <vt:lpstr>Potential Exam Questions</vt:lpstr>
      <vt:lpstr>Setting up linux in the labs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O.S. basics</dc:title>
  <dc:creator>denis</dc:creator>
  <cp:lastModifiedBy>Denis Manley</cp:lastModifiedBy>
  <cp:revision>44</cp:revision>
  <dcterms:created xsi:type="dcterms:W3CDTF">2016-01-22T21:20:27Z</dcterms:created>
  <dcterms:modified xsi:type="dcterms:W3CDTF">2024-09-09T14:49:41Z</dcterms:modified>
</cp:coreProperties>
</file>