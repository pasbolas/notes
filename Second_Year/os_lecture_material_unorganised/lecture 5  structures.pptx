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9" r:id="rId11"/>
    <p:sldId id="268" r:id="rId12"/>
    <p:sldId id="266" r:id="rId13"/>
    <p:sldId id="267" r:id="rId14"/>
    <p:sldId id="265" r:id="rId15"/>
  </p:sldIdLst>
  <p:sldSz cx="9144000" cy="6858000" type="screen4x3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562" y="4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nis Manley" userId="445117d2-14a5-4c3e-af19-f1006b049bb1" providerId="ADAL" clId="{575BF679-2FAF-4C88-BA8D-8EF6ECB65EB7}"/>
    <pc:docChg chg="custSel replTag delTag">
      <pc:chgData name="Denis Manley" userId="445117d2-14a5-4c3e-af19-f1006b049bb1" providerId="ADAL" clId="{575BF679-2FAF-4C88-BA8D-8EF6ECB65EB7}" dt="2023-09-29T14:48:12.866" v="3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5F0F-0907-4668-9490-27B21B6CDAE4}" type="datetimeFigureOut">
              <a:rPr lang="en-IE" smtClean="0"/>
              <a:t>29/09/2023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DF2D-2CCC-4DAF-8DFC-A15D12DB973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81745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5F0F-0907-4668-9490-27B21B6CDAE4}" type="datetimeFigureOut">
              <a:rPr lang="en-IE" smtClean="0"/>
              <a:t>29/09/2023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DF2D-2CCC-4DAF-8DFC-A15D12DB973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19315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5F0F-0907-4668-9490-27B21B6CDAE4}" type="datetimeFigureOut">
              <a:rPr lang="en-IE" smtClean="0"/>
              <a:t>29/09/2023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DF2D-2CCC-4DAF-8DFC-A15D12DB973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64489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5F0F-0907-4668-9490-27B21B6CDAE4}" type="datetimeFigureOut">
              <a:rPr lang="en-IE" smtClean="0"/>
              <a:t>29/09/2023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DF2D-2CCC-4DAF-8DFC-A15D12DB973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44440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5F0F-0907-4668-9490-27B21B6CDAE4}" type="datetimeFigureOut">
              <a:rPr lang="en-IE" smtClean="0"/>
              <a:t>29/09/2023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DF2D-2CCC-4DAF-8DFC-A15D12DB973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67831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5F0F-0907-4668-9490-27B21B6CDAE4}" type="datetimeFigureOut">
              <a:rPr lang="en-IE" smtClean="0"/>
              <a:t>29/09/2023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DF2D-2CCC-4DAF-8DFC-A15D12DB973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0297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5F0F-0907-4668-9490-27B21B6CDAE4}" type="datetimeFigureOut">
              <a:rPr lang="en-IE" smtClean="0"/>
              <a:t>29/09/2023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DF2D-2CCC-4DAF-8DFC-A15D12DB973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22892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5F0F-0907-4668-9490-27B21B6CDAE4}" type="datetimeFigureOut">
              <a:rPr lang="en-IE" smtClean="0"/>
              <a:t>29/09/2023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DF2D-2CCC-4DAF-8DFC-A15D12DB973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52906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5F0F-0907-4668-9490-27B21B6CDAE4}" type="datetimeFigureOut">
              <a:rPr lang="en-IE" smtClean="0"/>
              <a:t>29/09/2023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DF2D-2CCC-4DAF-8DFC-A15D12DB973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46504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5F0F-0907-4668-9490-27B21B6CDAE4}" type="datetimeFigureOut">
              <a:rPr lang="en-IE" smtClean="0"/>
              <a:t>29/09/2023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DF2D-2CCC-4DAF-8DFC-A15D12DB973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24825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5F0F-0907-4668-9490-27B21B6CDAE4}" type="datetimeFigureOut">
              <a:rPr lang="en-IE" smtClean="0"/>
              <a:t>29/09/2023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CDF2D-2CCC-4DAF-8DFC-A15D12DB973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47718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865F0F-0907-4668-9490-27B21B6CDAE4}" type="datetimeFigureOut">
              <a:rPr lang="en-IE" smtClean="0"/>
              <a:t>29/09/2023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CDF2D-2CCC-4DAF-8DFC-A15D12DB973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1171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Structures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Lecture 5</a:t>
            </a:r>
          </a:p>
        </p:txBody>
      </p:sp>
    </p:spTree>
    <p:extLst>
      <p:ext uri="{BB962C8B-B14F-4D97-AF65-F5344CB8AC3E}">
        <p14:creationId xmlns:p14="http://schemas.microsoft.com/office/powerpoint/2010/main" val="319538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IE" dirty="0"/>
              <a:t>Structures (a record)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616624"/>
          </a:xfrm>
        </p:spPr>
        <p:txBody>
          <a:bodyPr>
            <a:normAutofit fontScale="92500" lnSpcReduction="20000"/>
          </a:bodyPr>
          <a:lstStyle/>
          <a:p>
            <a:pPr>
              <a:buFontTx/>
              <a:buNone/>
            </a:pPr>
            <a:r>
              <a:rPr lang="en-GB" altLang="en-US" dirty="0"/>
              <a:t>A structure is a </a:t>
            </a:r>
            <a:r>
              <a:rPr lang="en-GB" altLang="en-US" i="1" dirty="0"/>
              <a:t>user defined heterogeneous</a:t>
            </a:r>
            <a:r>
              <a:rPr lang="en-GB" altLang="en-US" dirty="0"/>
              <a:t> data structure; e.g. </a:t>
            </a:r>
          </a:p>
          <a:p>
            <a:pPr lvl="1">
              <a:buFontTx/>
              <a:buNone/>
            </a:pPr>
            <a:r>
              <a:rPr lang="en-GB" altLang="en-US" dirty="0" err="1"/>
              <a:t>struct</a:t>
            </a:r>
            <a:r>
              <a:rPr lang="en-GB" altLang="en-US" dirty="0"/>
              <a:t> personnel 	/* Structure template for employee */</a:t>
            </a:r>
          </a:p>
          <a:p>
            <a:pPr lvl="1">
              <a:buFontTx/>
              <a:buNone/>
            </a:pPr>
            <a:r>
              <a:rPr lang="en-GB" altLang="en-US" dirty="0"/>
              <a:t>{</a:t>
            </a:r>
          </a:p>
          <a:p>
            <a:pPr lvl="1">
              <a:buFontTx/>
              <a:buNone/>
            </a:pPr>
            <a:r>
              <a:rPr lang="en-GB" altLang="en-US" dirty="0"/>
              <a:t>	</a:t>
            </a:r>
            <a:r>
              <a:rPr lang="en-GB" altLang="en-US" dirty="0" err="1"/>
              <a:t>int</a:t>
            </a:r>
            <a:r>
              <a:rPr lang="en-GB" altLang="en-US" dirty="0"/>
              <a:t> number;</a:t>
            </a:r>
          </a:p>
          <a:p>
            <a:pPr lvl="1">
              <a:buFontTx/>
              <a:buNone/>
            </a:pPr>
            <a:r>
              <a:rPr lang="en-GB" altLang="en-US" dirty="0"/>
              <a:t>	char surname[26];</a:t>
            </a:r>
          </a:p>
          <a:p>
            <a:pPr lvl="1">
              <a:buFontTx/>
              <a:buNone/>
            </a:pPr>
            <a:r>
              <a:rPr lang="en-GB" altLang="en-US" dirty="0"/>
              <a:t>	char initial;</a:t>
            </a:r>
          </a:p>
          <a:p>
            <a:pPr lvl="1">
              <a:buFontTx/>
              <a:buNone/>
            </a:pPr>
            <a:r>
              <a:rPr lang="en-GB" altLang="en-US" dirty="0"/>
              <a:t>	char  dob [8];</a:t>
            </a:r>
          </a:p>
          <a:p>
            <a:pPr lvl="1">
              <a:buFontTx/>
              <a:buNone/>
            </a:pPr>
            <a:r>
              <a:rPr lang="en-GB" altLang="en-US" dirty="0"/>
              <a:t>	</a:t>
            </a:r>
            <a:r>
              <a:rPr lang="en-GB" altLang="en-US" dirty="0" err="1"/>
              <a:t>int</a:t>
            </a:r>
            <a:r>
              <a:rPr lang="en-GB" altLang="en-US" dirty="0"/>
              <a:t> </a:t>
            </a:r>
            <a:r>
              <a:rPr lang="en-GB" altLang="en-US" dirty="0" err="1"/>
              <a:t>dept</a:t>
            </a:r>
            <a:r>
              <a:rPr lang="en-GB" altLang="en-US" dirty="0"/>
              <a:t>;</a:t>
            </a:r>
          </a:p>
          <a:p>
            <a:pPr lvl="1">
              <a:buFontTx/>
              <a:buNone/>
            </a:pPr>
            <a:r>
              <a:rPr lang="en-GB" altLang="en-US" dirty="0"/>
              <a:t>	char </a:t>
            </a:r>
            <a:r>
              <a:rPr lang="en-GB" altLang="en-US" dirty="0" err="1"/>
              <a:t>date_joined</a:t>
            </a:r>
            <a:r>
              <a:rPr lang="en-GB" altLang="en-US" dirty="0"/>
              <a:t> [8];</a:t>
            </a:r>
          </a:p>
          <a:p>
            <a:pPr lvl="1">
              <a:buFontTx/>
              <a:buNone/>
            </a:pPr>
            <a:r>
              <a:rPr lang="en-GB" altLang="en-US" dirty="0"/>
              <a:t>}; </a:t>
            </a:r>
            <a:r>
              <a:rPr lang="en-GB" altLang="en-US" i="1" dirty="0" err="1"/>
              <a:t>typedef</a:t>
            </a:r>
            <a:r>
              <a:rPr lang="en-GB" altLang="en-US" dirty="0"/>
              <a:t> </a:t>
            </a:r>
            <a:r>
              <a:rPr lang="en-GB" altLang="en-US" dirty="0" err="1"/>
              <a:t>struct</a:t>
            </a:r>
            <a:r>
              <a:rPr lang="en-GB" altLang="en-US" dirty="0"/>
              <a:t> personnel </a:t>
            </a:r>
            <a:r>
              <a:rPr lang="en-GB" altLang="en-US" dirty="0" err="1"/>
              <a:t>Personnel</a:t>
            </a:r>
            <a:endParaRPr lang="en-GB" altLang="en-US" dirty="0"/>
          </a:p>
          <a:p>
            <a:pPr>
              <a:buFontTx/>
              <a:buNone/>
            </a:pPr>
            <a:r>
              <a:rPr lang="en-GB" altLang="en-US" dirty="0"/>
              <a:t>// declare a variable for a structure </a:t>
            </a:r>
          </a:p>
          <a:p>
            <a:pPr>
              <a:buFontTx/>
              <a:buNone/>
            </a:pPr>
            <a:r>
              <a:rPr lang="en-GB" altLang="en-US" dirty="0"/>
              <a:t>Personnel person;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09692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IE" dirty="0"/>
              <a:t>Nested structures and pointers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400600"/>
          </a:xfrm>
        </p:spPr>
        <p:txBody>
          <a:bodyPr>
            <a:normAutofit fontScale="85000" lnSpcReduction="20000"/>
          </a:bodyPr>
          <a:lstStyle/>
          <a:p>
            <a:pPr>
              <a:buFontTx/>
              <a:buNone/>
            </a:pPr>
            <a:r>
              <a:rPr lang="en-GB" altLang="en-US" sz="2300" dirty="0" err="1"/>
              <a:t>struct</a:t>
            </a:r>
            <a:r>
              <a:rPr lang="en-GB" altLang="en-US" sz="2300" dirty="0"/>
              <a:t> date		/* Structure template for a date */</a:t>
            </a:r>
          </a:p>
          <a:p>
            <a:pPr>
              <a:buFontTx/>
              <a:buNone/>
            </a:pPr>
            <a:r>
              <a:rPr lang="en-GB" altLang="en-US" sz="2300" dirty="0"/>
              <a:t>{</a:t>
            </a:r>
          </a:p>
          <a:p>
            <a:pPr>
              <a:buFontTx/>
              <a:buNone/>
            </a:pPr>
            <a:r>
              <a:rPr lang="en-GB" altLang="en-US" sz="2300" dirty="0"/>
              <a:t>	</a:t>
            </a:r>
            <a:r>
              <a:rPr lang="en-GB" altLang="en-US" sz="2300" dirty="0" err="1"/>
              <a:t>int</a:t>
            </a:r>
            <a:r>
              <a:rPr lang="en-GB" altLang="en-US" sz="2300" dirty="0"/>
              <a:t> day;</a:t>
            </a:r>
          </a:p>
          <a:p>
            <a:pPr>
              <a:buFontTx/>
              <a:buNone/>
            </a:pPr>
            <a:r>
              <a:rPr lang="en-GB" altLang="en-US" sz="2300" dirty="0"/>
              <a:t>	</a:t>
            </a:r>
            <a:r>
              <a:rPr lang="en-GB" altLang="en-US" sz="2300" dirty="0" err="1"/>
              <a:t>int</a:t>
            </a:r>
            <a:r>
              <a:rPr lang="en-GB" altLang="en-US" sz="2300" dirty="0"/>
              <a:t> month;</a:t>
            </a:r>
          </a:p>
          <a:p>
            <a:pPr>
              <a:buFontTx/>
              <a:buNone/>
            </a:pPr>
            <a:r>
              <a:rPr lang="en-GB" altLang="en-US" sz="2300" dirty="0"/>
              <a:t>	</a:t>
            </a:r>
            <a:r>
              <a:rPr lang="en-GB" altLang="en-US" sz="2300" dirty="0" err="1"/>
              <a:t>int</a:t>
            </a:r>
            <a:r>
              <a:rPr lang="en-GB" altLang="en-US" sz="2300" dirty="0"/>
              <a:t> year;</a:t>
            </a:r>
          </a:p>
          <a:p>
            <a:pPr>
              <a:buFontTx/>
              <a:buNone/>
            </a:pPr>
            <a:r>
              <a:rPr lang="en-GB" altLang="en-US" sz="2300" dirty="0"/>
              <a:t>}; </a:t>
            </a:r>
          </a:p>
          <a:p>
            <a:pPr>
              <a:buFontTx/>
              <a:buNone/>
            </a:pPr>
            <a:endParaRPr lang="en-GB" altLang="en-US" sz="2600" dirty="0"/>
          </a:p>
          <a:p>
            <a:pPr>
              <a:buFontTx/>
              <a:buNone/>
            </a:pPr>
            <a:r>
              <a:rPr lang="en-GB" altLang="en-US" sz="2100" dirty="0" err="1"/>
              <a:t>struct</a:t>
            </a:r>
            <a:r>
              <a:rPr lang="en-GB" altLang="en-US" sz="2100" dirty="0"/>
              <a:t> personnel 	/* Structure template for employee */</a:t>
            </a:r>
          </a:p>
          <a:p>
            <a:pPr>
              <a:buFontTx/>
              <a:buNone/>
            </a:pPr>
            <a:r>
              <a:rPr lang="en-GB" altLang="en-US" sz="2100" dirty="0"/>
              <a:t>{</a:t>
            </a:r>
          </a:p>
          <a:p>
            <a:pPr>
              <a:buFontTx/>
              <a:buNone/>
            </a:pPr>
            <a:r>
              <a:rPr lang="en-GB" altLang="en-US" sz="2100" dirty="0"/>
              <a:t>	</a:t>
            </a:r>
            <a:r>
              <a:rPr lang="en-GB" altLang="en-US" sz="2100" dirty="0" err="1"/>
              <a:t>int</a:t>
            </a:r>
            <a:r>
              <a:rPr lang="en-GB" altLang="en-US" sz="2100" dirty="0"/>
              <a:t> number;</a:t>
            </a:r>
          </a:p>
          <a:p>
            <a:pPr>
              <a:buFontTx/>
              <a:buNone/>
            </a:pPr>
            <a:r>
              <a:rPr lang="en-GB" altLang="en-US" sz="2100" dirty="0"/>
              <a:t>	char surname[26];</a:t>
            </a:r>
          </a:p>
          <a:p>
            <a:pPr>
              <a:buFontTx/>
              <a:buNone/>
            </a:pPr>
            <a:r>
              <a:rPr lang="en-GB" altLang="en-US" sz="2100" dirty="0"/>
              <a:t>	char initial;</a:t>
            </a:r>
          </a:p>
          <a:p>
            <a:pPr>
              <a:buFontTx/>
              <a:buNone/>
            </a:pPr>
            <a:r>
              <a:rPr lang="en-GB" altLang="en-US" sz="2100" dirty="0"/>
              <a:t>	</a:t>
            </a:r>
            <a:r>
              <a:rPr lang="en-GB" altLang="en-US" sz="2100" b="1" dirty="0" err="1"/>
              <a:t>struct</a:t>
            </a:r>
            <a:r>
              <a:rPr lang="en-GB" altLang="en-US" sz="2100" b="1" dirty="0"/>
              <a:t> date dob;</a:t>
            </a:r>
          </a:p>
          <a:p>
            <a:pPr>
              <a:buFontTx/>
              <a:buNone/>
            </a:pPr>
            <a:r>
              <a:rPr lang="en-GB" altLang="en-US" sz="2100" dirty="0"/>
              <a:t>	</a:t>
            </a:r>
            <a:r>
              <a:rPr lang="en-GB" altLang="en-US" sz="2100" dirty="0" err="1"/>
              <a:t>int</a:t>
            </a:r>
            <a:r>
              <a:rPr lang="en-GB" altLang="en-US" sz="2100" dirty="0"/>
              <a:t> </a:t>
            </a:r>
            <a:r>
              <a:rPr lang="en-GB" altLang="en-US" sz="2100" dirty="0" err="1"/>
              <a:t>dept</a:t>
            </a:r>
            <a:r>
              <a:rPr lang="en-GB" altLang="en-US" sz="2100" dirty="0"/>
              <a:t>;</a:t>
            </a:r>
          </a:p>
          <a:p>
            <a:pPr>
              <a:buFontTx/>
              <a:buNone/>
            </a:pPr>
            <a:r>
              <a:rPr lang="en-GB" altLang="en-US" sz="2100" dirty="0"/>
              <a:t>	</a:t>
            </a:r>
            <a:r>
              <a:rPr lang="en-GB" altLang="en-US" sz="2100" dirty="0" err="1"/>
              <a:t>struct</a:t>
            </a:r>
            <a:r>
              <a:rPr lang="en-GB" altLang="en-US" sz="2100" dirty="0"/>
              <a:t> date joined;</a:t>
            </a:r>
          </a:p>
          <a:p>
            <a:pPr>
              <a:buFontTx/>
              <a:buNone/>
            </a:pPr>
            <a:r>
              <a:rPr lang="en-GB" altLang="en-US" sz="2100" dirty="0"/>
              <a:t>}; </a:t>
            </a:r>
            <a:r>
              <a:rPr lang="en-GB" altLang="en-US" sz="2100" dirty="0" err="1"/>
              <a:t>typedef</a:t>
            </a:r>
            <a:r>
              <a:rPr lang="en-GB" altLang="en-US" sz="2100" dirty="0"/>
              <a:t> </a:t>
            </a:r>
            <a:r>
              <a:rPr lang="en-GB" altLang="en-US" sz="2100" dirty="0" err="1"/>
              <a:t>struct</a:t>
            </a:r>
            <a:r>
              <a:rPr lang="en-GB" altLang="en-US" sz="2100" dirty="0"/>
              <a:t> personnel as Personnel</a:t>
            </a:r>
          </a:p>
          <a:p>
            <a:pPr>
              <a:buNone/>
            </a:pPr>
            <a:r>
              <a:rPr lang="en-GB" altLang="en-US" sz="2000" dirty="0"/>
              <a:t>Personnel  person;  //</a:t>
            </a:r>
            <a:r>
              <a:rPr lang="en-GB" altLang="en-US" sz="2000" b="1" dirty="0"/>
              <a:t> declaring a variable to a structure</a:t>
            </a:r>
          </a:p>
          <a:p>
            <a:pPr>
              <a:buNone/>
            </a:pPr>
            <a:r>
              <a:rPr lang="en-GB" altLang="en-US" sz="2400" dirty="0"/>
              <a:t>Personnel *</a:t>
            </a:r>
            <a:r>
              <a:rPr lang="en-GB" altLang="en-US" sz="2400" dirty="0" err="1"/>
              <a:t>ptr</a:t>
            </a:r>
            <a:r>
              <a:rPr lang="en-GB" altLang="en-US" sz="2400" b="1" dirty="0"/>
              <a:t>;   //declaring a pointer to a structure </a:t>
            </a:r>
          </a:p>
          <a:p>
            <a:pPr>
              <a:buFontTx/>
              <a:buNone/>
            </a:pPr>
            <a:endParaRPr lang="en-GB" altLang="en-US" sz="2600" dirty="0"/>
          </a:p>
          <a:p>
            <a:pPr>
              <a:buFontTx/>
              <a:buNone/>
            </a:pPr>
            <a:endParaRPr lang="en-GB" altLang="en-US" sz="2600" dirty="0"/>
          </a:p>
          <a:p>
            <a:pPr marL="0" indent="0">
              <a:buNone/>
            </a:pPr>
            <a:endParaRPr lang="en-IE" b="1" dirty="0"/>
          </a:p>
        </p:txBody>
      </p:sp>
    </p:spTree>
    <p:extLst>
      <p:ext uri="{BB962C8B-B14F-4D97-AF65-F5344CB8AC3E}">
        <p14:creationId xmlns:p14="http://schemas.microsoft.com/office/powerpoint/2010/main" val="2793147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IE" dirty="0"/>
              <a:t>Using structure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 lnSpcReduction="10000"/>
          </a:bodyPr>
          <a:lstStyle/>
          <a:p>
            <a:r>
              <a:rPr lang="en-GB" altLang="en-US" sz="2800" dirty="0"/>
              <a:t>The following are examples of accessing fields</a:t>
            </a:r>
          </a:p>
          <a:p>
            <a:r>
              <a:rPr lang="en-GB" altLang="en-US" sz="2800" dirty="0"/>
              <a:t>Using the (dot) . operator  </a:t>
            </a:r>
          </a:p>
          <a:p>
            <a:pPr lvl="1"/>
            <a:r>
              <a:rPr lang="en-GB" altLang="en-US" dirty="0" err="1"/>
              <a:t>person.surname</a:t>
            </a:r>
            <a:r>
              <a:rPr lang="en-GB" altLang="en-US" dirty="0"/>
              <a:t>  // it’s a string (a primary field)</a:t>
            </a:r>
          </a:p>
          <a:p>
            <a:pPr lvl="1"/>
            <a:r>
              <a:rPr lang="en-GB" altLang="en-US" dirty="0" err="1"/>
              <a:t>person.dob.day</a:t>
            </a:r>
            <a:r>
              <a:rPr lang="en-GB" altLang="en-US" dirty="0"/>
              <a:t>  // a field of a nested structure</a:t>
            </a:r>
          </a:p>
          <a:p>
            <a:pPr lvl="1"/>
            <a:r>
              <a:rPr lang="en-GB" altLang="en-US" dirty="0" err="1"/>
              <a:t>person.dept</a:t>
            </a:r>
            <a:endParaRPr lang="en-GB" altLang="en-US" dirty="0"/>
          </a:p>
          <a:p>
            <a:endParaRPr lang="en-GB" altLang="en-US" sz="2800" dirty="0"/>
          </a:p>
          <a:p>
            <a:r>
              <a:rPr lang="en-GB" altLang="en-US" sz="2800" dirty="0"/>
              <a:t>Using pointer notations ( -&gt;)</a:t>
            </a:r>
          </a:p>
          <a:p>
            <a:pPr lvl="1"/>
            <a:r>
              <a:rPr lang="en-GB" altLang="en-US" dirty="0" err="1"/>
              <a:t>ptr</a:t>
            </a:r>
            <a:r>
              <a:rPr lang="en-GB" altLang="en-US" dirty="0"/>
              <a:t> = &amp;person  // assign </a:t>
            </a:r>
            <a:r>
              <a:rPr lang="en-GB" altLang="en-US" dirty="0" err="1"/>
              <a:t>struct</a:t>
            </a:r>
            <a:r>
              <a:rPr lang="en-GB" altLang="en-US" dirty="0"/>
              <a:t> to a pointer</a:t>
            </a:r>
          </a:p>
          <a:p>
            <a:pPr lvl="1"/>
            <a:r>
              <a:rPr lang="en-GB" altLang="en-US" dirty="0" err="1"/>
              <a:t>ptr</a:t>
            </a:r>
            <a:r>
              <a:rPr lang="en-GB" altLang="en-US" dirty="0"/>
              <a:t> -&gt; surname;</a:t>
            </a:r>
          </a:p>
          <a:p>
            <a:pPr lvl="1"/>
            <a:r>
              <a:rPr lang="en-GB" sz="2800" dirty="0" err="1"/>
              <a:t>ptr</a:t>
            </a:r>
            <a:r>
              <a:rPr lang="en-GB" sz="2800" dirty="0"/>
              <a:t> -&gt;</a:t>
            </a:r>
            <a:r>
              <a:rPr lang="en-GB" sz="2800" dirty="0" err="1"/>
              <a:t>dob.day</a:t>
            </a:r>
            <a:r>
              <a:rPr lang="en-GB" sz="2800" dirty="0"/>
              <a:t>; </a:t>
            </a:r>
          </a:p>
          <a:p>
            <a:pPr lvl="1"/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3145406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Passing a structure to a function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/>
          <a:p>
            <a:r>
              <a:rPr lang="en-IE" dirty="0"/>
              <a:t>Like  other data types a structure can be passed by value or by reference. </a:t>
            </a:r>
          </a:p>
          <a:p>
            <a:r>
              <a:rPr lang="en-IE" dirty="0"/>
              <a:t>By value “ pass the structure” and by reference “a pointer to the structure”. </a:t>
            </a:r>
          </a:p>
          <a:p>
            <a:endParaRPr lang="en-IE" dirty="0"/>
          </a:p>
          <a:p>
            <a:r>
              <a:rPr lang="en-IE" dirty="0"/>
              <a:t>Do not forget to use the appropriate notation in each function (if </a:t>
            </a:r>
            <a:r>
              <a:rPr lang="en-IE" dirty="0" err="1"/>
              <a:t>struct</a:t>
            </a:r>
            <a:r>
              <a:rPr lang="en-IE" dirty="0"/>
              <a:t> use the dot operator; if pointer to </a:t>
            </a:r>
            <a:r>
              <a:rPr lang="en-IE" dirty="0" err="1"/>
              <a:t>struct</a:t>
            </a:r>
            <a:r>
              <a:rPr lang="en-IE" dirty="0"/>
              <a:t> use the -&gt; </a:t>
            </a:r>
          </a:p>
        </p:txBody>
      </p:sp>
    </p:spTree>
    <p:extLst>
      <p:ext uri="{BB962C8B-B14F-4D97-AF65-F5344CB8AC3E}">
        <p14:creationId xmlns:p14="http://schemas.microsoft.com/office/powerpoint/2010/main" val="142070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IE" dirty="0"/>
              <a:t>Passing structures to functions</a:t>
            </a:r>
          </a:p>
        </p:txBody>
      </p:sp>
      <p:pic>
        <p:nvPicPr>
          <p:cNvPr id="5" name="Content Placeholder 4" descr="denis.manley@apollo: ~/OS2/week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908720"/>
            <a:ext cx="7043483" cy="5626631"/>
          </a:xfrm>
        </p:spPr>
      </p:pic>
    </p:spTree>
    <p:extLst>
      <p:ext uri="{BB962C8B-B14F-4D97-AF65-F5344CB8AC3E}">
        <p14:creationId xmlns:p14="http://schemas.microsoft.com/office/powerpoint/2010/main" val="2901964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IE" dirty="0"/>
              <a:t>Display and Get functions</a:t>
            </a:r>
          </a:p>
        </p:txBody>
      </p:sp>
      <p:pic>
        <p:nvPicPr>
          <p:cNvPr id="5" name="Content Placeholder 4" descr="denis.manley@apollo: ~/OS2/week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052736"/>
            <a:ext cx="6582694" cy="5563377"/>
          </a:xfrm>
        </p:spPr>
      </p:pic>
    </p:spTree>
    <p:extLst>
      <p:ext uri="{BB962C8B-B14F-4D97-AF65-F5344CB8AC3E}">
        <p14:creationId xmlns:p14="http://schemas.microsoft.com/office/powerpoint/2010/main" val="4153892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IE" dirty="0"/>
              <a:t>Sample output 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412776"/>
            <a:ext cx="6688795" cy="3491126"/>
          </a:xfrm>
        </p:spPr>
      </p:pic>
    </p:spTree>
    <p:extLst>
      <p:ext uri="{BB962C8B-B14F-4D97-AF65-F5344CB8AC3E}">
        <p14:creationId xmlns:p14="http://schemas.microsoft.com/office/powerpoint/2010/main" val="1203356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IE" dirty="0"/>
              <a:t>Array of structure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616624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An array can also hold structures </a:t>
            </a:r>
          </a:p>
          <a:p>
            <a:pPr lvl="1"/>
            <a:r>
              <a:rPr lang="en-IE" dirty="0" err="1"/>
              <a:t>Typedef</a:t>
            </a:r>
            <a:endParaRPr lang="en-IE" dirty="0"/>
          </a:p>
          <a:p>
            <a:pPr lvl="2"/>
            <a:r>
              <a:rPr lang="en-IE" dirty="0" err="1"/>
              <a:t>Typedef</a:t>
            </a:r>
            <a:r>
              <a:rPr lang="en-IE" dirty="0"/>
              <a:t>  </a:t>
            </a:r>
            <a:r>
              <a:rPr lang="en-IE" dirty="0" err="1"/>
              <a:t>struct</a:t>
            </a:r>
            <a:r>
              <a:rPr lang="en-IE" dirty="0"/>
              <a:t> personnel EMPLOYEE</a:t>
            </a:r>
          </a:p>
          <a:p>
            <a:pPr lvl="2"/>
            <a:endParaRPr lang="en-IE" dirty="0"/>
          </a:p>
          <a:p>
            <a:pPr lvl="1"/>
            <a:r>
              <a:rPr lang="en-IE" dirty="0"/>
              <a:t>Declare an array of structures </a:t>
            </a:r>
          </a:p>
          <a:p>
            <a:pPr lvl="2"/>
            <a:r>
              <a:rPr lang="en-IE" dirty="0"/>
              <a:t>EMPLOYEE   staff[20];</a:t>
            </a:r>
          </a:p>
          <a:p>
            <a:pPr lvl="1"/>
            <a:r>
              <a:rPr lang="en-IE" dirty="0"/>
              <a:t>The </a:t>
            </a:r>
            <a:r>
              <a:rPr lang="en-IE" b="1" dirty="0" err="1"/>
              <a:t>empdb.c</a:t>
            </a:r>
            <a:r>
              <a:rPr lang="en-IE" dirty="0"/>
              <a:t> is a program that declares an array of structures and then allows the user to </a:t>
            </a:r>
          </a:p>
          <a:p>
            <a:pPr lvl="2"/>
            <a:r>
              <a:rPr lang="en-IE" dirty="0"/>
              <a:t>Add a record to array of structures</a:t>
            </a:r>
          </a:p>
          <a:p>
            <a:pPr lvl="2"/>
            <a:r>
              <a:rPr lang="en-IE" dirty="0"/>
              <a:t>Delete a record </a:t>
            </a:r>
          </a:p>
          <a:p>
            <a:pPr lvl="2"/>
            <a:r>
              <a:rPr lang="en-IE" dirty="0"/>
              <a:t>Display a record</a:t>
            </a:r>
          </a:p>
          <a:p>
            <a:pPr lvl="2"/>
            <a:r>
              <a:rPr lang="en-IE" dirty="0"/>
              <a:t>Edit a record</a:t>
            </a:r>
          </a:p>
          <a:p>
            <a:pPr lvl="1"/>
            <a:r>
              <a:rPr lang="en-IE" i="1" dirty="0"/>
              <a:t>Implementation: Empty position in array denoted by number field contain 0</a:t>
            </a:r>
          </a:p>
          <a:p>
            <a:pPr lvl="2"/>
            <a:endParaRPr lang="en-IE" dirty="0"/>
          </a:p>
          <a:p>
            <a:pPr lvl="2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399807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en-IE" dirty="0" err="1"/>
              <a:t>Emp.c</a:t>
            </a:r>
            <a:r>
              <a:rPr lang="en-IE" dirty="0"/>
              <a:t> Main functions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340768"/>
            <a:ext cx="6675698" cy="4869602"/>
          </a:xfrm>
        </p:spPr>
      </p:pic>
    </p:spTree>
    <p:extLst>
      <p:ext uri="{BB962C8B-B14F-4D97-AF65-F5344CB8AC3E}">
        <p14:creationId xmlns:p14="http://schemas.microsoft.com/office/powerpoint/2010/main" val="3315058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IE" dirty="0"/>
              <a:t>Menu and search functions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460" y="1196752"/>
            <a:ext cx="6005080" cy="4922947"/>
          </a:xfrm>
        </p:spPr>
      </p:pic>
    </p:spTree>
    <p:extLst>
      <p:ext uri="{BB962C8B-B14F-4D97-AF65-F5344CB8AC3E}">
        <p14:creationId xmlns:p14="http://schemas.microsoft.com/office/powerpoint/2010/main" val="2909372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Delete Function (assign 0 to number field)</a:t>
            </a:r>
          </a:p>
        </p:txBody>
      </p:sp>
      <p:pic>
        <p:nvPicPr>
          <p:cNvPr id="4" name="Content Placeholder 3" descr="denis.manley@apollo: ~/OS2/week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046" y="1600199"/>
            <a:ext cx="6277852" cy="4648849"/>
          </a:xfrm>
        </p:spPr>
      </p:pic>
    </p:spTree>
    <p:extLst>
      <p:ext uri="{BB962C8B-B14F-4D97-AF65-F5344CB8AC3E}">
        <p14:creationId xmlns:p14="http://schemas.microsoft.com/office/powerpoint/2010/main" val="1097321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IE" dirty="0"/>
              <a:t>The add function </a:t>
            </a:r>
          </a:p>
        </p:txBody>
      </p:sp>
      <p:pic>
        <p:nvPicPr>
          <p:cNvPr id="4" name="Content Placeholder 3" descr="denis.manley@apollo: ~/OS2/week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547" y="908720"/>
            <a:ext cx="5430906" cy="5184576"/>
          </a:xfrm>
        </p:spPr>
      </p:pic>
      <p:sp>
        <p:nvSpPr>
          <p:cNvPr id="3" name="TextBox 2"/>
          <p:cNvSpPr txBox="1"/>
          <p:nvPr/>
        </p:nvSpPr>
        <p:spPr>
          <a:xfrm>
            <a:off x="457200" y="6381328"/>
            <a:ext cx="4042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Why is there no &amp; for </a:t>
            </a:r>
            <a:r>
              <a:rPr lang="en-IE" dirty="0" err="1"/>
              <a:t>scanf</a:t>
            </a:r>
            <a:r>
              <a:rPr lang="en-IE" dirty="0"/>
              <a:t>(“s”,….)? 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1259632" y="3356992"/>
            <a:ext cx="2304256" cy="3024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412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Home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Modify the </a:t>
            </a:r>
            <a:r>
              <a:rPr lang="en-IE" dirty="0" err="1"/>
              <a:t>empdb.c</a:t>
            </a:r>
            <a:r>
              <a:rPr lang="en-IE" dirty="0"/>
              <a:t> source code:</a:t>
            </a:r>
          </a:p>
          <a:p>
            <a:pPr lvl="1"/>
            <a:r>
              <a:rPr lang="en-IE" dirty="0"/>
              <a:t>To include a function to </a:t>
            </a:r>
            <a:r>
              <a:rPr lang="en-IE" i="1" dirty="0"/>
              <a:t>edit</a:t>
            </a:r>
            <a:r>
              <a:rPr lang="en-IE" dirty="0"/>
              <a:t> a record the array of structures.</a:t>
            </a:r>
          </a:p>
          <a:p>
            <a:pPr lvl="2"/>
            <a:r>
              <a:rPr lang="en-IE" dirty="0"/>
              <a:t>ask the user for a record number; </a:t>
            </a:r>
          </a:p>
          <a:p>
            <a:pPr lvl="2"/>
            <a:r>
              <a:rPr lang="en-IE" dirty="0"/>
              <a:t>If the position exists: modify the contents </a:t>
            </a:r>
          </a:p>
          <a:p>
            <a:pPr lvl="2"/>
            <a:r>
              <a:rPr lang="en-IE" dirty="0"/>
              <a:t>you can simply prompt the user to re-enter all the data again 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Test the </a:t>
            </a:r>
            <a:r>
              <a:rPr lang="en-IE" i="1" dirty="0"/>
              <a:t>modified source code </a:t>
            </a:r>
            <a:r>
              <a:rPr lang="en-IE" dirty="0"/>
              <a:t>to confirm it does as expected: Use specific examples </a:t>
            </a:r>
          </a:p>
          <a:p>
            <a:pPr lvl="1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6140674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e2161322-0fde-468e-b3bd-9d4368c7a7c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483</Words>
  <Application>Microsoft Office PowerPoint</Application>
  <PresentationFormat>On-screen Show (4:3)</PresentationFormat>
  <Paragraphs>80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Structures</vt:lpstr>
      <vt:lpstr>Structures (a record)</vt:lpstr>
      <vt:lpstr>Nested structures and pointers </vt:lpstr>
      <vt:lpstr>Using structure </vt:lpstr>
      <vt:lpstr>Passing a structure to a function </vt:lpstr>
      <vt:lpstr>Passing structures to functions</vt:lpstr>
      <vt:lpstr>Display and Get functions</vt:lpstr>
      <vt:lpstr>Sample output </vt:lpstr>
      <vt:lpstr>Array of structure </vt:lpstr>
      <vt:lpstr>Emp.c Main functions</vt:lpstr>
      <vt:lpstr>Menu and search functions</vt:lpstr>
      <vt:lpstr>Delete Function (assign 0 to number field)</vt:lpstr>
      <vt:lpstr>The add function </vt:lpstr>
      <vt:lpstr>Home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Structures</dc:title>
  <dc:creator>Denis Manley</dc:creator>
  <cp:lastModifiedBy>Denis Manley</cp:lastModifiedBy>
  <cp:revision>13</cp:revision>
  <dcterms:created xsi:type="dcterms:W3CDTF">2020-10-02T13:27:24Z</dcterms:created>
  <dcterms:modified xsi:type="dcterms:W3CDTF">2023-09-29T14:48:12Z</dcterms:modified>
</cp:coreProperties>
</file>