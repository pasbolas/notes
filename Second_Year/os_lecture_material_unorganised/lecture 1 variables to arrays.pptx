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67" r:id="rId7"/>
    <p:sldId id="268" r:id="rId8"/>
    <p:sldId id="259" r:id="rId9"/>
    <p:sldId id="260" r:id="rId10"/>
    <p:sldId id="270" r:id="rId11"/>
    <p:sldId id="261" r:id="rId12"/>
    <p:sldId id="262" r:id="rId13"/>
    <p:sldId id="272" r:id="rId14"/>
    <p:sldId id="263" r:id="rId15"/>
    <p:sldId id="265" r:id="rId16"/>
    <p:sldId id="269" r:id="rId17"/>
    <p:sldId id="271" r:id="rId18"/>
    <p:sldId id="266" r:id="rId19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8CC12A5C-FC9C-4E0E-8855-445E9824A927}"/>
    <pc:docChg chg="modSld">
      <pc:chgData name="Denis Manley" userId="445117d2-14a5-4c3e-af19-f1006b049bb1" providerId="ADAL" clId="{8CC12A5C-FC9C-4E0E-8855-445E9824A927}" dt="2025-09-15T14:44:39.617" v="3" actId="20577"/>
      <pc:docMkLst>
        <pc:docMk/>
      </pc:docMkLst>
      <pc:sldChg chg="modSp mod">
        <pc:chgData name="Denis Manley" userId="445117d2-14a5-4c3e-af19-f1006b049bb1" providerId="ADAL" clId="{8CC12A5C-FC9C-4E0E-8855-445E9824A927}" dt="2025-09-15T14:44:39.617" v="3" actId="20577"/>
        <pc:sldMkLst>
          <pc:docMk/>
          <pc:sldMk cId="2332113946" sldId="259"/>
        </pc:sldMkLst>
        <pc:spChg chg="mod">
          <ac:chgData name="Denis Manley" userId="445117d2-14a5-4c3e-af19-f1006b049bb1" providerId="ADAL" clId="{8CC12A5C-FC9C-4E0E-8855-445E9824A927}" dt="2025-09-15T14:44:39.617" v="3" actId="20577"/>
          <ac:spMkLst>
            <pc:docMk/>
            <pc:sldMk cId="2332113946" sldId="259"/>
            <ac:spMk id="3" creationId="{00000000-0000-0000-0000-000000000000}"/>
          </ac:spMkLst>
        </pc:spChg>
      </pc:sldChg>
      <pc:sldChg chg="modSp mod">
        <pc:chgData name="Denis Manley" userId="445117d2-14a5-4c3e-af19-f1006b049bb1" providerId="ADAL" clId="{8CC12A5C-FC9C-4E0E-8855-445E9824A927}" dt="2025-09-08T12:59:16.260" v="2" actId="20577"/>
        <pc:sldMkLst>
          <pc:docMk/>
          <pc:sldMk cId="48539498" sldId="262"/>
        </pc:sldMkLst>
        <pc:spChg chg="mod">
          <ac:chgData name="Denis Manley" userId="445117d2-14a5-4c3e-af19-f1006b049bb1" providerId="ADAL" clId="{8CC12A5C-FC9C-4E0E-8855-445E9824A927}" dt="2025-09-08T12:59:16.260" v="2" actId="20577"/>
          <ac:spMkLst>
            <pc:docMk/>
            <pc:sldMk cId="48539498" sldId="262"/>
            <ac:spMk id="2" creationId="{00000000-0000-0000-0000-000000000000}"/>
          </ac:spMkLst>
        </pc:spChg>
      </pc:sldChg>
      <pc:sldChg chg="modSp mod">
        <pc:chgData name="Denis Manley" userId="445117d2-14a5-4c3e-af19-f1006b049bb1" providerId="ADAL" clId="{8CC12A5C-FC9C-4E0E-8855-445E9824A927}" dt="2025-09-08T12:58:32.106" v="0" actId="20577"/>
        <pc:sldMkLst>
          <pc:docMk/>
          <pc:sldMk cId="1158914398" sldId="263"/>
        </pc:sldMkLst>
        <pc:spChg chg="mod">
          <ac:chgData name="Denis Manley" userId="445117d2-14a5-4c3e-af19-f1006b049bb1" providerId="ADAL" clId="{8CC12A5C-FC9C-4E0E-8855-445E9824A927}" dt="2025-09-08T12:58:32.106" v="0" actId="20577"/>
          <ac:spMkLst>
            <pc:docMk/>
            <pc:sldMk cId="1158914398" sldId="263"/>
            <ac:spMk id="4" creationId="{00000000-0000-0000-0000-000000000000}"/>
          </ac:spMkLst>
        </pc:spChg>
      </pc:sldChg>
    </pc:docChg>
  </pc:docChgLst>
  <pc:docChgLst>
    <pc:chgData name="Denis Manley" userId="S::denis.manley@tudublin.ie::445117d2-14a5-4c3e-af19-f1006b049bb1" providerId="AD" clId="Web-{C4B0F8DB-4AC1-3D6B-6237-6DD1178DF3ED}"/>
    <pc:docChg chg="addSld modSld">
      <pc:chgData name="Denis Manley" userId="S::denis.manley@tudublin.ie::445117d2-14a5-4c3e-af19-f1006b049bb1" providerId="AD" clId="Web-{C4B0F8DB-4AC1-3D6B-6237-6DD1178DF3ED}" dt="2025-09-11T20:19:49.661" v="3"/>
      <pc:docMkLst>
        <pc:docMk/>
      </pc:docMkLst>
      <pc:sldChg chg="modSp">
        <pc:chgData name="Denis Manley" userId="S::denis.manley@tudublin.ie::445117d2-14a5-4c3e-af19-f1006b049bb1" providerId="AD" clId="Web-{C4B0F8DB-4AC1-3D6B-6237-6DD1178DF3ED}" dt="2025-09-11T20:10:51.118" v="2" actId="20577"/>
        <pc:sldMkLst>
          <pc:docMk/>
          <pc:sldMk cId="871980073" sldId="267"/>
        </pc:sldMkLst>
        <pc:spChg chg="mod">
          <ac:chgData name="Denis Manley" userId="S::denis.manley@tudublin.ie::445117d2-14a5-4c3e-af19-f1006b049bb1" providerId="AD" clId="Web-{C4B0F8DB-4AC1-3D6B-6237-6DD1178DF3ED}" dt="2025-09-11T20:10:51.118" v="2" actId="20577"/>
          <ac:spMkLst>
            <pc:docMk/>
            <pc:sldMk cId="871980073" sldId="267"/>
            <ac:spMk id="3" creationId="{00000000-0000-0000-0000-000000000000}"/>
          </ac:spMkLst>
        </pc:spChg>
      </pc:sldChg>
      <pc:sldChg chg="add replId">
        <pc:chgData name="Denis Manley" userId="S::denis.manley@tudublin.ie::445117d2-14a5-4c3e-af19-f1006b049bb1" providerId="AD" clId="Web-{C4B0F8DB-4AC1-3D6B-6237-6DD1178DF3ED}" dt="2025-09-11T20:19:49.661" v="3"/>
        <pc:sldMkLst>
          <pc:docMk/>
          <pc:sldMk cId="1978913927" sldId="272"/>
        </pc:sldMkLst>
      </pc:sldChg>
    </pc:docChg>
  </pc:docChgLst>
  <pc:docChgLst>
    <pc:chgData name="Denis Manley" userId="445117d2-14a5-4c3e-af19-f1006b049bb1" providerId="ADAL" clId="{75B0A818-F047-4CE8-B348-264B690B5B81}"/>
    <pc:docChg chg="undo custSel modSld replTag delTag">
      <pc:chgData name="Denis Manley" userId="445117d2-14a5-4c3e-af19-f1006b049bb1" providerId="ADAL" clId="{75B0A818-F047-4CE8-B348-264B690B5B81}" dt="2023-09-15T18:05:34.915" v="247"/>
      <pc:docMkLst>
        <pc:docMk/>
      </pc:docMkLst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712443183" sldId="256"/>
        </pc:sldMkLst>
      </pc:sldChg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3253866641" sldId="257"/>
        </pc:sldMkLst>
      </pc:sldChg>
      <pc:sldChg chg="modSp mod">
        <pc:chgData name="Denis Manley" userId="445117d2-14a5-4c3e-af19-f1006b049bb1" providerId="ADAL" clId="{75B0A818-F047-4CE8-B348-264B690B5B81}" dt="2023-09-15T18:02:05.096" v="211"/>
        <pc:sldMkLst>
          <pc:docMk/>
          <pc:sldMk cId="2332113946" sldId="259"/>
        </pc:sldMkLst>
      </pc:sldChg>
      <pc:sldChg chg="modSp mod">
        <pc:chgData name="Denis Manley" userId="445117d2-14a5-4c3e-af19-f1006b049bb1" providerId="ADAL" clId="{75B0A818-F047-4CE8-B348-264B690B5B81}" dt="2023-09-15T17:57:05.334" v="94" actId="20577"/>
        <pc:sldMkLst>
          <pc:docMk/>
          <pc:sldMk cId="713134937" sldId="260"/>
        </pc:sldMkLst>
      </pc:sldChg>
      <pc:sldChg chg="addSp delSp modSp mod">
        <pc:chgData name="Denis Manley" userId="445117d2-14a5-4c3e-af19-f1006b049bb1" providerId="ADAL" clId="{75B0A818-F047-4CE8-B348-264B690B5B81}" dt="2023-09-15T18:02:06.290" v="244"/>
        <pc:sldMkLst>
          <pc:docMk/>
          <pc:sldMk cId="770496611" sldId="261"/>
        </pc:sldMkLst>
      </pc:sldChg>
      <pc:sldChg chg="modSp mod">
        <pc:chgData name="Denis Manley" userId="445117d2-14a5-4c3e-af19-f1006b049bb1" providerId="ADAL" clId="{75B0A818-F047-4CE8-B348-264B690B5B81}" dt="2023-09-15T18:02:05.096" v="211"/>
        <pc:sldMkLst>
          <pc:docMk/>
          <pc:sldMk cId="48539498" sldId="262"/>
        </pc:sldMkLst>
      </pc:sldChg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1778794338" sldId="265"/>
        </pc:sldMkLst>
      </pc:sldChg>
      <pc:sldChg chg="modSp mod">
        <pc:chgData name="Denis Manley" userId="445117d2-14a5-4c3e-af19-f1006b049bb1" providerId="ADAL" clId="{75B0A818-F047-4CE8-B348-264B690B5B81}" dt="2023-09-15T18:02:06.101" v="215"/>
        <pc:sldMkLst>
          <pc:docMk/>
          <pc:sldMk cId="871980073" sldId="267"/>
        </pc:sldMkLst>
      </pc:sldChg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1254510734" sldId="268"/>
        </pc:sldMkLst>
      </pc:sldChg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2076719381" sldId="269"/>
        </pc:sldMkLst>
      </pc:sldChg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1442795660" sldId="270"/>
        </pc:sldMkLst>
      </pc:sldChg>
      <pc:sldChg chg="modSp">
        <pc:chgData name="Denis Manley" userId="445117d2-14a5-4c3e-af19-f1006b049bb1" providerId="ADAL" clId="{75B0A818-F047-4CE8-B348-264B690B5B81}" dt="2023-09-15T18:02:06.101" v="215"/>
        <pc:sldMkLst>
          <pc:docMk/>
          <pc:sldMk cId="3909958297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A344D-076B-4867-8430-96425554B53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363DA-45DC-4F48-8279-62407297FF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569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88CA18-F6C5-42C6-A4E0-F33AD664439B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026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551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59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633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049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548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64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197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640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696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816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5DCB2-C0D3-4EBA-8C51-6961D80A09A4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0D6B1-CFCC-48C4-88A7-B2CD917BEC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988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C programming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71244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en-IE" dirty="0"/>
              <a:t>Variable</a:t>
            </a:r>
          </a:p>
          <a:p>
            <a:endParaRPr lang="en-IE" dirty="0"/>
          </a:p>
          <a:p>
            <a:r>
              <a:rPr lang="en-IE" dirty="0"/>
              <a:t>Conditional statements</a:t>
            </a:r>
          </a:p>
          <a:p>
            <a:endParaRPr lang="en-IE" dirty="0"/>
          </a:p>
          <a:p>
            <a:r>
              <a:rPr lang="en-IE" dirty="0"/>
              <a:t>Iteration (while, for….)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53866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Declare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E" dirty="0"/>
              <a:t>A variable is a location in memory that is most frequently referred to by its </a:t>
            </a:r>
            <a:r>
              <a:rPr lang="en-IE" i="1" dirty="0"/>
              <a:t>name</a:t>
            </a:r>
            <a:r>
              <a:rPr lang="en-IE" dirty="0"/>
              <a:t>, it can store a </a:t>
            </a:r>
            <a:r>
              <a:rPr lang="en-IE" i="1" dirty="0"/>
              <a:t>value</a:t>
            </a:r>
            <a:r>
              <a:rPr lang="en-IE" dirty="0"/>
              <a:t> of particular </a:t>
            </a:r>
            <a:r>
              <a:rPr lang="en-IE" dirty="0" err="1"/>
              <a:t>data_type</a:t>
            </a:r>
            <a:r>
              <a:rPr lang="en-IE" dirty="0"/>
              <a:t> and it has </a:t>
            </a:r>
            <a:r>
              <a:rPr lang="en-IE" i="1" dirty="0"/>
              <a:t>an address and can also be referred to by its address</a:t>
            </a:r>
            <a:r>
              <a:rPr lang="en-IE" dirty="0"/>
              <a:t>. </a:t>
            </a:r>
          </a:p>
          <a:p>
            <a:endParaRPr lang="en-IE" dirty="0"/>
          </a:p>
          <a:p>
            <a:r>
              <a:rPr lang="en-IE" dirty="0"/>
              <a:t>Variable must be declared before they can be use; the format is  </a:t>
            </a:r>
          </a:p>
          <a:p>
            <a:pPr lvl="1"/>
            <a:r>
              <a:rPr lang="en-IE" dirty="0" err="1"/>
              <a:t>data_type</a:t>
            </a:r>
            <a:r>
              <a:rPr lang="en-IE" dirty="0"/>
              <a:t>  </a:t>
            </a:r>
            <a:r>
              <a:rPr lang="en-IE" dirty="0" err="1"/>
              <a:t>variable_name</a:t>
            </a:r>
            <a:r>
              <a:rPr lang="en-IE" dirty="0"/>
              <a:t>;  e.g.  int var1</a:t>
            </a:r>
          </a:p>
          <a:p>
            <a:pPr lvl="1"/>
            <a:endParaRPr lang="en-IE" dirty="0"/>
          </a:p>
          <a:p>
            <a:endParaRPr lang="en-IE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7198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Format specifiers for printf.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There are quite a number of format </a:t>
            </a:r>
            <a:r>
              <a:rPr lang="en-US" altLang="en-US" sz="2800" dirty="0" err="1"/>
              <a:t>specifiers</a:t>
            </a:r>
            <a:r>
              <a:rPr lang="en-US" altLang="en-US" sz="2800" dirty="0"/>
              <a:t> for </a:t>
            </a:r>
            <a:r>
              <a:rPr lang="en-US" altLang="en-US" sz="2800" dirty="0" err="1"/>
              <a:t>printf</a:t>
            </a:r>
            <a:r>
              <a:rPr lang="en-US" altLang="en-US" sz="2800" dirty="0"/>
              <a:t>.  Here are the basic ones : </a:t>
            </a:r>
            <a:br>
              <a:rPr lang="en-US" altLang="en-US" sz="2800" dirty="0"/>
            </a:br>
            <a:br>
              <a:rPr lang="en-US" altLang="en-US" sz="2000" dirty="0"/>
            </a:b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%d print an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 argument in decimal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</a:t>
            </a:r>
            <a:r>
              <a:rPr lang="en-US" altLang="en-US" sz="2400" dirty="0" err="1"/>
              <a:t>ld</a:t>
            </a:r>
            <a:r>
              <a:rPr lang="en-US" altLang="en-US" sz="2400" dirty="0"/>
              <a:t> print a long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 argument in decimal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%c print a character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%s print a string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%f print a float or double argument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%p  print the value of a pointer in its hex format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%u print an unsigned </a:t>
            </a:r>
            <a:r>
              <a:rPr lang="en-US" altLang="en-US" sz="2400" dirty="0" err="1"/>
              <a:t>interger</a:t>
            </a:r>
            <a:r>
              <a:rPr lang="en-US" altLang="en-US" sz="2400" dirty="0"/>
              <a:t>  (positive numbers)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 </a:t>
            </a:r>
            <a:br>
              <a:rPr lang="en-US" altLang="en-US" sz="2000" dirty="0"/>
            </a:b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5451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Input/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72608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There are numerous ways to </a:t>
            </a:r>
            <a:r>
              <a:rPr lang="en-IE" b="1" dirty="0"/>
              <a:t>input</a:t>
            </a:r>
            <a:r>
              <a:rPr lang="en-IE" dirty="0"/>
              <a:t> data via the keyboard:</a:t>
            </a:r>
          </a:p>
          <a:p>
            <a:pPr lvl="1"/>
            <a:r>
              <a:rPr lang="en-IE" dirty="0" err="1"/>
              <a:t>scanf</a:t>
            </a:r>
            <a:r>
              <a:rPr lang="en-IE" dirty="0"/>
              <a:t>(“%d”, &amp;input) </a:t>
            </a:r>
            <a:r>
              <a:rPr lang="en-IE" dirty="0">
                <a:solidFill>
                  <a:srgbClr val="FF0000"/>
                </a:solidFill>
              </a:rPr>
              <a:t>(explain this code)</a:t>
            </a:r>
          </a:p>
          <a:p>
            <a:pPr lvl="1"/>
            <a:r>
              <a:rPr lang="en-IE" i="1" dirty="0" err="1"/>
              <a:t>fgets</a:t>
            </a:r>
            <a:r>
              <a:rPr lang="en-IE" i="1" dirty="0"/>
              <a:t>(</a:t>
            </a:r>
            <a:r>
              <a:rPr lang="en-IE" i="1" dirty="0" err="1"/>
              <a:t>ArrayName</a:t>
            </a:r>
            <a:r>
              <a:rPr lang="en-IE" i="1" dirty="0"/>
              <a:t>, </a:t>
            </a:r>
            <a:r>
              <a:rPr lang="en-IE" i="1" dirty="0" err="1"/>
              <a:t>Array_Size</a:t>
            </a:r>
            <a:r>
              <a:rPr lang="en-IE" i="1" dirty="0"/>
              <a:t>, stdin): </a:t>
            </a:r>
            <a:r>
              <a:rPr lang="en-IE" b="1" i="1" dirty="0"/>
              <a:t>gets</a:t>
            </a:r>
            <a:r>
              <a:rPr lang="en-IE" i="1" dirty="0"/>
              <a:t> can cause problems </a:t>
            </a:r>
          </a:p>
          <a:p>
            <a:endParaRPr lang="en-IE" dirty="0"/>
          </a:p>
          <a:p>
            <a:r>
              <a:rPr lang="en-IE" dirty="0"/>
              <a:t>There are numerous was to output data (to screen):</a:t>
            </a:r>
          </a:p>
          <a:p>
            <a:pPr lvl="1"/>
            <a:r>
              <a:rPr lang="en-IE" dirty="0" err="1"/>
              <a:t>printf</a:t>
            </a:r>
            <a:r>
              <a:rPr lang="en-IE" dirty="0"/>
              <a:t>(“ the value of the input is: %d”, input);</a:t>
            </a:r>
          </a:p>
          <a:p>
            <a:pPr lvl="1"/>
            <a:r>
              <a:rPr lang="en-IE" dirty="0" err="1"/>
              <a:t>putchar</a:t>
            </a:r>
            <a:r>
              <a:rPr lang="en-IE" dirty="0"/>
              <a:t>(input);</a:t>
            </a:r>
          </a:p>
          <a:p>
            <a:pPr lvl="1"/>
            <a:r>
              <a:rPr lang="en-IE" dirty="0"/>
              <a:t>puts(input); </a:t>
            </a:r>
            <a:endParaRPr lang="en-IE" dirty="0">
              <a:solidFill>
                <a:srgbClr val="FF0000"/>
              </a:solidFill>
            </a:endParaRPr>
          </a:p>
          <a:p>
            <a:endParaRPr lang="en-IE" dirty="0"/>
          </a:p>
          <a:p>
            <a:r>
              <a:rPr lang="en-IE" dirty="0"/>
              <a:t>It is important to remember that you write a program two sets of people the </a:t>
            </a:r>
            <a:r>
              <a:rPr lang="en-IE" b="1" dirty="0"/>
              <a:t>end user</a:t>
            </a:r>
            <a:r>
              <a:rPr lang="en-IE" dirty="0"/>
              <a:t> and </a:t>
            </a:r>
            <a:r>
              <a:rPr lang="en-IE" b="1" dirty="0"/>
              <a:t>a programmer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For an end user: “appropriate user/interface; e.g. prompt/output….” ;  </a:t>
            </a:r>
          </a:p>
          <a:p>
            <a:pPr lvl="1"/>
            <a:r>
              <a:rPr lang="en-IE" dirty="0"/>
              <a:t>For the programmer what is the code doing? </a:t>
            </a:r>
            <a:endParaRPr lang="en-IE" b="1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3211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E" sz="3200" dirty="0"/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76664"/>
          </a:xfrm>
        </p:spPr>
        <p:txBody>
          <a:bodyPr>
            <a:noAutofit/>
          </a:bodyPr>
          <a:lstStyle/>
          <a:p>
            <a:r>
              <a:rPr lang="en-IE" sz="2800" dirty="0"/>
              <a:t>A conditional statement?</a:t>
            </a:r>
          </a:p>
          <a:p>
            <a:pPr lvl="1"/>
            <a:r>
              <a:rPr lang="en-IE" b="1" dirty="0"/>
              <a:t>Relational expressions</a:t>
            </a:r>
            <a:r>
              <a:rPr lang="en-IE" dirty="0"/>
              <a:t> </a:t>
            </a:r>
          </a:p>
          <a:p>
            <a:pPr lvl="2"/>
            <a:r>
              <a:rPr lang="en-IE" sz="2800" dirty="0"/>
              <a:t>Has two parts:  Operands  and operator</a:t>
            </a:r>
          </a:p>
          <a:p>
            <a:pPr lvl="2"/>
            <a:r>
              <a:rPr lang="en-IE" sz="2800" dirty="0"/>
              <a:t> 5 &gt; 3; 5==3; 5 == 5;  </a:t>
            </a:r>
          </a:p>
          <a:p>
            <a:pPr lvl="2"/>
            <a:r>
              <a:rPr lang="en-IE" sz="2800" dirty="0"/>
              <a:t>Returns a Boolean value: true/false </a:t>
            </a:r>
          </a:p>
          <a:p>
            <a:pPr lvl="2"/>
            <a:endParaRPr lang="en-IE" sz="2800" dirty="0"/>
          </a:p>
          <a:p>
            <a:pPr lvl="1"/>
            <a:r>
              <a:rPr lang="en-IE" b="1" dirty="0"/>
              <a:t>Boolean operators</a:t>
            </a:r>
            <a:r>
              <a:rPr lang="en-IE" dirty="0"/>
              <a:t> </a:t>
            </a:r>
          </a:p>
          <a:p>
            <a:pPr lvl="2"/>
            <a:r>
              <a:rPr lang="en-IE" sz="2800" dirty="0"/>
              <a:t>Has two parts:  Operands and operator</a:t>
            </a:r>
          </a:p>
          <a:p>
            <a:pPr lvl="2"/>
            <a:r>
              <a:rPr lang="en-IE" sz="2800" dirty="0"/>
              <a:t>The three basic operators are:  AND (&amp;&amp;); OR (||)  and NOT (!)</a:t>
            </a:r>
          </a:p>
          <a:p>
            <a:pPr lvl="2"/>
            <a:r>
              <a:rPr lang="en-IE" sz="2800" dirty="0"/>
              <a:t>Returns a Boolean Value </a:t>
            </a:r>
          </a:p>
          <a:p>
            <a:pPr lvl="2"/>
            <a:endParaRPr lang="en-IE" sz="2800" dirty="0"/>
          </a:p>
          <a:p>
            <a:endParaRPr lang="en-IE" sz="2800" dirty="0"/>
          </a:p>
          <a:p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71313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Conditional Expressions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46224"/>
            <a:ext cx="4038600" cy="4233914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If condition 1 is true what is the output? </a:t>
            </a:r>
          </a:p>
          <a:p>
            <a:r>
              <a:rPr lang="en-IE" dirty="0"/>
              <a:t>If condition 1 is false what is the output?</a:t>
            </a:r>
          </a:p>
          <a:p>
            <a:r>
              <a:rPr lang="en-IE" dirty="0"/>
              <a:t>If condition 2 is true what is the output?</a:t>
            </a:r>
          </a:p>
          <a:p>
            <a:r>
              <a:rPr lang="en-IE" dirty="0"/>
              <a:t>If condition 2 is true 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1442795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E" dirty="0"/>
              <a:t>Iteration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What is the purpose of iteration statements? </a:t>
            </a:r>
          </a:p>
          <a:p>
            <a:r>
              <a:rPr lang="en-IE" dirty="0"/>
              <a:t>Main types of Iteration statements are:</a:t>
            </a:r>
          </a:p>
          <a:p>
            <a:pPr lvl="1"/>
            <a:r>
              <a:rPr lang="en-IE" i="1" dirty="0"/>
              <a:t>while</a:t>
            </a:r>
            <a:r>
              <a:rPr lang="en-IE" dirty="0"/>
              <a:t> ; </a:t>
            </a:r>
            <a:r>
              <a:rPr lang="en-IE" i="1" dirty="0"/>
              <a:t>do while</a:t>
            </a:r>
            <a:r>
              <a:rPr lang="en-IE" dirty="0"/>
              <a:t> and </a:t>
            </a:r>
            <a:r>
              <a:rPr lang="en-IE" i="1" dirty="0"/>
              <a:t>for</a:t>
            </a:r>
            <a:r>
              <a:rPr lang="en-IE" dirty="0"/>
              <a:t> loop:</a:t>
            </a:r>
          </a:p>
          <a:p>
            <a:pPr lvl="2"/>
            <a:r>
              <a:rPr lang="en-IE" dirty="0"/>
              <a:t>When should you use them? </a:t>
            </a:r>
          </a:p>
          <a:p>
            <a:pPr lvl="1"/>
            <a:r>
              <a:rPr lang="en-IE" dirty="0" err="1"/>
              <a:t>Sentinal</a:t>
            </a:r>
            <a:r>
              <a:rPr lang="en-IE" dirty="0"/>
              <a:t> and counter control? </a:t>
            </a:r>
          </a:p>
          <a:p>
            <a:pPr lvl="2"/>
            <a:r>
              <a:rPr lang="en-IE" dirty="0"/>
              <a:t>Differentiate between them. </a:t>
            </a:r>
          </a:p>
          <a:p>
            <a:r>
              <a:rPr lang="en-IE" dirty="0"/>
              <a:t>The </a:t>
            </a:r>
            <a:r>
              <a:rPr lang="en-IE" b="1" dirty="0"/>
              <a:t>3</a:t>
            </a:r>
            <a:r>
              <a:rPr lang="en-IE" dirty="0"/>
              <a:t> Important steps associated with iteration statements: </a:t>
            </a:r>
          </a:p>
          <a:p>
            <a:pPr lvl="1"/>
            <a:r>
              <a:rPr lang="en-IE" dirty="0" err="1"/>
              <a:t>Initalise</a:t>
            </a:r>
            <a:r>
              <a:rPr lang="en-IE" dirty="0"/>
              <a:t> conditional variables, </a:t>
            </a:r>
          </a:p>
          <a:p>
            <a:pPr lvl="1"/>
            <a:r>
              <a:rPr lang="en-IE" dirty="0"/>
              <a:t>write conditional expression ; </a:t>
            </a:r>
          </a:p>
          <a:p>
            <a:pPr lvl="1"/>
            <a:r>
              <a:rPr lang="en-IE" dirty="0"/>
              <a:t>change a variable in the conditional expression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7049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IE" sz="3600" dirty="0"/>
              <a:t>What is the purpose of the following code?</a:t>
            </a:r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484784"/>
            <a:ext cx="6181297" cy="3922746"/>
          </a:xfrm>
        </p:spPr>
      </p:pic>
    </p:spTree>
    <p:extLst>
      <p:ext uri="{BB962C8B-B14F-4D97-AF65-F5344CB8AC3E}">
        <p14:creationId xmlns:p14="http://schemas.microsoft.com/office/powerpoint/2010/main" val="4853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0530-96AF-0835-1311-8907231B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DED0-F229-8A1E-2DF0-ECA89379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IE" sz="3600" dirty="0"/>
              <a:t>What is the purpose of the following code?</a:t>
            </a:r>
          </a:p>
        </p:txBody>
      </p:sp>
      <p:pic>
        <p:nvPicPr>
          <p:cNvPr id="5" name="Content Placeholder 4" descr="Screen Clipping">
            <a:extLst>
              <a:ext uri="{FF2B5EF4-FFF2-40B4-BE49-F238E27FC236}">
                <a16:creationId xmlns:a16="http://schemas.microsoft.com/office/drawing/2014/main" id="{7C235F49-77A0-C330-4964-27663600CB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484784"/>
            <a:ext cx="6181297" cy="3922746"/>
          </a:xfrm>
        </p:spPr>
      </p:pic>
    </p:spTree>
    <p:extLst>
      <p:ext uri="{BB962C8B-B14F-4D97-AF65-F5344CB8AC3E}">
        <p14:creationId xmlns:p14="http://schemas.microsoft.com/office/powerpoint/2010/main" val="197891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sz="3600" dirty="0"/>
              <a:t>a) What is the output of the following code?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Autofit/>
          </a:bodyPr>
          <a:lstStyle/>
          <a:p>
            <a:endParaRPr lang="en-IE" sz="1800" dirty="0"/>
          </a:p>
          <a:p>
            <a:endParaRPr lang="en-IE" sz="1800" dirty="0"/>
          </a:p>
          <a:p>
            <a:endParaRPr lang="en-IE" sz="1600" dirty="0"/>
          </a:p>
        </p:txBody>
      </p:sp>
      <p:pic>
        <p:nvPicPr>
          <p:cNvPr id="5" name="Picture 4" descr="denis.manley@apollo: ~/OS2/week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052736"/>
            <a:ext cx="6049219" cy="4658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9280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b) What would happen to the code if </a:t>
            </a:r>
            <a:r>
              <a:rPr lang="en-IE" dirty="0" err="1"/>
              <a:t>col_counter</a:t>
            </a:r>
            <a:r>
              <a:rPr lang="en-IE" dirty="0"/>
              <a:t> = 0 is removed/commented out?</a:t>
            </a:r>
          </a:p>
        </p:txBody>
      </p:sp>
    </p:spTree>
    <p:extLst>
      <p:ext uri="{BB962C8B-B14F-4D97-AF65-F5344CB8AC3E}">
        <p14:creationId xmlns:p14="http://schemas.microsoft.com/office/powerpoint/2010/main" val="115891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Arrays: static data structure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35B9-8E43-46FD-A52E-3983FB42E32A}" type="slidenum">
              <a:rPr lang="en-US" altLang="en-US"/>
              <a:pPr/>
              <a:t>12</a:t>
            </a:fld>
            <a:endParaRPr lang="en-US" altLang="en-US" dirty="0"/>
          </a:p>
        </p:txBody>
      </p:sp>
      <p:pic>
        <p:nvPicPr>
          <p:cNvPr id="5" name="Content Placeholder 4" descr="denis.manley@apollo: ~/OS2/week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18953"/>
            <a:ext cx="7708706" cy="5091632"/>
          </a:xfrm>
        </p:spPr>
      </p:pic>
    </p:spTree>
    <p:extLst>
      <p:ext uri="{BB962C8B-B14F-4D97-AF65-F5344CB8AC3E}">
        <p14:creationId xmlns:p14="http://schemas.microsoft.com/office/powerpoint/2010/main" val="177879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Compile and run a program in </a:t>
            </a:r>
            <a:r>
              <a:rPr lang="en-IE" dirty="0" err="1"/>
              <a:t>linux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859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IE" dirty="0"/>
              <a:t>Use the </a:t>
            </a:r>
            <a:r>
              <a:rPr lang="en-IE" b="1" dirty="0" err="1"/>
              <a:t>gcc</a:t>
            </a:r>
            <a:r>
              <a:rPr lang="en-IE" b="1" dirty="0"/>
              <a:t> compiler</a:t>
            </a:r>
            <a:r>
              <a:rPr lang="en-IE" dirty="0"/>
              <a:t> </a:t>
            </a:r>
          </a:p>
          <a:p>
            <a:r>
              <a:rPr lang="en-IE" dirty="0"/>
              <a:t>To compile (go to directory where program is stored: using cd)</a:t>
            </a:r>
          </a:p>
          <a:p>
            <a:pPr lvl="1"/>
            <a:r>
              <a:rPr lang="en-IE" b="1" dirty="0" err="1"/>
              <a:t>gcc</a:t>
            </a:r>
            <a:r>
              <a:rPr lang="en-IE" b="1" dirty="0"/>
              <a:t> –o </a:t>
            </a:r>
            <a:r>
              <a:rPr lang="en-IE" b="1" dirty="0" err="1"/>
              <a:t>exe_file</a:t>
            </a:r>
            <a:r>
              <a:rPr lang="en-IE" b="1" dirty="0"/>
              <a:t> name  c source file name</a:t>
            </a:r>
          </a:p>
          <a:p>
            <a:r>
              <a:rPr lang="en-IE" dirty="0"/>
              <a:t>To run the program </a:t>
            </a:r>
          </a:p>
          <a:p>
            <a:pPr lvl="1"/>
            <a:r>
              <a:rPr lang="en-IE" b="1" dirty="0"/>
              <a:t>./exe file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797152"/>
            <a:ext cx="7376431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1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Array example: compile and run</a:t>
            </a:r>
          </a:p>
        </p:txBody>
      </p:sp>
      <p:pic>
        <p:nvPicPr>
          <p:cNvPr id="6" name="Content Placeholder 5" descr="denis.manley@apollo: ~/OS2/week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988840"/>
            <a:ext cx="7397766" cy="3847875"/>
          </a:xfrm>
        </p:spPr>
      </p:pic>
      <p:sp>
        <p:nvSpPr>
          <p:cNvPr id="3" name="TextBox 2"/>
          <p:cNvSpPr txBox="1"/>
          <p:nvPr/>
        </p:nvSpPr>
        <p:spPr>
          <a:xfrm>
            <a:off x="1115616" y="6165304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Does the program produce the correct output?</a:t>
            </a:r>
          </a:p>
        </p:txBody>
      </p:sp>
    </p:spTree>
    <p:extLst>
      <p:ext uri="{BB962C8B-B14F-4D97-AF65-F5344CB8AC3E}">
        <p14:creationId xmlns:p14="http://schemas.microsoft.com/office/powerpoint/2010/main" val="3909958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Week 1 Homework: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72608"/>
          </a:xfrm>
        </p:spPr>
        <p:txBody>
          <a:bodyPr>
            <a:normAutofit/>
          </a:bodyPr>
          <a:lstStyle/>
          <a:p>
            <a:r>
              <a:rPr lang="en-GB" sz="1600" dirty="0"/>
              <a:t>Write an algorithm and a c program to</a:t>
            </a:r>
          </a:p>
          <a:p>
            <a:r>
              <a:rPr lang="en-GB" sz="1600" dirty="0"/>
              <a:t>	prompt the user for 10 numbers and store these in an array.</a:t>
            </a:r>
          </a:p>
          <a:p>
            <a:r>
              <a:rPr lang="en-GB" sz="1600" dirty="0"/>
              <a:t>	The numbers in the array are then processed to graph the information in</a:t>
            </a:r>
          </a:p>
          <a:p>
            <a:r>
              <a:rPr lang="en-GB" sz="1600" dirty="0"/>
              <a:t>	the form of a bar chart or histogram - each number is printed, and then</a:t>
            </a:r>
          </a:p>
          <a:p>
            <a:r>
              <a:rPr lang="en-GB" sz="1600" dirty="0"/>
              <a:t>	a bar consisting of that many asterisks is printed beside the number .</a:t>
            </a:r>
          </a:p>
          <a:p>
            <a:endParaRPr lang="en-GB" sz="1600" dirty="0"/>
          </a:p>
          <a:p>
            <a:r>
              <a:rPr lang="en-GB" sz="1600" dirty="0"/>
              <a:t>The  following is a sample of the expected output:</a:t>
            </a:r>
          </a:p>
          <a:p>
            <a:endParaRPr lang="en-IE" sz="1600" dirty="0"/>
          </a:p>
          <a:p>
            <a:endParaRPr lang="en-IE" sz="1600" dirty="0"/>
          </a:p>
          <a:p>
            <a:endParaRPr lang="en-IE" sz="1600" dirty="0"/>
          </a:p>
        </p:txBody>
      </p:sp>
      <p:pic>
        <p:nvPicPr>
          <p:cNvPr id="4" name="Picture 3" descr="D:\Dropbox DIot\Dropbox (DIoT)\myweb 2015\DT282 operating systems 2\C notes\C Lectures\arrays and strings(p10 and 11)\code for strings and arrays\lab 2 questions and solutions\HISTOGR.ex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34" y="3140968"/>
            <a:ext cx="416300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11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64407dae-9111-4d0e-9c1c-c42aa4f394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niqueSourceRef xmlns="186a8af6-524e-48fb-a2b5-8db5625d742b" xsi:nil="true"/>
    <CloudMigratorVersion xmlns="186a8af6-524e-48fb-a2b5-8db5625d742b" xsi:nil="true"/>
    <FileHash xmlns="186a8af6-524e-48fb-a2b5-8db5625d74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497A5DDE61EC49B38F08F69D7D1C30" ma:contentTypeVersion="17" ma:contentTypeDescription="Create a new document." ma:contentTypeScope="" ma:versionID="50ee6cf9fc8018c547101306b654177e">
  <xsd:schema xmlns:xsd="http://www.w3.org/2001/XMLSchema" xmlns:xs="http://www.w3.org/2001/XMLSchema" xmlns:p="http://schemas.microsoft.com/office/2006/metadata/properties" xmlns:ns3="186a8af6-524e-48fb-a2b5-8db5625d742b" targetNamespace="http://schemas.microsoft.com/office/2006/metadata/properties" ma:root="true" ma:fieldsID="855f4172b47806caf3092843fe89453a" ns3:_="">
    <xsd:import namespace="186a8af6-524e-48fb-a2b5-8db5625d742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UniqueSourceRef" minOccurs="0"/>
                <xsd:element ref="ns3:FileHash" minOccurs="0"/>
                <xsd:element ref="ns3:CloudMigratorVersion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a8af6-524e-48fb-a2b5-8db5625d742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  <xsd:element name="UniqueSourceRef" ma:index="11" nillable="true" ma:displayName="UniqueSourceRef" ma:internalName="UniqueSourceRef">
      <xsd:simpleType>
        <xsd:restriction base="dms:Note">
          <xsd:maxLength value="255"/>
        </xsd:restriction>
      </xsd:simpleType>
    </xsd:element>
    <xsd:element name="FileHash" ma:index="12" nillable="true" ma:displayName="FileHash" ma:internalName="FileHash">
      <xsd:simpleType>
        <xsd:restriction base="dms:Note">
          <xsd:maxLength value="255"/>
        </xsd:restriction>
      </xsd:simpleType>
    </xsd:element>
    <xsd:element name="CloudMigratorVersion" ma:index="13" nillable="true" ma:displayName="CloudMigratorVersion" ma:internalName="CloudMigratorVersion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9A2BA7-B5C6-4179-B58D-9A3AF8CC2CE9}">
  <ds:schemaRefs>
    <ds:schemaRef ds:uri="186a8af6-524e-48fb-a2b5-8db5625d742b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EE047B3-0023-4992-AA03-9147F8398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6a8af6-524e-48fb-a2b5-8db5625d74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0707C7-65ED-439C-BF19-B5BD8C127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1594</TotalTime>
  <Words>654</Words>
  <Application>Microsoft Office PowerPoint</Application>
  <PresentationFormat>On-screen Show (4:3)</PresentationFormat>
  <Paragraphs>91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 programming Review</vt:lpstr>
      <vt:lpstr>Introduction </vt:lpstr>
      <vt:lpstr>Declare Variables</vt:lpstr>
      <vt:lpstr>Format specifiers for printf.</vt:lpstr>
      <vt:lpstr>Input/ output</vt:lpstr>
      <vt:lpstr>Conditional Statements</vt:lpstr>
      <vt:lpstr>Conditional Expressions</vt:lpstr>
      <vt:lpstr>Iteration statements</vt:lpstr>
      <vt:lpstr>What is the purpose of the following code?</vt:lpstr>
      <vt:lpstr>What is the purpose of the following code?</vt:lpstr>
      <vt:lpstr>a) What is the output of the following code? </vt:lpstr>
      <vt:lpstr>Arrays: static data structure</vt:lpstr>
      <vt:lpstr>Compile and run a program in linux</vt:lpstr>
      <vt:lpstr>Array example: compile and run</vt:lpstr>
      <vt:lpstr>Week 1 Homework: Histogram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Review</dc:title>
  <dc:creator>Denis Manley</dc:creator>
  <cp:lastModifiedBy>Denis Manley</cp:lastModifiedBy>
  <cp:revision>60</cp:revision>
  <dcterms:created xsi:type="dcterms:W3CDTF">2016-01-26T10:36:25Z</dcterms:created>
  <dcterms:modified xsi:type="dcterms:W3CDTF">2025-09-15T14:45:32Z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0x010100CE497A5DDE61EC49B38F08F69D7D1C30</vt:lpwstr>
  </property>
</Properties>
</file>