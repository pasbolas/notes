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0" r:id="rId3"/>
    <p:sldId id="324" r:id="rId4"/>
    <p:sldId id="283" r:id="rId5"/>
    <p:sldId id="323" r:id="rId6"/>
    <p:sldId id="322" r:id="rId7"/>
    <p:sldId id="313" r:id="rId8"/>
    <p:sldId id="272" r:id="rId9"/>
    <p:sldId id="273" r:id="rId10"/>
    <p:sldId id="300" r:id="rId11"/>
    <p:sldId id="274" r:id="rId12"/>
    <p:sldId id="318" r:id="rId13"/>
    <p:sldId id="332" r:id="rId14"/>
    <p:sldId id="316" r:id="rId15"/>
    <p:sldId id="339" r:id="rId16"/>
    <p:sldId id="333" r:id="rId17"/>
    <p:sldId id="345" r:id="rId18"/>
    <p:sldId id="275" r:id="rId19"/>
    <p:sldId id="301" r:id="rId20"/>
    <p:sldId id="342" r:id="rId21"/>
    <p:sldId id="336" r:id="rId22"/>
    <p:sldId id="341" r:id="rId23"/>
    <p:sldId id="328" r:id="rId24"/>
    <p:sldId id="303" r:id="rId25"/>
    <p:sldId id="304" r:id="rId26"/>
    <p:sldId id="306" r:id="rId27"/>
    <p:sldId id="307" r:id="rId28"/>
  </p:sldIdLst>
  <p:sldSz cx="9144000" cy="6858000" type="screen4x3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1" d="100"/>
          <a:sy n="111" d="100"/>
        </p:scale>
        <p:origin x="159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Manley" userId="445117d2-14a5-4c3e-af19-f1006b049bb1" providerId="ADAL" clId="{8CC12A5C-FC9C-4E0E-8855-445E9824A927}"/>
    <pc:docChg chg="delSld modSld">
      <pc:chgData name="Denis Manley" userId="445117d2-14a5-4c3e-af19-f1006b049bb1" providerId="ADAL" clId="{8CC12A5C-FC9C-4E0E-8855-445E9824A927}" dt="2025-10-13T17:55:38.683" v="36" actId="20577"/>
      <pc:docMkLst>
        <pc:docMk/>
      </pc:docMkLst>
      <pc:sldChg chg="modSp mod">
        <pc:chgData name="Denis Manley" userId="445117d2-14a5-4c3e-af19-f1006b049bb1" providerId="ADAL" clId="{8CC12A5C-FC9C-4E0E-8855-445E9824A927}" dt="2025-10-13T17:55:38.683" v="36" actId="20577"/>
        <pc:sldMkLst>
          <pc:docMk/>
          <pc:sldMk cId="523173388" sldId="256"/>
        </pc:sldMkLst>
        <pc:spChg chg="mod">
          <ac:chgData name="Denis Manley" userId="445117d2-14a5-4c3e-af19-f1006b049bb1" providerId="ADAL" clId="{8CC12A5C-FC9C-4E0E-8855-445E9824A927}" dt="2025-10-13T17:55:24.954" v="13" actId="20577"/>
          <ac:spMkLst>
            <pc:docMk/>
            <pc:sldMk cId="523173388" sldId="256"/>
            <ac:spMk id="2" creationId="{00000000-0000-0000-0000-000000000000}"/>
          </ac:spMkLst>
        </pc:spChg>
        <pc:spChg chg="mod">
          <ac:chgData name="Denis Manley" userId="445117d2-14a5-4c3e-af19-f1006b049bb1" providerId="ADAL" clId="{8CC12A5C-FC9C-4E0E-8855-445E9824A927}" dt="2025-10-13T17:55:38.683" v="36" actId="20577"/>
          <ac:spMkLst>
            <pc:docMk/>
            <pc:sldMk cId="523173388" sldId="256"/>
            <ac:spMk id="3" creationId="{00000000-0000-0000-0000-000000000000}"/>
          </ac:spMkLst>
        </pc:spChg>
      </pc:sldChg>
      <pc:sldChg chg="del">
        <pc:chgData name="Denis Manley" userId="445117d2-14a5-4c3e-af19-f1006b049bb1" providerId="ADAL" clId="{8CC12A5C-FC9C-4E0E-8855-445E9824A927}" dt="2025-10-11T14:15:30.751" v="0" actId="47"/>
        <pc:sldMkLst>
          <pc:docMk/>
          <pc:sldMk cId="493897830" sldId="308"/>
        </pc:sldMkLst>
      </pc:sldChg>
      <pc:sldChg chg="del">
        <pc:chgData name="Denis Manley" userId="445117d2-14a5-4c3e-af19-f1006b049bb1" providerId="ADAL" clId="{8CC12A5C-FC9C-4E0E-8855-445E9824A927}" dt="2025-10-11T14:15:32.420" v="1" actId="47"/>
        <pc:sldMkLst>
          <pc:docMk/>
          <pc:sldMk cId="2170555013" sldId="309"/>
        </pc:sldMkLst>
      </pc:sldChg>
      <pc:sldChg chg="del">
        <pc:chgData name="Denis Manley" userId="445117d2-14a5-4c3e-af19-f1006b049bb1" providerId="ADAL" clId="{8CC12A5C-FC9C-4E0E-8855-445E9824A927}" dt="2025-10-11T14:15:57.533" v="2" actId="47"/>
        <pc:sldMkLst>
          <pc:docMk/>
          <pc:sldMk cId="3993608354" sldId="3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7BD56-CCC1-4B10-858E-2064BF872359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6908D-7E70-48B0-8BC1-9F3A78FB4D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4356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6609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60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614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752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8312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631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1344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8050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1628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6134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E413-A6AC-4051-AA3A-8D26A09547B5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44963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3F765-C2D0-40C0-AD68-986E4D6151E6}" type="datetime1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©1992-2013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024C2-6306-4442-A836-6B8CD01268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07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DE413-A6AC-4051-AA3A-8D26A09547B5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13C74-7BF1-4BEB-88B7-3F9AEFE3A28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2845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windbg.xyz/windbg/article/202-Typical-x86-call-stack-example#google_vignette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all_stack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58975"/>
            <a:ext cx="7772400" cy="1470025"/>
          </a:xfrm>
        </p:spPr>
        <p:txBody>
          <a:bodyPr/>
          <a:lstStyle/>
          <a:p>
            <a:r>
              <a:rPr lang="en-IE" dirty="0"/>
              <a:t>Stacks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56720"/>
            <a:ext cx="6400800" cy="1752600"/>
          </a:xfrm>
        </p:spPr>
        <p:txBody>
          <a:bodyPr/>
          <a:lstStyle/>
          <a:p>
            <a:r>
              <a:rPr lang="en-IE" dirty="0"/>
              <a:t>A subset of a link list</a:t>
            </a:r>
          </a:p>
        </p:txBody>
      </p:sp>
    </p:spTree>
    <p:extLst>
      <p:ext uri="{BB962C8B-B14F-4D97-AF65-F5344CB8AC3E}">
        <p14:creationId xmlns:p14="http://schemas.microsoft.com/office/powerpoint/2010/main" val="523173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A stack and how it is implemented </a:t>
            </a:r>
          </a:p>
          <a:p>
            <a:pPr lvl="1"/>
            <a:r>
              <a:rPr lang="en-IE" dirty="0"/>
              <a:t>A LIFO </a:t>
            </a:r>
          </a:p>
          <a:p>
            <a:pPr lvl="1"/>
            <a:r>
              <a:rPr lang="en-IE" dirty="0"/>
              <a:t>The push (add node  to stack)</a:t>
            </a:r>
          </a:p>
          <a:p>
            <a:pPr lvl="1"/>
            <a:r>
              <a:rPr lang="en-IE" dirty="0"/>
              <a:t>pop functions (delete note from stack)</a:t>
            </a:r>
          </a:p>
          <a:p>
            <a:endParaRPr lang="en-IE" dirty="0"/>
          </a:p>
          <a:p>
            <a:r>
              <a:rPr lang="en-IE" dirty="0"/>
              <a:t>A queue and how  it is implemented </a:t>
            </a:r>
          </a:p>
          <a:p>
            <a:pPr lvl="1"/>
            <a:r>
              <a:rPr lang="en-IE" dirty="0"/>
              <a:t>A FIFO </a:t>
            </a:r>
          </a:p>
          <a:p>
            <a:pPr lvl="1"/>
            <a:r>
              <a:rPr lang="en-IE" dirty="0"/>
              <a:t>The </a:t>
            </a:r>
            <a:r>
              <a:rPr lang="en-IE" dirty="0" err="1"/>
              <a:t>enqueue</a:t>
            </a:r>
            <a:r>
              <a:rPr lang="en-IE" dirty="0"/>
              <a:t> function (add node to queue)</a:t>
            </a:r>
          </a:p>
          <a:p>
            <a:pPr lvl="1"/>
            <a:r>
              <a:rPr lang="en-IE" dirty="0" err="1"/>
              <a:t>Dequeue</a:t>
            </a:r>
            <a:r>
              <a:rPr lang="en-IE" dirty="0"/>
              <a:t> function (delete node from the queue) </a:t>
            </a:r>
          </a:p>
        </p:txBody>
      </p:sp>
    </p:spTree>
    <p:extLst>
      <p:ext uri="{BB962C8B-B14F-4D97-AF65-F5344CB8AC3E}">
        <p14:creationId xmlns:p14="http://schemas.microsoft.com/office/powerpoint/2010/main" val="656009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3204" y="1052736"/>
            <a:ext cx="8229600" cy="5472608"/>
          </a:xfrm>
        </p:spPr>
        <p:txBody>
          <a:bodyPr>
            <a:normAutofit/>
          </a:bodyPr>
          <a:lstStyle/>
          <a:p>
            <a:r>
              <a:rPr lang="en-IE" dirty="0"/>
              <a:t>A stack implemented using pointers?</a:t>
            </a:r>
          </a:p>
          <a:p>
            <a:endParaRPr lang="en-I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IE" dirty="0"/>
              <a:t>The Stack Data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7784" y="3365376"/>
            <a:ext cx="1008112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Function 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35896" y="3581400"/>
            <a:ext cx="504056" cy="360040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4139952" y="3365376"/>
            <a:ext cx="936104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Function 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48064" y="3581400"/>
            <a:ext cx="504056" cy="360040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9"/>
          <p:cNvSpPr/>
          <p:nvPr/>
        </p:nvSpPr>
        <p:spPr>
          <a:xfrm>
            <a:off x="5652120" y="3365376"/>
            <a:ext cx="1080120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dirty="0"/>
              <a:t>Function main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04248" y="3581400"/>
            <a:ext cx="504056" cy="360040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/>
          <p:cNvSpPr/>
          <p:nvPr/>
        </p:nvSpPr>
        <p:spPr>
          <a:xfrm>
            <a:off x="7308304" y="3365376"/>
            <a:ext cx="1584176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End of </a:t>
            </a:r>
            <a:r>
              <a:rPr lang="en-IE" dirty="0" err="1"/>
              <a:t>th</a:t>
            </a:r>
            <a:r>
              <a:rPr lang="en-IE" dirty="0"/>
              <a:t> stack contains a null value </a:t>
            </a:r>
          </a:p>
        </p:txBody>
      </p:sp>
      <p:sp>
        <p:nvSpPr>
          <p:cNvPr id="17" name="Bent Arrow 16"/>
          <p:cNvSpPr/>
          <p:nvPr/>
        </p:nvSpPr>
        <p:spPr>
          <a:xfrm>
            <a:off x="1510426" y="3717032"/>
            <a:ext cx="1117358" cy="1584176"/>
          </a:xfrm>
          <a:prstGeom prst="ben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  <p:sp>
        <p:nvSpPr>
          <p:cNvPr id="18" name="Bent Arrow 17"/>
          <p:cNvSpPr/>
          <p:nvPr/>
        </p:nvSpPr>
        <p:spPr>
          <a:xfrm rot="16200000">
            <a:off x="1295635" y="2384883"/>
            <a:ext cx="1368152" cy="1296145"/>
          </a:xfrm>
          <a:prstGeom prst="ben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39552" y="5301208"/>
            <a:ext cx="2448272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Push function onto the stack </a:t>
            </a:r>
          </a:p>
        </p:txBody>
      </p:sp>
      <p:sp>
        <p:nvSpPr>
          <p:cNvPr id="14" name="Oval 13"/>
          <p:cNvSpPr/>
          <p:nvPr/>
        </p:nvSpPr>
        <p:spPr>
          <a:xfrm>
            <a:off x="323528" y="1628800"/>
            <a:ext cx="2448272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Pop function off of the stack </a:t>
            </a:r>
          </a:p>
        </p:txBody>
      </p:sp>
      <p:sp>
        <p:nvSpPr>
          <p:cNvPr id="16" name="Oval 15"/>
          <p:cNvSpPr/>
          <p:nvPr/>
        </p:nvSpPr>
        <p:spPr>
          <a:xfrm>
            <a:off x="3707904" y="5453608"/>
            <a:ext cx="3096344" cy="10717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Pointer to position of previous frame address : frame pointer</a:t>
            </a:r>
          </a:p>
        </p:txBody>
      </p:sp>
      <p:cxnSp>
        <p:nvCxnSpPr>
          <p:cNvPr id="5" name="Straight Arrow Connector 4"/>
          <p:cNvCxnSpPr>
            <a:stCxn id="16" idx="0"/>
            <a:endCxn id="9" idx="2"/>
          </p:cNvCxnSpPr>
          <p:nvPr/>
        </p:nvCxnSpPr>
        <p:spPr>
          <a:xfrm flipV="1">
            <a:off x="5256076" y="3941440"/>
            <a:ext cx="216024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7" idx="2"/>
          </p:cNvCxnSpPr>
          <p:nvPr/>
        </p:nvCxnSpPr>
        <p:spPr>
          <a:xfrm flipH="1" flipV="1">
            <a:off x="3959932" y="3941440"/>
            <a:ext cx="1116124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131840" y="1988840"/>
            <a:ext cx="2448272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Pointer to top of the stack : </a:t>
            </a:r>
            <a:r>
              <a:rPr lang="en-IE" dirty="0" err="1"/>
              <a:t>stackpointer</a:t>
            </a:r>
            <a:endParaRPr lang="en-IE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2627784" y="2636912"/>
            <a:ext cx="648072" cy="728464"/>
          </a:xfrm>
          <a:prstGeom prst="straightConnector1">
            <a:avLst/>
          </a:prstGeom>
          <a:ln w="889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88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12.5.3  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Applications of Stacks </a:t>
            </a:r>
          </a:p>
        </p:txBody>
      </p:sp>
      <p:sp>
        <p:nvSpPr>
          <p:cNvPr id="90115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Stacks have many interesting applications.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For example, whenever a </a:t>
            </a: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function call 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is made, the called function must know how to </a:t>
            </a: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return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 to its caller, so the </a:t>
            </a: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return address 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is pushed onto a stack.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If a series of function calls occurs, the successive return values are pushed onto the stack in </a:t>
            </a: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last-in, first-out order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 so that each function can return to its caller.</a:t>
            </a:r>
          </a:p>
        </p:txBody>
      </p:sp>
      <p:sp>
        <p:nvSpPr>
          <p:cNvPr id="89092" name="Footer Placeholder 3"/>
          <p:cNvSpPr>
            <a:spLocks noGrp="1"/>
          </p:cNvSpPr>
          <p:nvPr>
            <p:ph type="ftr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©1992-2013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6125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IE" dirty="0"/>
              <a:t>A call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 fontScale="70000" lnSpcReduction="20000"/>
          </a:bodyPr>
          <a:lstStyle/>
          <a:p>
            <a:endParaRPr lang="en-IE" dirty="0"/>
          </a:p>
          <a:p>
            <a:endParaRPr lang="en-IE" dirty="0"/>
          </a:p>
          <a:p>
            <a:r>
              <a:rPr lang="en-IE" dirty="0"/>
              <a:t>A call stack is a data structure that is used to is used to store information about the active routines (functions) in a program.</a:t>
            </a:r>
          </a:p>
          <a:p>
            <a:endParaRPr lang="en-IE" dirty="0"/>
          </a:p>
          <a:p>
            <a:r>
              <a:rPr lang="en-IE" dirty="0"/>
              <a:t>Each time a function (main or other functions are invoked they, including local variables…) are </a:t>
            </a:r>
            <a:r>
              <a:rPr lang="en-IE" b="1" dirty="0"/>
              <a:t>pushed</a:t>
            </a:r>
            <a:r>
              <a:rPr lang="en-IE" dirty="0"/>
              <a:t> onto the stack. </a:t>
            </a:r>
          </a:p>
          <a:p>
            <a:r>
              <a:rPr lang="en-IE" dirty="0"/>
              <a:t>Once the functions is finished executing “it” is  </a:t>
            </a:r>
            <a:r>
              <a:rPr lang="en-IE" b="1" dirty="0"/>
              <a:t>popped</a:t>
            </a:r>
            <a:r>
              <a:rPr lang="en-IE" dirty="0"/>
              <a:t> from the stack.</a:t>
            </a:r>
          </a:p>
          <a:p>
            <a:endParaRPr lang="en-IE" dirty="0"/>
          </a:p>
          <a:p>
            <a:r>
              <a:rPr lang="en-IE" dirty="0"/>
              <a:t>A stack operates on </a:t>
            </a:r>
            <a:r>
              <a:rPr lang="en-IE" i="1" dirty="0"/>
              <a:t>the last in first out</a:t>
            </a:r>
            <a:r>
              <a:rPr lang="en-IE" dirty="0"/>
              <a:t> principle (LIFO) (</a:t>
            </a:r>
            <a:r>
              <a:rPr lang="en-IE" i="1" dirty="0"/>
              <a:t>push</a:t>
            </a:r>
            <a:r>
              <a:rPr lang="en-IE" dirty="0"/>
              <a:t> to beginning of the stack and </a:t>
            </a:r>
            <a:r>
              <a:rPr lang="en-IE" i="1" dirty="0"/>
              <a:t>pop</a:t>
            </a:r>
            <a:r>
              <a:rPr lang="en-IE" dirty="0"/>
              <a:t> from the beginning of the stack. </a:t>
            </a:r>
          </a:p>
          <a:p>
            <a:endParaRPr lang="en-IE" dirty="0"/>
          </a:p>
          <a:p>
            <a:r>
              <a:rPr lang="en-IE" dirty="0"/>
              <a:t>This procedure is controlled by the use of a stack pointer which keeps track of the “starting” position, sometimes referred to as the head/top,  of the stack.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43145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IE" dirty="0"/>
              <a:t>The Call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r>
              <a:rPr lang="en-IE" dirty="0">
                <a:hlinkClick r:id="rId2"/>
              </a:rPr>
              <a:t>Example of call stack</a:t>
            </a:r>
            <a:r>
              <a:rPr lang="en-IE" dirty="0"/>
              <a:t>:</a:t>
            </a:r>
          </a:p>
          <a:p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64906"/>
            <a:ext cx="8807006" cy="3193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57A81C-554B-02FD-03BC-E1D3EEB07601}"/>
              </a:ext>
            </a:extLst>
          </p:cNvPr>
          <p:cNvSpPr txBox="1"/>
          <p:nvPr/>
        </p:nvSpPr>
        <p:spPr>
          <a:xfrm>
            <a:off x="823133" y="5937031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EBP: extended base pointer: aka frame pointer</a:t>
            </a:r>
          </a:p>
          <a:p>
            <a:r>
              <a:rPr lang="en-IE" dirty="0"/>
              <a:t>ESP extended stack pointer: stack pointer</a:t>
            </a:r>
          </a:p>
        </p:txBody>
      </p:sp>
    </p:spTree>
    <p:extLst>
      <p:ext uri="{BB962C8B-B14F-4D97-AF65-F5344CB8AC3E}">
        <p14:creationId xmlns:p14="http://schemas.microsoft.com/office/powerpoint/2010/main" val="26815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Call stack: Stack and Frame pointer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1124744"/>
            <a:ext cx="6515100" cy="5314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6A32DA-FDF0-4609-2084-7837681938A9}"/>
              </a:ext>
            </a:extLst>
          </p:cNvPr>
          <p:cNvSpPr txBox="1"/>
          <p:nvPr/>
        </p:nvSpPr>
        <p:spPr>
          <a:xfrm>
            <a:off x="1287568" y="61954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hlinkClick r:id="rId3"/>
              </a:rPr>
              <a:t>call stack Wikipedia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30900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3204" y="1052736"/>
            <a:ext cx="8229600" cy="5472608"/>
          </a:xfrm>
        </p:spPr>
        <p:txBody>
          <a:bodyPr>
            <a:normAutofit/>
          </a:bodyPr>
          <a:lstStyle/>
          <a:p>
            <a:r>
              <a:rPr lang="en-IE" dirty="0"/>
              <a:t>A stack implemented using pointers?</a:t>
            </a:r>
          </a:p>
          <a:p>
            <a:endParaRPr lang="en-I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IE" dirty="0"/>
              <a:t>The Stack Data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7784" y="3365376"/>
            <a:ext cx="1008112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Function 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35896" y="3581400"/>
            <a:ext cx="504056" cy="360040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4139952" y="3365376"/>
            <a:ext cx="936104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Function 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48064" y="3581400"/>
            <a:ext cx="504056" cy="360040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9"/>
          <p:cNvSpPr/>
          <p:nvPr/>
        </p:nvSpPr>
        <p:spPr>
          <a:xfrm>
            <a:off x="5652120" y="3365376"/>
            <a:ext cx="1080120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dirty="0"/>
              <a:t>Function main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04248" y="3581400"/>
            <a:ext cx="504056" cy="360040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/>
          <p:cNvSpPr/>
          <p:nvPr/>
        </p:nvSpPr>
        <p:spPr>
          <a:xfrm>
            <a:off x="7308304" y="3365376"/>
            <a:ext cx="1584176" cy="73960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End of </a:t>
            </a:r>
            <a:r>
              <a:rPr lang="en-IE" dirty="0" err="1"/>
              <a:t>th</a:t>
            </a:r>
            <a:r>
              <a:rPr lang="en-IE" dirty="0"/>
              <a:t> stack contains a null value </a:t>
            </a:r>
          </a:p>
        </p:txBody>
      </p:sp>
      <p:sp>
        <p:nvSpPr>
          <p:cNvPr id="17" name="Bent Arrow 16"/>
          <p:cNvSpPr/>
          <p:nvPr/>
        </p:nvSpPr>
        <p:spPr>
          <a:xfrm>
            <a:off x="1510426" y="3717032"/>
            <a:ext cx="1117358" cy="1584176"/>
          </a:xfrm>
          <a:prstGeom prst="ben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  <p:sp>
        <p:nvSpPr>
          <p:cNvPr id="18" name="Bent Arrow 17"/>
          <p:cNvSpPr/>
          <p:nvPr/>
        </p:nvSpPr>
        <p:spPr>
          <a:xfrm rot="16200000">
            <a:off x="1295635" y="2384883"/>
            <a:ext cx="1368152" cy="1296145"/>
          </a:xfrm>
          <a:prstGeom prst="ben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39552" y="5301208"/>
            <a:ext cx="2448272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Push function onto the stack </a:t>
            </a:r>
          </a:p>
        </p:txBody>
      </p:sp>
      <p:sp>
        <p:nvSpPr>
          <p:cNvPr id="14" name="Oval 13"/>
          <p:cNvSpPr/>
          <p:nvPr/>
        </p:nvSpPr>
        <p:spPr>
          <a:xfrm>
            <a:off x="323528" y="1628800"/>
            <a:ext cx="2448272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Pop function off of the stack </a:t>
            </a:r>
          </a:p>
        </p:txBody>
      </p:sp>
      <p:sp>
        <p:nvSpPr>
          <p:cNvPr id="16" name="Oval 15"/>
          <p:cNvSpPr/>
          <p:nvPr/>
        </p:nvSpPr>
        <p:spPr>
          <a:xfrm>
            <a:off x="3707904" y="5453608"/>
            <a:ext cx="3096344" cy="10717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Pointer to position of previous frame address : frame pointer</a:t>
            </a:r>
          </a:p>
        </p:txBody>
      </p:sp>
      <p:cxnSp>
        <p:nvCxnSpPr>
          <p:cNvPr id="5" name="Straight Arrow Connector 4"/>
          <p:cNvCxnSpPr>
            <a:stCxn id="16" idx="0"/>
            <a:endCxn id="9" idx="2"/>
          </p:cNvCxnSpPr>
          <p:nvPr/>
        </p:nvCxnSpPr>
        <p:spPr>
          <a:xfrm flipV="1">
            <a:off x="5256076" y="3941440"/>
            <a:ext cx="216024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7" idx="2"/>
          </p:cNvCxnSpPr>
          <p:nvPr/>
        </p:nvCxnSpPr>
        <p:spPr>
          <a:xfrm flipH="1" flipV="1">
            <a:off x="3959932" y="3941440"/>
            <a:ext cx="1116124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131840" y="1988840"/>
            <a:ext cx="2448272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Pointer to top of the stack : </a:t>
            </a:r>
            <a:r>
              <a:rPr lang="en-IE" dirty="0" err="1"/>
              <a:t>stackpointer</a:t>
            </a:r>
            <a:endParaRPr lang="en-IE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2627784" y="2636912"/>
            <a:ext cx="648072" cy="728464"/>
          </a:xfrm>
          <a:prstGeom prst="straightConnector1">
            <a:avLst/>
          </a:prstGeom>
          <a:ln w="889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241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CD63BF10-D28E-4090-9F1A-B9F38ACAB2C5}" type="slidenum">
              <a:rPr lang="zh-TW" altLang="en-US"/>
              <a:pPr/>
              <a:t>9</a:t>
            </a:fld>
            <a:endParaRPr lang="en-US" altLang="zh-TW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Implementation of a Stack: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1240" y="2755776"/>
            <a:ext cx="8331200" cy="3769568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ea typeface="宋体" pitchFamily="2" charset="-122"/>
              </a:rPr>
              <a:t>A </a:t>
            </a:r>
            <a:r>
              <a:rPr lang="en-US" altLang="zh-CN" sz="2400" i="1" dirty="0">
                <a:solidFill>
                  <a:srgbClr val="FFCC00"/>
                </a:solidFill>
                <a:ea typeface="宋体" pitchFamily="2" charset="-122"/>
              </a:rPr>
              <a:t>stack </a:t>
            </a:r>
            <a:r>
              <a:rPr lang="en-US" altLang="zh-CN" sz="2400" dirty="0">
                <a:ea typeface="宋体" pitchFamily="2" charset="-122"/>
              </a:rPr>
              <a:t>is a series of connected </a:t>
            </a:r>
            <a:r>
              <a:rPr lang="en-US" altLang="zh-CN" sz="2400" i="1" dirty="0">
                <a:solidFill>
                  <a:srgbClr val="FFCC00"/>
                </a:solidFill>
                <a:ea typeface="宋体" pitchFamily="2" charset="-122"/>
              </a:rPr>
              <a:t>nodes</a:t>
            </a:r>
          </a:p>
          <a:p>
            <a:r>
              <a:rPr lang="en-US" altLang="zh-CN" sz="2400" dirty="0">
                <a:ea typeface="宋体" pitchFamily="2" charset="-122"/>
              </a:rPr>
              <a:t>Each node contains at least</a:t>
            </a:r>
          </a:p>
          <a:p>
            <a:pPr lvl="1"/>
            <a:r>
              <a:rPr lang="en-US" altLang="zh-CN" sz="2400" dirty="0">
                <a:ea typeface="宋体" pitchFamily="2" charset="-122"/>
              </a:rPr>
              <a:t>A piece of data (e.g. P.C.B or functions)</a:t>
            </a:r>
          </a:p>
          <a:p>
            <a:pPr lvl="1"/>
            <a:r>
              <a:rPr lang="en-US" altLang="zh-CN" sz="2400" dirty="0">
                <a:ea typeface="宋体" pitchFamily="2" charset="-122"/>
              </a:rPr>
              <a:t>Pointer to the next node in the stack ; </a:t>
            </a:r>
          </a:p>
          <a:p>
            <a:endParaRPr lang="en-US" altLang="zh-CN" sz="2400" i="1" dirty="0">
              <a:solidFill>
                <a:srgbClr val="FFCC00"/>
              </a:solidFill>
              <a:ea typeface="宋体" pitchFamily="2" charset="-122"/>
            </a:endParaRPr>
          </a:p>
          <a:p>
            <a:r>
              <a:rPr lang="en-US" altLang="zh-CN" sz="2400" i="1" dirty="0" err="1">
                <a:solidFill>
                  <a:srgbClr val="FFCC00"/>
                </a:solidFill>
                <a:ea typeface="宋体" pitchFamily="2" charset="-122"/>
              </a:rPr>
              <a:t>stackPtr</a:t>
            </a:r>
            <a:r>
              <a:rPr lang="en-US" altLang="zh-CN" sz="2400" dirty="0">
                <a:ea typeface="宋体" pitchFamily="2" charset="-122"/>
              </a:rPr>
              <a:t>: pointer to the first node</a:t>
            </a:r>
          </a:p>
          <a:p>
            <a:r>
              <a:rPr lang="en-US" altLang="zh-CN" sz="2400" dirty="0">
                <a:ea typeface="宋体" pitchFamily="2" charset="-122"/>
              </a:rPr>
              <a:t>The last node points to 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NULL </a:t>
            </a:r>
          </a:p>
          <a:p>
            <a:r>
              <a:rPr lang="en-US" altLang="zh-CN" sz="2400" dirty="0" err="1">
                <a:latin typeface="Courier New" pitchFamily="49" charset="0"/>
                <a:ea typeface="宋体" pitchFamily="2" charset="-122"/>
              </a:rPr>
              <a:t>stackPtr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 = Null indicates an empty stack</a:t>
            </a:r>
          </a:p>
        </p:txBody>
      </p:sp>
      <p:sp>
        <p:nvSpPr>
          <p:cNvPr id="5125" name="Rectangle 15"/>
          <p:cNvSpPr>
            <a:spLocks noChangeArrowheads="1"/>
          </p:cNvSpPr>
          <p:nvPr/>
        </p:nvSpPr>
        <p:spPr bwMode="auto">
          <a:xfrm>
            <a:off x="3267075" y="18351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sp>
        <p:nvSpPr>
          <p:cNvPr id="5126" name="Line 16"/>
          <p:cNvSpPr>
            <a:spLocks noChangeShapeType="1"/>
          </p:cNvSpPr>
          <p:nvPr/>
        </p:nvSpPr>
        <p:spPr bwMode="auto">
          <a:xfrm flipV="1">
            <a:off x="3571875" y="21399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5127" name="Rectangle 18"/>
          <p:cNvSpPr>
            <a:spLocks noChangeArrowheads="1"/>
          </p:cNvSpPr>
          <p:nvPr/>
        </p:nvSpPr>
        <p:spPr bwMode="auto">
          <a:xfrm>
            <a:off x="5095875" y="18351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sp>
        <p:nvSpPr>
          <p:cNvPr id="5128" name="Line 19"/>
          <p:cNvSpPr>
            <a:spLocks noChangeShapeType="1"/>
          </p:cNvSpPr>
          <p:nvPr/>
        </p:nvSpPr>
        <p:spPr bwMode="auto">
          <a:xfrm flipV="1">
            <a:off x="5400675" y="21399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5129" name="Rectangle 21"/>
          <p:cNvSpPr>
            <a:spLocks noChangeArrowheads="1"/>
          </p:cNvSpPr>
          <p:nvPr/>
        </p:nvSpPr>
        <p:spPr bwMode="auto">
          <a:xfrm>
            <a:off x="6924675" y="18351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grpSp>
        <p:nvGrpSpPr>
          <p:cNvPr id="5130" name="Group 36"/>
          <p:cNvGrpSpPr>
            <a:grpSpLocks/>
          </p:cNvGrpSpPr>
          <p:nvPr/>
        </p:nvGrpSpPr>
        <p:grpSpPr bwMode="auto">
          <a:xfrm>
            <a:off x="2657475" y="1835150"/>
            <a:ext cx="609600" cy="609600"/>
            <a:chOff x="1728" y="2880"/>
            <a:chExt cx="384" cy="384"/>
          </a:xfrm>
        </p:grpSpPr>
        <p:sp>
          <p:nvSpPr>
            <p:cNvPr id="5150" name="Rectangle 14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IE" altLang="en-US"/>
            </a:p>
          </p:txBody>
        </p:sp>
        <p:sp>
          <p:nvSpPr>
            <p:cNvPr id="5151" name="Text Box 23"/>
            <p:cNvSpPr txBox="1">
              <a:spLocks noChangeArrowheads="1"/>
            </p:cNvSpPr>
            <p:nvPr/>
          </p:nvSpPr>
          <p:spPr bwMode="auto">
            <a:xfrm>
              <a:off x="1823" y="2966"/>
              <a:ext cx="2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bg1"/>
                  </a:solidFill>
                  <a:latin typeface="Tahoma" pitchFamily="34" charset="0"/>
                  <a:ea typeface="宋体" pitchFamily="2" charset="-122"/>
                </a:rPr>
                <a:t>3</a:t>
              </a:r>
            </a:p>
          </p:txBody>
        </p:sp>
      </p:grpSp>
      <p:sp>
        <p:nvSpPr>
          <p:cNvPr id="5131" name="Text Box 29"/>
          <p:cNvSpPr txBox="1">
            <a:spLocks noChangeArrowheads="1"/>
          </p:cNvSpPr>
          <p:nvPr/>
        </p:nvSpPr>
        <p:spPr bwMode="auto">
          <a:xfrm>
            <a:off x="6897323" y="1943100"/>
            <a:ext cx="6992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IE" altLang="zh-CN" sz="2000" b="1" dirty="0">
                <a:latin typeface="Tahoma" pitchFamily="34" charset="0"/>
                <a:ea typeface="宋体" pitchFamily="2" charset="-122"/>
                <a:sym typeface="Symbol" pitchFamily="18" charset="2"/>
              </a:rPr>
              <a:t>Null</a:t>
            </a:r>
            <a:endParaRPr lang="zh-CN" altLang="en-US" sz="2000" b="1" dirty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132" name="Rectangle 31"/>
          <p:cNvSpPr>
            <a:spLocks noChangeArrowheads="1"/>
          </p:cNvSpPr>
          <p:nvPr/>
        </p:nvSpPr>
        <p:spPr bwMode="auto">
          <a:xfrm>
            <a:off x="1438275" y="18288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sp>
        <p:nvSpPr>
          <p:cNvPr id="5133" name="Line 13"/>
          <p:cNvSpPr>
            <a:spLocks noChangeShapeType="1"/>
          </p:cNvSpPr>
          <p:nvPr/>
        </p:nvSpPr>
        <p:spPr bwMode="auto">
          <a:xfrm flipV="1">
            <a:off x="1743075" y="21399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grpSp>
        <p:nvGrpSpPr>
          <p:cNvPr id="5135" name="Group 37"/>
          <p:cNvGrpSpPr>
            <a:grpSpLocks/>
          </p:cNvGrpSpPr>
          <p:nvPr/>
        </p:nvGrpSpPr>
        <p:grpSpPr bwMode="auto">
          <a:xfrm>
            <a:off x="4486275" y="1835150"/>
            <a:ext cx="609600" cy="609600"/>
            <a:chOff x="1728" y="2880"/>
            <a:chExt cx="384" cy="384"/>
          </a:xfrm>
        </p:grpSpPr>
        <p:sp>
          <p:nvSpPr>
            <p:cNvPr id="5148" name="Rectangle 38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IE" altLang="en-US"/>
            </a:p>
          </p:txBody>
        </p:sp>
        <p:sp>
          <p:nvSpPr>
            <p:cNvPr id="5149" name="Text Box 39"/>
            <p:cNvSpPr txBox="1">
              <a:spLocks noChangeArrowheads="1"/>
            </p:cNvSpPr>
            <p:nvPr/>
          </p:nvSpPr>
          <p:spPr bwMode="auto">
            <a:xfrm>
              <a:off x="1823" y="2966"/>
              <a:ext cx="2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bg1"/>
                  </a:solidFill>
                  <a:latin typeface="Tahoma" pitchFamily="34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5136" name="Group 40"/>
          <p:cNvGrpSpPr>
            <a:grpSpLocks/>
          </p:cNvGrpSpPr>
          <p:nvPr/>
        </p:nvGrpSpPr>
        <p:grpSpPr bwMode="auto">
          <a:xfrm>
            <a:off x="6315075" y="1835150"/>
            <a:ext cx="609600" cy="609600"/>
            <a:chOff x="1728" y="2880"/>
            <a:chExt cx="384" cy="384"/>
          </a:xfrm>
        </p:grpSpPr>
        <p:sp>
          <p:nvSpPr>
            <p:cNvPr id="5146" name="Rectangle 41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IE" altLang="en-US"/>
            </a:p>
          </p:txBody>
        </p:sp>
        <p:sp>
          <p:nvSpPr>
            <p:cNvPr id="5147" name="Text Box 42"/>
            <p:cNvSpPr txBox="1">
              <a:spLocks noChangeArrowheads="1"/>
            </p:cNvSpPr>
            <p:nvPr/>
          </p:nvSpPr>
          <p:spPr bwMode="auto">
            <a:xfrm>
              <a:off x="1823" y="2966"/>
              <a:ext cx="2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bg1"/>
                  </a:solidFill>
                  <a:latin typeface="Tahoma" pitchFamily="34" charset="0"/>
                  <a:ea typeface="宋体" pitchFamily="2" charset="-122"/>
                </a:rPr>
                <a:t>1</a:t>
              </a:r>
            </a:p>
          </p:txBody>
        </p:sp>
      </p:grpSp>
      <p:sp>
        <p:nvSpPr>
          <p:cNvPr id="32" name="Text Box 34"/>
          <p:cNvSpPr txBox="1">
            <a:spLocks noChangeArrowheads="1"/>
          </p:cNvSpPr>
          <p:nvPr/>
        </p:nvSpPr>
        <p:spPr bwMode="auto">
          <a:xfrm>
            <a:off x="1154125" y="1340768"/>
            <a:ext cx="10871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zh-CN" sz="2000" dirty="0" err="1">
                <a:solidFill>
                  <a:schemeClr val="folHlink"/>
                </a:solidFill>
                <a:latin typeface="Tahoma" pitchFamily="34" charset="0"/>
                <a:ea typeface="宋体" pitchFamily="2" charset="-122"/>
              </a:rPr>
              <a:t>stackPtr</a:t>
            </a:r>
            <a:endParaRPr lang="en-US" altLang="zh-CN" sz="2000" dirty="0">
              <a:solidFill>
                <a:schemeClr val="folHlink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227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Create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Define node structure </a:t>
            </a:r>
          </a:p>
          <a:p>
            <a:pPr lvl="1"/>
            <a:r>
              <a:rPr lang="en-GB" dirty="0"/>
              <a:t>            </a:t>
            </a:r>
          </a:p>
          <a:p>
            <a:pPr lvl="1"/>
            <a:r>
              <a:rPr lang="en-GB" dirty="0" err="1"/>
              <a:t>struct</a:t>
            </a:r>
            <a:r>
              <a:rPr lang="en-GB" dirty="0"/>
              <a:t> </a:t>
            </a:r>
            <a:r>
              <a:rPr lang="en-GB" dirty="0" err="1"/>
              <a:t>stackNode</a:t>
            </a:r>
            <a:r>
              <a:rPr lang="en-GB" dirty="0"/>
              <a:t> {                                   </a:t>
            </a:r>
          </a:p>
          <a:p>
            <a:pPr lvl="1"/>
            <a:r>
              <a:rPr lang="en-GB" dirty="0"/>
              <a:t>   </a:t>
            </a:r>
            <a:r>
              <a:rPr lang="en-GB" b="1" dirty="0" err="1"/>
              <a:t>int</a:t>
            </a:r>
            <a:r>
              <a:rPr lang="en-GB" b="1" dirty="0"/>
              <a:t> data; // define data as an </a:t>
            </a:r>
            <a:r>
              <a:rPr lang="en-GB" b="1" dirty="0" err="1"/>
              <a:t>int</a:t>
            </a:r>
            <a:r>
              <a:rPr lang="en-GB" b="1" dirty="0"/>
              <a:t>             </a:t>
            </a:r>
          </a:p>
          <a:p>
            <a:pPr lvl="1"/>
            <a:r>
              <a:rPr lang="en-GB" b="1" dirty="0"/>
              <a:t>   </a:t>
            </a:r>
            <a:r>
              <a:rPr lang="en-GB" b="1" dirty="0" err="1"/>
              <a:t>struct</a:t>
            </a:r>
            <a:r>
              <a:rPr lang="en-GB" b="1" dirty="0"/>
              <a:t> </a:t>
            </a:r>
            <a:r>
              <a:rPr lang="en-GB" b="1" dirty="0" err="1"/>
              <a:t>stackNode</a:t>
            </a:r>
            <a:r>
              <a:rPr lang="en-GB" b="1" dirty="0"/>
              <a:t> *</a:t>
            </a:r>
            <a:r>
              <a:rPr lang="en-GB" b="1" dirty="0" err="1"/>
              <a:t>nextPtr</a:t>
            </a:r>
            <a:r>
              <a:rPr lang="en-GB" b="1" dirty="0"/>
              <a:t>; // </a:t>
            </a:r>
            <a:r>
              <a:rPr lang="en-GB" b="1" dirty="0" err="1"/>
              <a:t>stackNode</a:t>
            </a:r>
            <a:r>
              <a:rPr lang="en-GB" b="1" dirty="0"/>
              <a:t> pointer</a:t>
            </a:r>
          </a:p>
          <a:p>
            <a:pPr lvl="1"/>
            <a:r>
              <a:rPr lang="en-GB" dirty="0"/>
              <a:t>}; </a:t>
            </a:r>
          </a:p>
          <a:p>
            <a:pPr lvl="1"/>
            <a:r>
              <a:rPr lang="en-GB" i="1" dirty="0" err="1"/>
              <a:t>typedef</a:t>
            </a:r>
            <a:r>
              <a:rPr lang="en-GB" i="1" dirty="0"/>
              <a:t> </a:t>
            </a:r>
            <a:r>
              <a:rPr lang="en-GB" i="1" dirty="0" err="1"/>
              <a:t>struct</a:t>
            </a:r>
            <a:r>
              <a:rPr lang="en-GB" i="1" dirty="0"/>
              <a:t> </a:t>
            </a:r>
            <a:r>
              <a:rPr lang="en-GB" i="1" dirty="0" err="1"/>
              <a:t>stackNode</a:t>
            </a:r>
            <a:r>
              <a:rPr lang="en-GB" i="1" dirty="0"/>
              <a:t> </a:t>
            </a:r>
            <a:r>
              <a:rPr lang="en-GB" i="1" dirty="0" err="1"/>
              <a:t>StackNode</a:t>
            </a:r>
            <a:r>
              <a:rPr lang="en-GB" i="1" dirty="0"/>
              <a:t> </a:t>
            </a:r>
          </a:p>
          <a:p>
            <a:endParaRPr lang="en-GB" dirty="0"/>
          </a:p>
          <a:p>
            <a:r>
              <a:rPr lang="en-GB" dirty="0"/>
              <a:t>Declare and create a node:</a:t>
            </a:r>
          </a:p>
          <a:p>
            <a:pPr lvl="1"/>
            <a:r>
              <a:rPr lang="en-IE" sz="2400" dirty="0" err="1"/>
              <a:t>StackNode</a:t>
            </a:r>
            <a:r>
              <a:rPr lang="en-IE" sz="2400" dirty="0"/>
              <a:t> </a:t>
            </a:r>
            <a:r>
              <a:rPr lang="en-IE" sz="2400" dirty="0" err="1"/>
              <a:t>newPtr</a:t>
            </a:r>
            <a:r>
              <a:rPr lang="en-IE" sz="2400" dirty="0"/>
              <a:t> = </a:t>
            </a:r>
            <a:r>
              <a:rPr lang="en-IE" sz="2400" dirty="0" err="1"/>
              <a:t>malloc</a:t>
            </a:r>
            <a:r>
              <a:rPr lang="en-IE" sz="2400" dirty="0"/>
              <a:t>(</a:t>
            </a:r>
            <a:r>
              <a:rPr lang="en-IE" sz="2400" dirty="0" err="1"/>
              <a:t>sizeof</a:t>
            </a:r>
            <a:r>
              <a:rPr lang="en-IE" sz="2400" dirty="0"/>
              <a:t>(</a:t>
            </a:r>
            <a:r>
              <a:rPr lang="en-IE" sz="2400" dirty="0" err="1"/>
              <a:t>StackNode</a:t>
            </a:r>
            <a:r>
              <a:rPr lang="en-IE" sz="2400" dirty="0"/>
              <a:t>));</a:t>
            </a:r>
          </a:p>
          <a:p>
            <a:endParaRPr lang="en-IE" dirty="0"/>
          </a:p>
          <a:p>
            <a:r>
              <a:rPr lang="en-IE" dirty="0"/>
              <a:t>Assign value to </a:t>
            </a:r>
            <a:r>
              <a:rPr lang="en-IE" b="1" dirty="0" err="1"/>
              <a:t>StackNode</a:t>
            </a:r>
            <a:r>
              <a:rPr lang="en-IE" dirty="0"/>
              <a:t> fields</a:t>
            </a:r>
          </a:p>
          <a:p>
            <a:pPr lvl="1"/>
            <a:r>
              <a:rPr lang="en-IE" dirty="0" err="1"/>
              <a:t>newPtr</a:t>
            </a:r>
            <a:r>
              <a:rPr lang="en-IE" dirty="0"/>
              <a:t> -&gt; data = 4;</a:t>
            </a:r>
          </a:p>
          <a:p>
            <a:pPr lvl="1"/>
            <a:r>
              <a:rPr lang="en-IE" dirty="0" err="1"/>
              <a:t>newPtr</a:t>
            </a:r>
            <a:r>
              <a:rPr lang="en-IE" dirty="0"/>
              <a:t> -&gt; </a:t>
            </a:r>
            <a:r>
              <a:rPr lang="en-IE" dirty="0" err="1"/>
              <a:t>nextPtr</a:t>
            </a:r>
            <a:r>
              <a:rPr lang="en-IE" dirty="0"/>
              <a:t> = NULL;</a:t>
            </a:r>
          </a:p>
        </p:txBody>
      </p:sp>
    </p:spTree>
    <p:extLst>
      <p:ext uri="{BB962C8B-B14F-4D97-AF65-F5344CB8AC3E}">
        <p14:creationId xmlns:p14="http://schemas.microsoft.com/office/powerpoint/2010/main" val="2172427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Implementation of a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85000" lnSpcReduction="20000"/>
          </a:bodyPr>
          <a:lstStyle/>
          <a:p>
            <a:r>
              <a:rPr lang="en-IE" dirty="0"/>
              <a:t>Two basic functions associated with stacks:</a:t>
            </a:r>
          </a:p>
          <a:p>
            <a:pPr lvl="1"/>
            <a:r>
              <a:rPr lang="en-IE" dirty="0"/>
              <a:t>The </a:t>
            </a:r>
            <a:r>
              <a:rPr lang="en-IE" b="1" dirty="0"/>
              <a:t>push</a:t>
            </a:r>
            <a:r>
              <a:rPr lang="en-IE" dirty="0"/>
              <a:t> function: this adds a “node” to the beginning of a stack</a:t>
            </a:r>
          </a:p>
          <a:p>
            <a:pPr lvl="1"/>
            <a:r>
              <a:rPr lang="en-IE" dirty="0"/>
              <a:t>The </a:t>
            </a:r>
            <a:r>
              <a:rPr lang="en-IE" b="1" dirty="0"/>
              <a:t>pop</a:t>
            </a:r>
            <a:r>
              <a:rPr lang="en-IE" dirty="0"/>
              <a:t> function: removes a “node” from the beginning of a non-empty stack.</a:t>
            </a:r>
          </a:p>
          <a:p>
            <a:endParaRPr lang="en-IE" dirty="0"/>
          </a:p>
          <a:p>
            <a:r>
              <a:rPr lang="en-IE" dirty="0"/>
              <a:t>Implementation is a combination of:</a:t>
            </a:r>
          </a:p>
          <a:p>
            <a:pPr lvl="1"/>
            <a:r>
              <a:rPr lang="en-IE" dirty="0"/>
              <a:t>Creating a new node; (</a:t>
            </a:r>
            <a:r>
              <a:rPr lang="en-IE" b="1" dirty="0"/>
              <a:t>in C use </a:t>
            </a:r>
            <a:r>
              <a:rPr lang="en-IE" b="1" dirty="0" err="1"/>
              <a:t>malloc</a:t>
            </a:r>
            <a:r>
              <a:rPr lang="en-IE" dirty="0"/>
              <a:t>)</a:t>
            </a:r>
          </a:p>
          <a:p>
            <a:pPr lvl="1"/>
            <a:r>
              <a:rPr lang="en-IE" dirty="0"/>
              <a:t>Assigning data to the data element of the node</a:t>
            </a:r>
          </a:p>
          <a:p>
            <a:pPr lvl="1"/>
            <a:r>
              <a:rPr lang="en-IE" dirty="0"/>
              <a:t>Using the </a:t>
            </a:r>
            <a:r>
              <a:rPr lang="en-IE" b="1" dirty="0"/>
              <a:t>push function </a:t>
            </a:r>
            <a:r>
              <a:rPr lang="en-IE" dirty="0"/>
              <a:t> add a node to the stack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In the pop function you pop (delete) a node </a:t>
            </a:r>
          </a:p>
          <a:p>
            <a:pPr lvl="1"/>
            <a:r>
              <a:rPr lang="en-IE" dirty="0"/>
              <a:t>The </a:t>
            </a:r>
            <a:r>
              <a:rPr lang="en-IE" i="1" dirty="0"/>
              <a:t>constrain</a:t>
            </a:r>
            <a:r>
              <a:rPr lang="en-IE" dirty="0"/>
              <a:t> that you </a:t>
            </a:r>
            <a:r>
              <a:rPr lang="en-IE" i="1" dirty="0"/>
              <a:t>can not pop</a:t>
            </a:r>
            <a:r>
              <a:rPr lang="en-IE" dirty="0"/>
              <a:t> from an </a:t>
            </a:r>
            <a:r>
              <a:rPr lang="en-IE" i="1" dirty="0"/>
              <a:t>empty stack</a:t>
            </a:r>
            <a:r>
              <a:rPr lang="en-I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64434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E" dirty="0"/>
              <a:t>Main function </a:t>
            </a:r>
            <a:r>
              <a:rPr lang="en-IE" dirty="0" err="1"/>
              <a:t>Stack.c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endParaRPr lang="en-IE" dirty="0"/>
          </a:p>
        </p:txBody>
      </p:sp>
      <p:pic>
        <p:nvPicPr>
          <p:cNvPr id="4" name="Picture 3" descr="denis.manley@apollo: ~/OS2/Week5_stack_queu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863" y="836713"/>
            <a:ext cx="6430273" cy="590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88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The 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Function </a:t>
            </a:r>
            <a:r>
              <a:rPr lang="en-US" dirty="0">
                <a:solidFill>
                  <a:srgbClr val="3380E6"/>
                </a:solidFill>
                <a:latin typeface="Lucida Console" pitchFamily="49" charset="0"/>
              </a:rPr>
              <a:t>push </a:t>
            </a:r>
            <a:endParaRPr lang="en-US" dirty="0">
              <a:solidFill>
                <a:srgbClr val="3380E6"/>
              </a:solidFill>
              <a:latin typeface="Arial"/>
            </a:endParaRPr>
          </a:p>
        </p:txBody>
      </p:sp>
      <p:sp>
        <p:nvSpPr>
          <p:cNvPr id="8397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52736"/>
            <a:ext cx="8229600" cy="525658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</a:rPr>
              <a:t>The function consists of three steps: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</a:rPr>
              <a:t>Create a new node using </a:t>
            </a:r>
            <a:r>
              <a:rPr lang="en-US" altLang="en-US" dirty="0" err="1">
                <a:solidFill>
                  <a:srgbClr val="000000"/>
                </a:solidFill>
                <a:latin typeface="Times New Roman" pitchFamily="18" charset="0"/>
              </a:rPr>
              <a:t>malloc</a:t>
            </a:r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</a:rPr>
              <a:t> and assign the location of the allocated memory to </a:t>
            </a:r>
            <a:r>
              <a:rPr lang="en-US" altLang="en-US" dirty="0" err="1">
                <a:solidFill>
                  <a:srgbClr val="000000"/>
                </a:solidFill>
                <a:latin typeface="Lucida Console" pitchFamily="49" charset="0"/>
              </a:rPr>
              <a:t>newPtr</a:t>
            </a:r>
            <a:endParaRPr lang="en-US" altLang="en-US" dirty="0">
              <a:solidFill>
                <a:srgbClr val="000000"/>
              </a:solidFill>
              <a:latin typeface="Times New Roman" pitchFamily="18" charset="0"/>
            </a:endParaRP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</a:rPr>
              <a:t>Assign </a:t>
            </a:r>
            <a:r>
              <a:rPr lang="en-US" altLang="en-US" sz="2400" dirty="0">
                <a:solidFill>
                  <a:srgbClr val="000000"/>
                </a:solidFill>
                <a:latin typeface="Lucida Console" pitchFamily="49" charset="0"/>
              </a:rPr>
              <a:t>data, that is to be added to the </a:t>
            </a:r>
            <a:r>
              <a:rPr lang="en-US" altLang="en-US" sz="2400" dirty="0" err="1">
                <a:solidFill>
                  <a:srgbClr val="000000"/>
                </a:solidFill>
                <a:latin typeface="Lucida Console" pitchFamily="49" charset="0"/>
              </a:rPr>
              <a:t>stack,</a:t>
            </a:r>
            <a:r>
              <a:rPr lang="en-US" altLang="en-US" dirty="0" err="1">
                <a:solidFill>
                  <a:srgbClr val="000000"/>
                </a:solidFill>
                <a:latin typeface="Times New Roman" pitchFamily="18" charset="0"/>
              </a:rPr>
              <a:t>to</a:t>
            </a:r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</a:rPr>
              <a:t> the new node;  Assign the pointer part of the new node to store the address in </a:t>
            </a:r>
            <a:r>
              <a:rPr lang="en-US" altLang="en-US" dirty="0" err="1">
                <a:solidFill>
                  <a:srgbClr val="000000"/>
                </a:solidFill>
                <a:latin typeface="Times New Roman" pitchFamily="18" charset="0"/>
              </a:rPr>
              <a:t>stackPtr</a:t>
            </a:r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</a:rPr>
              <a:t>; the address of the node that is currently top of the stack. 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</a:rPr>
              <a:t>Move </a:t>
            </a:r>
            <a:r>
              <a:rPr lang="en-US" altLang="en-US" dirty="0" err="1">
                <a:solidFill>
                  <a:srgbClr val="000000"/>
                </a:solidFill>
                <a:latin typeface="Times New Roman" pitchFamily="18" charset="0"/>
              </a:rPr>
              <a:t>stack</a:t>
            </a:r>
            <a:r>
              <a:rPr lang="en-US" altLang="en-US" dirty="0" err="1">
                <a:solidFill>
                  <a:srgbClr val="000000"/>
                </a:solidFill>
                <a:latin typeface="Lucida Console" pitchFamily="49" charset="0"/>
              </a:rPr>
              <a:t>Ptr</a:t>
            </a:r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</a:rPr>
              <a:t> to point to the new node. {assign address of new node to the </a:t>
            </a:r>
            <a:r>
              <a:rPr lang="en-US" altLang="en-US" dirty="0" err="1">
                <a:solidFill>
                  <a:srgbClr val="000000"/>
                </a:solidFill>
                <a:latin typeface="Times New Roman" pitchFamily="18" charset="0"/>
              </a:rPr>
              <a:t>stackPtr</a:t>
            </a:r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</a:rPr>
              <a:t>}  </a:t>
            </a:r>
          </a:p>
        </p:txBody>
      </p:sp>
      <p:sp>
        <p:nvSpPr>
          <p:cNvPr id="82948" name="Footer Placeholder 3"/>
          <p:cNvSpPr>
            <a:spLocks noGrp="1"/>
          </p:cNvSpPr>
          <p:nvPr>
            <p:ph type="ftr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©1992-2013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62057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Sample code push function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874B814-06DF-3AEF-49B6-A0A76A9499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592796"/>
            <a:ext cx="7415438" cy="3672408"/>
          </a:xfrm>
        </p:spPr>
      </p:pic>
    </p:spTree>
    <p:extLst>
      <p:ext uri="{BB962C8B-B14F-4D97-AF65-F5344CB8AC3E}">
        <p14:creationId xmlns:p14="http://schemas.microsoft.com/office/powerpoint/2010/main" val="691073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B3FA-D808-3E3D-A2AA-8AC974EAB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/>
              <a:t>Add 3 nodes to empty stack: stack2.c</a:t>
            </a:r>
            <a:endParaRPr lang="en-GB" dirty="0"/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65471D42-4EB9-88AB-84B3-82C7361221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881087"/>
            <a:ext cx="6984776" cy="5671827"/>
          </a:xfrm>
        </p:spPr>
      </p:pic>
    </p:spTree>
    <p:extLst>
      <p:ext uri="{BB962C8B-B14F-4D97-AF65-F5344CB8AC3E}">
        <p14:creationId xmlns:p14="http://schemas.microsoft.com/office/powerpoint/2010/main" val="3530462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IE" dirty="0"/>
              <a:t>Push on to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en-IE" dirty="0"/>
              <a:t>Before and after: representation of stack</a:t>
            </a:r>
          </a:p>
          <a:p>
            <a:endParaRPr lang="en-IE" dirty="0"/>
          </a:p>
        </p:txBody>
      </p:sp>
      <p:pic>
        <p:nvPicPr>
          <p:cNvPr id="7" name="Picture 6" descr="A whiteboard with writing on it&#10;&#10;Description automatically generated">
            <a:extLst>
              <a:ext uri="{FF2B5EF4-FFF2-40B4-BE49-F238E27FC236}">
                <a16:creationId xmlns:a16="http://schemas.microsoft.com/office/drawing/2014/main" id="{0F2356FE-1747-90E1-4FD9-6E4303B15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73" y="1844824"/>
            <a:ext cx="8087854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29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E" dirty="0"/>
              <a:t>Illustration of push on to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/>
          </a:bodyPr>
          <a:lstStyle/>
          <a:p>
            <a:r>
              <a:rPr lang="en-IE" sz="2000" dirty="0"/>
              <a:t>Contents of memory locations of relevant variables: Before the push onto the stack. What happens when a new value 12 is pushed onto the stack: address of new node will be </a:t>
            </a:r>
            <a:r>
              <a:rPr lang="en-IE" sz="2000" b="1" dirty="0"/>
              <a:t>1bb0</a:t>
            </a:r>
          </a:p>
          <a:p>
            <a:endParaRPr lang="en-IE" sz="2000" dirty="0"/>
          </a:p>
          <a:p>
            <a:endParaRPr lang="en-IE" sz="2000" dirty="0"/>
          </a:p>
          <a:p>
            <a:endParaRPr lang="en-IE" sz="2000" dirty="0"/>
          </a:p>
        </p:txBody>
      </p:sp>
      <p:pic>
        <p:nvPicPr>
          <p:cNvPr id="5" name="Picture 4" descr="A white board with red writing&#10;&#10;Description automatically generated">
            <a:extLst>
              <a:ext uri="{FF2B5EF4-FFF2-40B4-BE49-F238E27FC236}">
                <a16:creationId xmlns:a16="http://schemas.microsoft.com/office/drawing/2014/main" id="{0CB5150E-C616-3733-EFA1-D9625CC20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24" y="1987969"/>
            <a:ext cx="7956376" cy="434056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964A0F-79A1-CD7E-3E79-05A1FE89879F}"/>
              </a:ext>
            </a:extLst>
          </p:cNvPr>
          <p:cNvCxnSpPr/>
          <p:nvPr/>
        </p:nvCxnSpPr>
        <p:spPr>
          <a:xfrm flipH="1">
            <a:off x="4499992" y="1484784"/>
            <a:ext cx="209886" cy="3528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8DE038-D34F-835B-BC3B-4BEC8F3DD234}"/>
              </a:ext>
            </a:extLst>
          </p:cNvPr>
          <p:cNvCxnSpPr>
            <a:cxnSpLocks/>
          </p:cNvCxnSpPr>
          <p:nvPr/>
        </p:nvCxnSpPr>
        <p:spPr>
          <a:xfrm flipH="1">
            <a:off x="2483768" y="1484784"/>
            <a:ext cx="2224844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994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IE" dirty="0"/>
              <a:t>Delete/pop a node from the stack</a:t>
            </a:r>
          </a:p>
        </p:txBody>
      </p:sp>
      <p:sp>
        <p:nvSpPr>
          <p:cNvPr id="6" name="Rectangle 31"/>
          <p:cNvSpPr>
            <a:spLocks noChangeArrowheads="1"/>
          </p:cNvSpPr>
          <p:nvPr/>
        </p:nvSpPr>
        <p:spPr bwMode="auto">
          <a:xfrm>
            <a:off x="323528" y="1772816"/>
            <a:ext cx="1008112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IE" altLang="en-US" dirty="0" err="1"/>
              <a:t>stackPrt</a:t>
            </a:r>
            <a:r>
              <a:rPr lang="en-IE" altLang="en-US" dirty="0"/>
              <a:t> </a:t>
            </a:r>
          </a:p>
          <a:p>
            <a:r>
              <a:rPr lang="en-IE" altLang="en-US" dirty="0"/>
              <a:t>   &amp;c</a:t>
            </a:r>
          </a:p>
        </p:txBody>
      </p: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2450232" y="5627712"/>
            <a:ext cx="609600" cy="609600"/>
            <a:chOff x="1728" y="2880"/>
            <a:chExt cx="384" cy="384"/>
          </a:xfrm>
        </p:grpSpPr>
        <p:sp>
          <p:nvSpPr>
            <p:cNvPr id="8" name="Rectangle 14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IE" altLang="en-US"/>
            </a:p>
          </p:txBody>
        </p:sp>
        <p:sp>
          <p:nvSpPr>
            <p:cNvPr id="9" name="Text Box 23"/>
            <p:cNvSpPr txBox="1">
              <a:spLocks noChangeArrowheads="1"/>
            </p:cNvSpPr>
            <p:nvPr/>
          </p:nvSpPr>
          <p:spPr bwMode="auto">
            <a:xfrm>
              <a:off x="1818" y="2966"/>
              <a:ext cx="21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bg1"/>
                  </a:solidFill>
                  <a:latin typeface="Tahoma" pitchFamily="34" charset="0"/>
                  <a:ea typeface="宋体" pitchFamily="2" charset="-122"/>
                </a:rPr>
                <a:t>A</a:t>
              </a:r>
            </a:p>
          </p:txBody>
        </p:sp>
      </p:grpSp>
      <p:sp>
        <p:nvSpPr>
          <p:cNvPr id="16" name="Line 13"/>
          <p:cNvSpPr>
            <a:spLocks noChangeShapeType="1"/>
          </p:cNvSpPr>
          <p:nvPr/>
        </p:nvSpPr>
        <p:spPr bwMode="auto">
          <a:xfrm flipV="1">
            <a:off x="1187624" y="5932512"/>
            <a:ext cx="1296144" cy="1676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2339752" y="1739280"/>
            <a:ext cx="609600" cy="6096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IE" alt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3026296" y="5627712"/>
            <a:ext cx="609600" cy="609600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IE" altLang="en-US" dirty="0"/>
              <a:t>null</a:t>
            </a:r>
          </a:p>
        </p:txBody>
      </p:sp>
      <p:sp>
        <p:nvSpPr>
          <p:cNvPr id="23" name="Rectangle 31"/>
          <p:cNvSpPr>
            <a:spLocks noChangeArrowheads="1"/>
          </p:cNvSpPr>
          <p:nvPr/>
        </p:nvSpPr>
        <p:spPr bwMode="auto">
          <a:xfrm>
            <a:off x="179512" y="5627712"/>
            <a:ext cx="1008112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IE" altLang="en-US" dirty="0" err="1"/>
              <a:t>stackPtr</a:t>
            </a:r>
            <a:r>
              <a:rPr lang="en-IE" altLang="en-US" dirty="0"/>
              <a:t> </a:t>
            </a:r>
          </a:p>
          <a:p>
            <a:r>
              <a:rPr lang="en-IE" altLang="en-US" dirty="0"/>
              <a:t>    &amp;A</a:t>
            </a:r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2843808" y="3212976"/>
            <a:ext cx="609600" cy="609600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IE" altLang="en-US" dirty="0"/>
              <a:t>$A</a:t>
            </a:r>
          </a:p>
        </p:txBody>
      </p:sp>
      <p:grpSp>
        <p:nvGrpSpPr>
          <p:cNvPr id="29" name="Group 36"/>
          <p:cNvGrpSpPr>
            <a:grpSpLocks/>
          </p:cNvGrpSpPr>
          <p:nvPr/>
        </p:nvGrpSpPr>
        <p:grpSpPr bwMode="auto">
          <a:xfrm>
            <a:off x="4860032" y="3179440"/>
            <a:ext cx="609600" cy="609600"/>
            <a:chOff x="1728" y="2880"/>
            <a:chExt cx="384" cy="384"/>
          </a:xfrm>
        </p:grpSpPr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IE" altLang="en-US"/>
            </a:p>
          </p:txBody>
        </p:sp>
        <p:sp>
          <p:nvSpPr>
            <p:cNvPr id="31" name="Text Box 23"/>
            <p:cNvSpPr txBox="1">
              <a:spLocks noChangeArrowheads="1"/>
            </p:cNvSpPr>
            <p:nvPr/>
          </p:nvSpPr>
          <p:spPr bwMode="auto">
            <a:xfrm>
              <a:off x="1819" y="2966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bg1"/>
                  </a:solidFill>
                  <a:latin typeface="Tahoma" pitchFamily="34" charset="0"/>
                  <a:ea typeface="宋体" pitchFamily="2" charset="-122"/>
                </a:rPr>
                <a:t>A</a:t>
              </a:r>
            </a:p>
          </p:txBody>
        </p:sp>
      </p:grp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5330552" y="1772816"/>
            <a:ext cx="609600" cy="609600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IE" altLang="en-US" dirty="0"/>
              <a:t>null</a:t>
            </a:r>
          </a:p>
        </p:txBody>
      </p:sp>
      <p:sp>
        <p:nvSpPr>
          <p:cNvPr id="36" name="Line 13"/>
          <p:cNvSpPr>
            <a:spLocks noChangeShapeType="1"/>
          </p:cNvSpPr>
          <p:nvPr/>
        </p:nvSpPr>
        <p:spPr bwMode="auto">
          <a:xfrm flipV="1">
            <a:off x="1331639" y="2045095"/>
            <a:ext cx="10085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37" name="TextBox 36"/>
          <p:cNvSpPr txBox="1"/>
          <p:nvPr/>
        </p:nvSpPr>
        <p:spPr>
          <a:xfrm>
            <a:off x="5330552" y="4586064"/>
            <a:ext cx="3600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dirty="0"/>
              <a:t>Assign the data element of (top/first) node in the stack to a variable 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dirty="0"/>
              <a:t>Assign </a:t>
            </a:r>
            <a:r>
              <a:rPr lang="en-IE" dirty="0" err="1"/>
              <a:t>stackPtr</a:t>
            </a:r>
            <a:r>
              <a:rPr lang="en-IE" dirty="0"/>
              <a:t> pointer to point to second node in the stack.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dirty="0"/>
              <a:t>Return data and delete node ( c )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59832" y="1196752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The current stack containing two node</a:t>
            </a:r>
          </a:p>
        </p:txBody>
      </p:sp>
      <p:sp>
        <p:nvSpPr>
          <p:cNvPr id="40" name="Rectangle 31"/>
          <p:cNvSpPr>
            <a:spLocks noChangeArrowheads="1"/>
          </p:cNvSpPr>
          <p:nvPr/>
        </p:nvSpPr>
        <p:spPr bwMode="auto">
          <a:xfrm>
            <a:off x="179512" y="3251448"/>
            <a:ext cx="1008112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IE" altLang="en-US" dirty="0" err="1"/>
              <a:t>stackPtr</a:t>
            </a:r>
            <a:endParaRPr lang="en-IE" altLang="en-US" dirty="0"/>
          </a:p>
          <a:p>
            <a:r>
              <a:rPr lang="en-IE" altLang="en-US" dirty="0"/>
              <a:t>   &amp;c</a:t>
            </a:r>
          </a:p>
        </p:txBody>
      </p:sp>
      <p:grpSp>
        <p:nvGrpSpPr>
          <p:cNvPr id="42" name="Group 36"/>
          <p:cNvGrpSpPr>
            <a:grpSpLocks/>
          </p:cNvGrpSpPr>
          <p:nvPr/>
        </p:nvGrpSpPr>
        <p:grpSpPr bwMode="auto">
          <a:xfrm>
            <a:off x="2234208" y="3212976"/>
            <a:ext cx="609600" cy="609600"/>
            <a:chOff x="1728" y="2880"/>
            <a:chExt cx="384" cy="384"/>
          </a:xfrm>
        </p:grpSpPr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IE" altLang="en-US"/>
            </a:p>
          </p:txBody>
        </p:sp>
        <p:sp>
          <p:nvSpPr>
            <p:cNvPr id="44" name="Text Box 23"/>
            <p:cNvSpPr txBox="1">
              <a:spLocks noChangeArrowheads="1"/>
            </p:cNvSpPr>
            <p:nvPr/>
          </p:nvSpPr>
          <p:spPr bwMode="auto">
            <a:xfrm>
              <a:off x="1818" y="2966"/>
              <a:ext cx="21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bg1"/>
                  </a:solidFill>
                  <a:latin typeface="Tahoma" pitchFamily="34" charset="0"/>
                  <a:ea typeface="宋体" pitchFamily="2" charset="-122"/>
                </a:rPr>
                <a:t>C</a:t>
              </a:r>
            </a:p>
          </p:txBody>
        </p:sp>
      </p:grpSp>
      <p:sp>
        <p:nvSpPr>
          <p:cNvPr id="45" name="Rectangle 14"/>
          <p:cNvSpPr>
            <a:spLocks noChangeArrowheads="1"/>
          </p:cNvSpPr>
          <p:nvPr/>
        </p:nvSpPr>
        <p:spPr bwMode="auto">
          <a:xfrm>
            <a:off x="2915816" y="1739280"/>
            <a:ext cx="609600" cy="609600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IE" altLang="en-US" dirty="0"/>
              <a:t>&amp;A</a:t>
            </a:r>
          </a:p>
        </p:txBody>
      </p:sp>
      <p:sp>
        <p:nvSpPr>
          <p:cNvPr id="46" name="Line 13"/>
          <p:cNvSpPr>
            <a:spLocks noChangeShapeType="1"/>
          </p:cNvSpPr>
          <p:nvPr/>
        </p:nvSpPr>
        <p:spPr bwMode="auto">
          <a:xfrm>
            <a:off x="3513584" y="2060848"/>
            <a:ext cx="1240904" cy="1676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grpSp>
        <p:nvGrpSpPr>
          <p:cNvPr id="47" name="Group 36"/>
          <p:cNvGrpSpPr>
            <a:grpSpLocks/>
          </p:cNvGrpSpPr>
          <p:nvPr/>
        </p:nvGrpSpPr>
        <p:grpSpPr bwMode="auto">
          <a:xfrm>
            <a:off x="4754488" y="1772816"/>
            <a:ext cx="609600" cy="609600"/>
            <a:chOff x="1728" y="2880"/>
            <a:chExt cx="384" cy="384"/>
          </a:xfrm>
        </p:grpSpPr>
        <p:sp>
          <p:nvSpPr>
            <p:cNvPr id="48" name="Rectangle 14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IE" altLang="en-US"/>
            </a:p>
          </p:txBody>
        </p:sp>
        <p:sp>
          <p:nvSpPr>
            <p:cNvPr id="49" name="Text Box 23"/>
            <p:cNvSpPr txBox="1">
              <a:spLocks noChangeArrowheads="1"/>
            </p:cNvSpPr>
            <p:nvPr/>
          </p:nvSpPr>
          <p:spPr bwMode="auto">
            <a:xfrm>
              <a:off x="1819" y="2966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bg1"/>
                  </a:solidFill>
                  <a:latin typeface="Tahoma" pitchFamily="34" charset="0"/>
                  <a:ea typeface="宋体" pitchFamily="2" charset="-122"/>
                </a:rPr>
                <a:t>A</a:t>
              </a:r>
            </a:p>
          </p:txBody>
        </p:sp>
      </p:grpSp>
      <p:sp>
        <p:nvSpPr>
          <p:cNvPr id="50" name="Line 13"/>
          <p:cNvSpPr>
            <a:spLocks noChangeShapeType="1"/>
          </p:cNvSpPr>
          <p:nvPr/>
        </p:nvSpPr>
        <p:spPr bwMode="auto">
          <a:xfrm>
            <a:off x="755577" y="3861048"/>
            <a:ext cx="0" cy="57606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51" name="Line 13"/>
          <p:cNvSpPr>
            <a:spLocks noChangeShapeType="1"/>
          </p:cNvSpPr>
          <p:nvPr/>
        </p:nvSpPr>
        <p:spPr bwMode="auto">
          <a:xfrm flipV="1">
            <a:off x="755576" y="4437112"/>
            <a:ext cx="4479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52" name="Line 13"/>
          <p:cNvSpPr>
            <a:spLocks noChangeShapeType="1"/>
          </p:cNvSpPr>
          <p:nvPr/>
        </p:nvSpPr>
        <p:spPr bwMode="auto">
          <a:xfrm flipH="1" flipV="1">
            <a:off x="5235502" y="3749551"/>
            <a:ext cx="21556" cy="68641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53" name="Line 13"/>
          <p:cNvSpPr>
            <a:spLocks noChangeShapeType="1"/>
          </p:cNvSpPr>
          <p:nvPr/>
        </p:nvSpPr>
        <p:spPr bwMode="auto">
          <a:xfrm flipV="1">
            <a:off x="1259632" y="3484240"/>
            <a:ext cx="974576" cy="1676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38" name="Line 13"/>
          <p:cNvSpPr>
            <a:spLocks noChangeShapeType="1"/>
          </p:cNvSpPr>
          <p:nvPr/>
        </p:nvSpPr>
        <p:spPr bwMode="auto">
          <a:xfrm>
            <a:off x="3491879" y="3556248"/>
            <a:ext cx="1407071" cy="1676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5482952" y="3179440"/>
            <a:ext cx="609600" cy="609600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IE" altLang="en-US" dirty="0"/>
              <a:t>null</a:t>
            </a:r>
          </a:p>
        </p:txBody>
      </p:sp>
      <p:sp>
        <p:nvSpPr>
          <p:cNvPr id="41" name="Rectangle 31"/>
          <p:cNvSpPr>
            <a:spLocks noChangeArrowheads="1"/>
          </p:cNvSpPr>
          <p:nvPr/>
        </p:nvSpPr>
        <p:spPr bwMode="auto">
          <a:xfrm>
            <a:off x="7130752" y="2412256"/>
            <a:ext cx="1008112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IE" altLang="en-US" dirty="0"/>
              <a:t>Y</a:t>
            </a:r>
          </a:p>
          <a:p>
            <a:r>
              <a:rPr lang="en-IE" altLang="en-US" dirty="0"/>
              <a:t>   </a:t>
            </a:r>
            <a:r>
              <a:rPr lang="en-IE" altLang="en-US" dirty="0">
                <a:solidFill>
                  <a:schemeClr val="bg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821827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Sample code pop function </a:t>
            </a:r>
          </a:p>
        </p:txBody>
      </p:sp>
      <p:pic>
        <p:nvPicPr>
          <p:cNvPr id="6" name="Content Placeholder 5" descr="denis.manley@apollo: ~/OS2/Week5_stack_queu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340768"/>
            <a:ext cx="8242752" cy="4732681"/>
          </a:xfrm>
        </p:spPr>
      </p:pic>
    </p:spTree>
    <p:extLst>
      <p:ext uri="{BB962C8B-B14F-4D97-AF65-F5344CB8AC3E}">
        <p14:creationId xmlns:p14="http://schemas.microsoft.com/office/powerpoint/2010/main" val="3208985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059C1-019B-8614-F752-00BF8C791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/>
              <a:t>Popping 2 nodes from stack: Stack2.c</a:t>
            </a:r>
            <a:endParaRPr lang="en-GB" dirty="0"/>
          </a:p>
        </p:txBody>
      </p:sp>
      <p:pic>
        <p:nvPicPr>
          <p:cNvPr id="5" name="Content Placeholder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4842F665-9039-218F-2701-C31444E76F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40768"/>
            <a:ext cx="8229600" cy="4890629"/>
          </a:xfrm>
        </p:spPr>
      </p:pic>
    </p:spTree>
    <p:extLst>
      <p:ext uri="{BB962C8B-B14F-4D97-AF65-F5344CB8AC3E}">
        <p14:creationId xmlns:p14="http://schemas.microsoft.com/office/powerpoint/2010/main" val="624799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Print function:  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37" y="1556792"/>
            <a:ext cx="6694377" cy="360993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5589240"/>
            <a:ext cx="6968332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41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248" y="236593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E" dirty="0"/>
              <a:t>Home Work: Illustrate adding 3 nodes onto the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248" y="1268760"/>
            <a:ext cx="8229600" cy="5217443"/>
          </a:xfrm>
        </p:spPr>
        <p:txBody>
          <a:bodyPr/>
          <a:lstStyle/>
          <a:p>
            <a:endParaRPr lang="en-IE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057378"/>
            <a:ext cx="7654240" cy="56738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80112" y="4797152"/>
            <a:ext cx="295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What is the value in </a:t>
            </a:r>
            <a:r>
              <a:rPr lang="en-IE" dirty="0" err="1"/>
              <a:t>stackPtr</a:t>
            </a:r>
            <a:r>
              <a:rPr lang="en-IE" dirty="0"/>
              <a:t> after a pop?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483768" y="5445224"/>
            <a:ext cx="3744416" cy="1040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601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IE" dirty="0"/>
              <a:t>Home Work: The address after </a:t>
            </a:r>
            <a:r>
              <a:rPr lang="en-IE" dirty="0" err="1"/>
              <a:t>poping</a:t>
            </a:r>
            <a:r>
              <a:rPr lang="en-IE" dirty="0"/>
              <a:t> 2 nodes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9" y="1340769"/>
            <a:ext cx="8428875" cy="4752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25438" y="2060848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answer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851920" y="2245514"/>
            <a:ext cx="3073518" cy="60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589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Sample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Describe, using an example, what is the stack data structure and how/where it can be used in the execution of a program .	(6 marks)</a:t>
            </a:r>
          </a:p>
          <a:p>
            <a:endParaRPr lang="en-IE" dirty="0"/>
          </a:p>
          <a:p>
            <a:r>
              <a:rPr lang="en-IE" dirty="0"/>
              <a:t>Describe, using examples, what is a queue data structure and give two examples  of where it may used in operating systems. 								(6 marks)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01428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Sample question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rmAutofit/>
          </a:bodyPr>
          <a:lstStyle/>
          <a:p>
            <a:r>
              <a:rPr lang="en-IE" dirty="0"/>
              <a:t>Explain, using examples (include node addresses),  how to </a:t>
            </a:r>
            <a:r>
              <a:rPr lang="en-IE" dirty="0" err="1"/>
              <a:t>enqueue</a:t>
            </a:r>
            <a:r>
              <a:rPr lang="en-IE" dirty="0"/>
              <a:t> and </a:t>
            </a:r>
            <a:r>
              <a:rPr lang="en-IE" dirty="0" err="1"/>
              <a:t>dequeue</a:t>
            </a:r>
            <a:r>
              <a:rPr lang="en-IE" dirty="0"/>
              <a:t>  nodes from of a queue  </a:t>
            </a:r>
            <a:r>
              <a:rPr lang="en-IE" b="1" dirty="0"/>
              <a:t>(15 marks)</a:t>
            </a:r>
          </a:p>
          <a:p>
            <a:endParaRPr lang="en-IE" dirty="0"/>
          </a:p>
          <a:p>
            <a:r>
              <a:rPr lang="en-IE" dirty="0"/>
              <a:t>Explain, using examples (include node addresses),  how to push and pop  functions of a stack  		</a:t>
            </a:r>
            <a:r>
              <a:rPr lang="en-IE" b="1" dirty="0"/>
              <a:t>(15 marks)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43376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2074"/>
          </a:xfrm>
        </p:spPr>
        <p:txBody>
          <a:bodyPr>
            <a:noAutofit/>
          </a:bodyPr>
          <a:lstStyle/>
          <a:p>
            <a:r>
              <a:rPr lang="en-IE" sz="2000" b="1" dirty="0"/>
              <a:t>Clearly explain, using an example, if this function will add a node on to the top of a stack : (you will need to explain all parts of the code) 	</a:t>
            </a:r>
            <a:r>
              <a:rPr lang="en-IE" sz="2000" dirty="0"/>
              <a:t>(10 marks)</a:t>
            </a:r>
            <a:br>
              <a:rPr lang="en-IE" sz="2000" b="1" dirty="0"/>
            </a:br>
            <a:endParaRPr lang="en-IE" sz="20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52736"/>
            <a:ext cx="8229600" cy="5400600"/>
          </a:xfrm>
        </p:spPr>
        <p:txBody>
          <a:bodyPr>
            <a:normAutofit fontScale="55000" lnSpcReduction="20000"/>
          </a:bodyPr>
          <a:lstStyle/>
          <a:p>
            <a:endParaRPr lang="en-IE" dirty="0"/>
          </a:p>
          <a:p>
            <a:r>
              <a:rPr lang="en-IE" dirty="0"/>
              <a:t>//the </a:t>
            </a:r>
            <a:r>
              <a:rPr lang="en-IE" dirty="0" err="1"/>
              <a:t>fnt</a:t>
            </a:r>
            <a:r>
              <a:rPr lang="en-IE" dirty="0"/>
              <a:t>  call      // </a:t>
            </a:r>
            <a:r>
              <a:rPr lang="en-IE" dirty="0" err="1"/>
              <a:t>StackPtr</a:t>
            </a:r>
            <a:r>
              <a:rPr lang="en-IE" dirty="0"/>
              <a:t> is a pointer to the top of the stack data structure. </a:t>
            </a:r>
          </a:p>
          <a:p>
            <a:r>
              <a:rPr lang="en-IE" dirty="0"/>
              <a:t>Push (&amp;</a:t>
            </a:r>
            <a:r>
              <a:rPr lang="en-IE" dirty="0" err="1"/>
              <a:t>StackPtr</a:t>
            </a:r>
            <a:r>
              <a:rPr lang="en-IE" dirty="0"/>
              <a:t>);</a:t>
            </a:r>
          </a:p>
          <a:p>
            <a:endParaRPr lang="en-IE" dirty="0"/>
          </a:p>
          <a:p>
            <a:r>
              <a:rPr lang="en-IE" dirty="0"/>
              <a:t>void push(</a:t>
            </a:r>
            <a:r>
              <a:rPr lang="en-IE" dirty="0" err="1"/>
              <a:t>StackNode</a:t>
            </a:r>
            <a:r>
              <a:rPr lang="en-IE" dirty="0"/>
              <a:t>** </a:t>
            </a:r>
            <a:r>
              <a:rPr lang="en-IE" dirty="0" err="1"/>
              <a:t>topPtr</a:t>
            </a:r>
            <a:r>
              <a:rPr lang="en-IE" dirty="0"/>
              <a:t>, </a:t>
            </a:r>
            <a:r>
              <a:rPr lang="en-IE" dirty="0" err="1"/>
              <a:t>int</a:t>
            </a:r>
            <a:r>
              <a:rPr lang="en-IE" dirty="0"/>
              <a:t> info)</a:t>
            </a:r>
          </a:p>
          <a:p>
            <a:r>
              <a:rPr lang="en-IE" dirty="0"/>
              <a:t>{ </a:t>
            </a:r>
          </a:p>
          <a:p>
            <a:r>
              <a:rPr lang="en-IE" dirty="0"/>
              <a:t>   </a:t>
            </a:r>
            <a:r>
              <a:rPr lang="en-IE" dirty="0" err="1"/>
              <a:t>StackNode</a:t>
            </a:r>
            <a:r>
              <a:rPr lang="en-IE" dirty="0"/>
              <a:t> </a:t>
            </a:r>
            <a:r>
              <a:rPr lang="en-IE" dirty="0" err="1"/>
              <a:t>newPtr</a:t>
            </a:r>
            <a:r>
              <a:rPr lang="en-IE" dirty="0"/>
              <a:t> = </a:t>
            </a:r>
            <a:r>
              <a:rPr lang="en-IE" dirty="0" err="1"/>
              <a:t>malloc</a:t>
            </a:r>
            <a:r>
              <a:rPr lang="en-IE" dirty="0"/>
              <a:t>(</a:t>
            </a:r>
            <a:r>
              <a:rPr lang="en-IE" dirty="0" err="1"/>
              <a:t>sizeof</a:t>
            </a:r>
            <a:r>
              <a:rPr lang="en-IE" dirty="0"/>
              <a:t>(</a:t>
            </a:r>
            <a:r>
              <a:rPr lang="en-IE" dirty="0" err="1"/>
              <a:t>StackNode</a:t>
            </a:r>
            <a:r>
              <a:rPr lang="en-IE" dirty="0"/>
              <a:t>));</a:t>
            </a:r>
          </a:p>
          <a:p>
            <a:endParaRPr lang="en-IE" dirty="0"/>
          </a:p>
          <a:p>
            <a:r>
              <a:rPr lang="en-IE" dirty="0"/>
              <a:t> </a:t>
            </a:r>
          </a:p>
          <a:p>
            <a:r>
              <a:rPr lang="en-IE" dirty="0"/>
              <a:t>   if (</a:t>
            </a:r>
            <a:r>
              <a:rPr lang="en-IE" dirty="0" err="1"/>
              <a:t>newPtr</a:t>
            </a:r>
            <a:r>
              <a:rPr lang="en-IE" dirty="0"/>
              <a:t> != NULL) {           </a:t>
            </a:r>
          </a:p>
          <a:p>
            <a:r>
              <a:rPr lang="en-IE" dirty="0"/>
              <a:t>      </a:t>
            </a:r>
            <a:r>
              <a:rPr lang="en-IE" dirty="0" err="1"/>
              <a:t>newPtr</a:t>
            </a:r>
            <a:r>
              <a:rPr lang="en-IE" dirty="0"/>
              <a:t>-&gt;data = info;           </a:t>
            </a:r>
          </a:p>
          <a:p>
            <a:r>
              <a:rPr lang="en-IE" dirty="0"/>
              <a:t>      </a:t>
            </a:r>
            <a:r>
              <a:rPr lang="en-IE" dirty="0" err="1"/>
              <a:t>newPtr</a:t>
            </a:r>
            <a:r>
              <a:rPr lang="en-IE" dirty="0"/>
              <a:t>-&gt;</a:t>
            </a:r>
            <a:r>
              <a:rPr lang="en-IE" dirty="0" err="1"/>
              <a:t>nextPtr</a:t>
            </a:r>
            <a:r>
              <a:rPr lang="en-IE" dirty="0"/>
              <a:t> = </a:t>
            </a:r>
            <a:r>
              <a:rPr lang="en-IE" dirty="0" err="1"/>
              <a:t>topPtr</a:t>
            </a:r>
            <a:r>
              <a:rPr lang="en-IE" dirty="0"/>
              <a:t>;     </a:t>
            </a:r>
          </a:p>
          <a:p>
            <a:r>
              <a:rPr lang="en-IE" dirty="0"/>
              <a:t>      </a:t>
            </a:r>
            <a:r>
              <a:rPr lang="en-IE" dirty="0" err="1"/>
              <a:t>topPtr</a:t>
            </a:r>
            <a:r>
              <a:rPr lang="en-IE" dirty="0"/>
              <a:t> = </a:t>
            </a:r>
            <a:r>
              <a:rPr lang="en-IE" dirty="0" err="1"/>
              <a:t>newPtr</a:t>
            </a:r>
            <a:r>
              <a:rPr lang="en-IE" dirty="0"/>
              <a:t>;              </a:t>
            </a:r>
          </a:p>
          <a:p>
            <a:r>
              <a:rPr lang="en-IE" dirty="0"/>
              <a:t>   }                     </a:t>
            </a:r>
          </a:p>
          <a:p>
            <a:r>
              <a:rPr lang="en-IE" dirty="0"/>
              <a:t>   else { </a:t>
            </a:r>
          </a:p>
          <a:p>
            <a:r>
              <a:rPr lang="en-IE" dirty="0"/>
              <a:t>      </a:t>
            </a:r>
            <a:r>
              <a:rPr lang="en-IE" dirty="0" err="1"/>
              <a:t>printf</a:t>
            </a:r>
            <a:r>
              <a:rPr lang="en-IE" dirty="0"/>
              <a:t>("%d not inserted. No memory available.\n", info);</a:t>
            </a:r>
          </a:p>
          <a:p>
            <a:r>
              <a:rPr lang="en-IE" dirty="0"/>
              <a:t>   } </a:t>
            </a:r>
          </a:p>
          <a:p>
            <a:r>
              <a:rPr lang="en-IE" dirty="0"/>
              <a:t>} 							</a:t>
            </a:r>
            <a:endParaRPr lang="en-IE" sz="4000" b="1" dirty="0"/>
          </a:p>
        </p:txBody>
      </p:sp>
    </p:spTree>
    <p:extLst>
      <p:ext uri="{BB962C8B-B14F-4D97-AF65-F5344CB8AC3E}">
        <p14:creationId xmlns:p14="http://schemas.microsoft.com/office/powerpoint/2010/main" val="35084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pPr algn="l"/>
            <a:r>
              <a:rPr lang="en-IE" sz="2400" dirty="0"/>
              <a:t>Explain what the following code does and if it would correctly pop a value from the stack 			</a:t>
            </a:r>
            <a:r>
              <a:rPr lang="en-IE" sz="2400" b="1" dirty="0"/>
              <a:t>(10 Marks)</a:t>
            </a:r>
            <a:endParaRPr lang="en-IE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52736"/>
            <a:ext cx="8229600" cy="5544616"/>
          </a:xfrm>
        </p:spPr>
        <p:txBody>
          <a:bodyPr>
            <a:normAutofit/>
          </a:bodyPr>
          <a:lstStyle/>
          <a:p>
            <a:endParaRPr lang="en-IE" sz="2400" dirty="0"/>
          </a:p>
          <a:p>
            <a:r>
              <a:rPr lang="en-IE" sz="2400" dirty="0"/>
              <a:t>// function to pop values from stack assuming it is not empty</a:t>
            </a:r>
          </a:p>
          <a:p>
            <a:r>
              <a:rPr lang="en-IE" sz="2400" dirty="0" err="1"/>
              <a:t>int</a:t>
            </a:r>
            <a:r>
              <a:rPr lang="en-IE" sz="2400" dirty="0"/>
              <a:t> pop(</a:t>
            </a:r>
            <a:r>
              <a:rPr lang="en-IE" sz="2400" dirty="0" err="1"/>
              <a:t>StackNode</a:t>
            </a:r>
            <a:r>
              <a:rPr lang="en-IE" sz="2400" dirty="0"/>
              <a:t>** </a:t>
            </a:r>
            <a:r>
              <a:rPr lang="en-IE" sz="2400" dirty="0" err="1"/>
              <a:t>topPtr</a:t>
            </a:r>
            <a:r>
              <a:rPr lang="en-IE" sz="2400" dirty="0"/>
              <a:t>)</a:t>
            </a:r>
          </a:p>
          <a:p>
            <a:r>
              <a:rPr lang="en-IE" sz="2400" dirty="0"/>
              <a:t>{ </a:t>
            </a:r>
          </a:p>
          <a:p>
            <a:r>
              <a:rPr lang="en-IE" sz="2400" dirty="0"/>
              <a:t>   if (</a:t>
            </a:r>
            <a:r>
              <a:rPr lang="en-IE" sz="2400" dirty="0" err="1"/>
              <a:t>topPtr</a:t>
            </a:r>
            <a:r>
              <a:rPr lang="en-IE" sz="2400" dirty="0"/>
              <a:t> != Null){</a:t>
            </a:r>
          </a:p>
          <a:p>
            <a:r>
              <a:rPr lang="en-IE" sz="2400" dirty="0"/>
              <a:t>   </a:t>
            </a:r>
            <a:r>
              <a:rPr lang="en-IE" sz="2400" dirty="0" err="1"/>
              <a:t>StackNode</a:t>
            </a:r>
            <a:r>
              <a:rPr lang="en-IE" sz="2400" dirty="0"/>
              <a:t>* </a:t>
            </a:r>
            <a:r>
              <a:rPr lang="en-IE" sz="2400" dirty="0" err="1"/>
              <a:t>tempPtr</a:t>
            </a:r>
            <a:r>
              <a:rPr lang="en-IE" sz="2400" dirty="0"/>
              <a:t> = </a:t>
            </a:r>
            <a:r>
              <a:rPr lang="en-IE" sz="2400" dirty="0" err="1"/>
              <a:t>topPtr</a:t>
            </a:r>
            <a:r>
              <a:rPr lang="en-IE" sz="2400" dirty="0"/>
              <a:t>;             </a:t>
            </a:r>
          </a:p>
          <a:p>
            <a:r>
              <a:rPr lang="en-IE" sz="2400" dirty="0"/>
              <a:t>   </a:t>
            </a:r>
            <a:r>
              <a:rPr lang="en-IE" sz="2400" dirty="0" err="1"/>
              <a:t>int</a:t>
            </a:r>
            <a:r>
              <a:rPr lang="en-IE" sz="2400" dirty="0"/>
              <a:t> </a:t>
            </a:r>
            <a:r>
              <a:rPr lang="en-IE" sz="2400" dirty="0" err="1"/>
              <a:t>popValue</a:t>
            </a:r>
            <a:r>
              <a:rPr lang="en-IE" sz="2400" dirty="0"/>
              <a:t> = (*</a:t>
            </a:r>
            <a:r>
              <a:rPr lang="en-IE" sz="2400" dirty="0" err="1"/>
              <a:t>topPtr</a:t>
            </a:r>
            <a:r>
              <a:rPr lang="en-IE" sz="2400" dirty="0"/>
              <a:t>)-&gt;data;  </a:t>
            </a:r>
          </a:p>
          <a:p>
            <a:r>
              <a:rPr lang="en-IE" sz="2400" dirty="0"/>
              <a:t>   </a:t>
            </a:r>
            <a:r>
              <a:rPr lang="en-IE" sz="2400" dirty="0" err="1"/>
              <a:t>topPtr</a:t>
            </a:r>
            <a:r>
              <a:rPr lang="en-IE" sz="2400" dirty="0"/>
              <a:t> = (*</a:t>
            </a:r>
            <a:r>
              <a:rPr lang="en-IE" sz="2400" dirty="0" err="1"/>
              <a:t>topPtr</a:t>
            </a:r>
            <a:r>
              <a:rPr lang="en-IE" sz="2400" dirty="0"/>
              <a:t>)-&gt;</a:t>
            </a:r>
            <a:r>
              <a:rPr lang="en-IE" sz="2400" dirty="0" err="1"/>
              <a:t>nextPtr</a:t>
            </a:r>
            <a:r>
              <a:rPr lang="en-IE" sz="2400" dirty="0"/>
              <a:t>;</a:t>
            </a:r>
          </a:p>
          <a:p>
            <a:r>
              <a:rPr lang="en-IE" sz="2400" dirty="0"/>
              <a:t>   free(</a:t>
            </a:r>
            <a:r>
              <a:rPr lang="en-IE" sz="2400" dirty="0" err="1"/>
              <a:t>tempPtr</a:t>
            </a:r>
            <a:r>
              <a:rPr lang="en-IE" sz="2400" dirty="0"/>
              <a:t>);               </a:t>
            </a:r>
          </a:p>
          <a:p>
            <a:r>
              <a:rPr lang="en-IE" sz="2400" dirty="0"/>
              <a:t>   return </a:t>
            </a:r>
            <a:r>
              <a:rPr lang="en-IE" sz="2400" dirty="0" err="1"/>
              <a:t>popValue</a:t>
            </a:r>
            <a:r>
              <a:rPr lang="en-IE" sz="2400" dirty="0"/>
              <a:t>;</a:t>
            </a:r>
          </a:p>
          <a:p>
            <a:r>
              <a:rPr lang="en-IE" sz="2400" dirty="0"/>
              <a:t>} </a:t>
            </a:r>
          </a:p>
          <a:p>
            <a:r>
              <a:rPr lang="en-IE" sz="2400" dirty="0"/>
              <a:t>else return ‘\0’; 				</a:t>
            </a:r>
            <a:endParaRPr lang="en-IE" sz="2400" b="1" dirty="0"/>
          </a:p>
        </p:txBody>
      </p:sp>
    </p:spTree>
    <p:extLst>
      <p:ext uri="{BB962C8B-B14F-4D97-AF65-F5344CB8AC3E}">
        <p14:creationId xmlns:p14="http://schemas.microsoft.com/office/powerpoint/2010/main" val="7242368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597f2bb-e537-46ef-8ebe-6966386943e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66317cb-e948-4e5f-8cec-dabc8e2fd5da}" enabled="0" method="" siteId="{766317cb-e948-4e5f-8cec-dabc8e2fd5d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2712</TotalTime>
  <Words>1307</Words>
  <Application>Microsoft Office PowerPoint</Application>
  <PresentationFormat>On-screen Show (4:3)</PresentationFormat>
  <Paragraphs>185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宋体</vt:lpstr>
      <vt:lpstr>Arial</vt:lpstr>
      <vt:lpstr>Calibri</vt:lpstr>
      <vt:lpstr>Courier New</vt:lpstr>
      <vt:lpstr>Lucida Console</vt:lpstr>
      <vt:lpstr>Tahoma</vt:lpstr>
      <vt:lpstr>Times New Roman</vt:lpstr>
      <vt:lpstr>Office Theme</vt:lpstr>
      <vt:lpstr>Stacks</vt:lpstr>
      <vt:lpstr>Introduction </vt:lpstr>
      <vt:lpstr>The Stack Data Structures</vt:lpstr>
      <vt:lpstr>12.5.3  Applications of Stacks </vt:lpstr>
      <vt:lpstr>A call Stack</vt:lpstr>
      <vt:lpstr>The Call stack</vt:lpstr>
      <vt:lpstr>Call stack: Stack and Frame pointer </vt:lpstr>
      <vt:lpstr>The Stack Data Structures</vt:lpstr>
      <vt:lpstr>Implementation of a Stack:</vt:lpstr>
      <vt:lpstr>Create Node</vt:lpstr>
      <vt:lpstr>Implementation of a stack</vt:lpstr>
      <vt:lpstr>Main function Stack.c</vt:lpstr>
      <vt:lpstr>The Function push </vt:lpstr>
      <vt:lpstr>Sample code push function</vt:lpstr>
      <vt:lpstr>Add 3 nodes to empty stack: stack2.c</vt:lpstr>
      <vt:lpstr>Push on to stack</vt:lpstr>
      <vt:lpstr>Illustration of push on to stack</vt:lpstr>
      <vt:lpstr>Delete/pop a node from the stack</vt:lpstr>
      <vt:lpstr>Sample code pop function </vt:lpstr>
      <vt:lpstr>Popping 2 nodes from stack: Stack2.c</vt:lpstr>
      <vt:lpstr>Print function:  </vt:lpstr>
      <vt:lpstr>Home Work: Illustrate adding 3 nodes onto the stack</vt:lpstr>
      <vt:lpstr>Home Work: The address after poping 2 nodes</vt:lpstr>
      <vt:lpstr>Sample Questions</vt:lpstr>
      <vt:lpstr>Sample question </vt:lpstr>
      <vt:lpstr>Clearly explain, using an example, if this function will add a node on to the top of a stack : (you will need to explain all parts of the code)  (10 marks) </vt:lpstr>
      <vt:lpstr>Explain what the following code does and if it would correctly pop a value from the stack    (10 Marks)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 and Queues</dc:title>
  <dc:creator>Denis Manley</dc:creator>
  <cp:lastModifiedBy>Denis Manley</cp:lastModifiedBy>
  <cp:revision>82</cp:revision>
  <dcterms:created xsi:type="dcterms:W3CDTF">2016-02-01T14:40:11Z</dcterms:created>
  <dcterms:modified xsi:type="dcterms:W3CDTF">2025-10-13T17:55:52Z</dcterms:modified>
</cp:coreProperties>
</file>