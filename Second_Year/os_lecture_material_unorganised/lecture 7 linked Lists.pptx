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99" r:id="rId3"/>
    <p:sldId id="257" r:id="rId4"/>
    <p:sldId id="289" r:id="rId5"/>
    <p:sldId id="336" r:id="rId6"/>
    <p:sldId id="303" r:id="rId7"/>
    <p:sldId id="309" r:id="rId8"/>
    <p:sldId id="270" r:id="rId9"/>
    <p:sldId id="327" r:id="rId10"/>
    <p:sldId id="310" r:id="rId11"/>
    <p:sldId id="311" r:id="rId12"/>
    <p:sldId id="312" r:id="rId13"/>
    <p:sldId id="313" r:id="rId14"/>
    <p:sldId id="697" r:id="rId15"/>
    <p:sldId id="334" r:id="rId16"/>
    <p:sldId id="323" r:id="rId17"/>
    <p:sldId id="276" r:id="rId18"/>
    <p:sldId id="306" r:id="rId19"/>
    <p:sldId id="291" r:id="rId20"/>
    <p:sldId id="329" r:id="rId21"/>
    <p:sldId id="328" r:id="rId22"/>
    <p:sldId id="337" r:id="rId23"/>
    <p:sldId id="335" r:id="rId24"/>
    <p:sldId id="338" r:id="rId25"/>
    <p:sldId id="318" r:id="rId26"/>
    <p:sldId id="300" r:id="rId27"/>
    <p:sldId id="307" r:id="rId28"/>
    <p:sldId id="308" r:id="rId29"/>
    <p:sldId id="331" r:id="rId30"/>
    <p:sldId id="315" r:id="rId31"/>
    <p:sldId id="332" r:id="rId32"/>
  </p:sldIdLst>
  <p:sldSz cx="9144000" cy="6858000" type="screen4x3"/>
  <p:notesSz cx="6743700" cy="9893300"/>
  <p:custDataLst>
    <p:tags r:id="rId3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99FF33"/>
    <a:srgbClr val="00FF00"/>
    <a:srgbClr val="669900"/>
    <a:srgbClr val="FF66FF"/>
    <a:srgbClr val="FF9900"/>
    <a:srgbClr val="9966FF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Manley" userId="445117d2-14a5-4c3e-af19-f1006b049bb1" providerId="ADAL" clId="{8CC12A5C-FC9C-4E0E-8855-445E9824A927}"/>
    <pc:docChg chg="modSld">
      <pc:chgData name="Denis Manley" userId="445117d2-14a5-4c3e-af19-f1006b049bb1" providerId="ADAL" clId="{8CC12A5C-FC9C-4E0E-8855-445E9824A927}" dt="2025-10-10T14:54:45.283" v="81" actId="20577"/>
      <pc:docMkLst>
        <pc:docMk/>
      </pc:docMkLst>
      <pc:sldChg chg="modSp mod">
        <pc:chgData name="Denis Manley" userId="445117d2-14a5-4c3e-af19-f1006b049bb1" providerId="ADAL" clId="{8CC12A5C-FC9C-4E0E-8855-445E9824A927}" dt="2025-10-10T14:54:45.283" v="81" actId="20577"/>
        <pc:sldMkLst>
          <pc:docMk/>
          <pc:sldMk cId="3914273874" sldId="318"/>
        </pc:sldMkLst>
        <pc:spChg chg="mod">
          <ac:chgData name="Denis Manley" userId="445117d2-14a5-4c3e-af19-f1006b049bb1" providerId="ADAL" clId="{8CC12A5C-FC9C-4E0E-8855-445E9824A927}" dt="2025-10-10T14:54:45.283" v="81" actId="20577"/>
          <ac:spMkLst>
            <pc:docMk/>
            <pc:sldMk cId="3914273874" sldId="318"/>
            <ac:spMk id="3" creationId="{00000000-0000-0000-0000-000000000000}"/>
          </ac:spMkLst>
        </pc:spChg>
      </pc:sldChg>
      <pc:sldChg chg="addSp delSp modSp mod">
        <pc:chgData name="Denis Manley" userId="445117d2-14a5-4c3e-af19-f1006b049bb1" providerId="ADAL" clId="{8CC12A5C-FC9C-4E0E-8855-445E9824A927}" dt="2025-10-10T14:54:28.193" v="76" actId="1076"/>
        <pc:sldMkLst>
          <pc:docMk/>
          <pc:sldMk cId="962322371" sldId="338"/>
        </pc:sldMkLst>
        <pc:spChg chg="mod">
          <ac:chgData name="Denis Manley" userId="445117d2-14a5-4c3e-af19-f1006b049bb1" providerId="ADAL" clId="{8CC12A5C-FC9C-4E0E-8855-445E9824A927}" dt="2025-10-10T14:49:34.822" v="56" actId="14100"/>
          <ac:spMkLst>
            <pc:docMk/>
            <pc:sldMk cId="962322371" sldId="338"/>
            <ac:spMk id="3" creationId="{00000000-0000-0000-0000-000000000000}"/>
          </ac:spMkLst>
        </pc:spChg>
        <pc:spChg chg="add del mod">
          <ac:chgData name="Denis Manley" userId="445117d2-14a5-4c3e-af19-f1006b049bb1" providerId="ADAL" clId="{8CC12A5C-FC9C-4E0E-8855-445E9824A927}" dt="2025-10-10T14:50:02.598" v="57" actId="931"/>
          <ac:spMkLst>
            <pc:docMk/>
            <pc:sldMk cId="962322371" sldId="338"/>
            <ac:spMk id="5" creationId="{6301EAF8-3243-8815-E9CE-D2DDEB0D2653}"/>
          </ac:spMkLst>
        </pc:spChg>
        <pc:spChg chg="del mod">
          <ac:chgData name="Denis Manley" userId="445117d2-14a5-4c3e-af19-f1006b049bb1" providerId="ADAL" clId="{8CC12A5C-FC9C-4E0E-8855-445E9824A927}" dt="2025-10-10T14:49:30.248" v="55" actId="478"/>
          <ac:spMkLst>
            <pc:docMk/>
            <pc:sldMk cId="962322371" sldId="338"/>
            <ac:spMk id="6" creationId="{00000000-0000-0000-0000-000000000000}"/>
          </ac:spMkLst>
        </pc:spChg>
        <pc:spChg chg="add del mod">
          <ac:chgData name="Denis Manley" userId="445117d2-14a5-4c3e-af19-f1006b049bb1" providerId="ADAL" clId="{8CC12A5C-FC9C-4E0E-8855-445E9824A927}" dt="2025-10-10T14:50:53.405" v="63" actId="931"/>
          <ac:spMkLst>
            <pc:docMk/>
            <pc:sldMk cId="962322371" sldId="338"/>
            <ac:spMk id="9" creationId="{A3870A1F-D56F-3DB5-0A72-D7F27A83FE59}"/>
          </ac:spMkLst>
        </pc:spChg>
        <pc:spChg chg="add del mod">
          <ac:chgData name="Denis Manley" userId="445117d2-14a5-4c3e-af19-f1006b049bb1" providerId="ADAL" clId="{8CC12A5C-FC9C-4E0E-8855-445E9824A927}" dt="2025-10-10T14:53:40.474" v="67" actId="931"/>
          <ac:spMkLst>
            <pc:docMk/>
            <pc:sldMk cId="962322371" sldId="338"/>
            <ac:spMk id="12" creationId="{1B1FFFB4-3F6A-D825-4CAA-35F9ECCC232E}"/>
          </ac:spMkLst>
        </pc:spChg>
        <pc:picChg chg="add del mod">
          <ac:chgData name="Denis Manley" userId="445117d2-14a5-4c3e-af19-f1006b049bb1" providerId="ADAL" clId="{8CC12A5C-FC9C-4E0E-8855-445E9824A927}" dt="2025-10-10T14:50:29.119" v="62" actId="478"/>
          <ac:picMkLst>
            <pc:docMk/>
            <pc:sldMk cId="962322371" sldId="338"/>
            <ac:picMk id="8" creationId="{A94359E7-5893-DEBD-9BCD-ADAF665B36B8}"/>
          </ac:picMkLst>
        </pc:picChg>
        <pc:picChg chg="add del mod">
          <ac:chgData name="Denis Manley" userId="445117d2-14a5-4c3e-af19-f1006b049bb1" providerId="ADAL" clId="{8CC12A5C-FC9C-4E0E-8855-445E9824A927}" dt="2025-10-10T14:52:11.953" v="66" actId="478"/>
          <ac:picMkLst>
            <pc:docMk/>
            <pc:sldMk cId="962322371" sldId="338"/>
            <ac:picMk id="11" creationId="{8BC90C69-E79E-2582-77F2-2B2AEB1AE03A}"/>
          </ac:picMkLst>
        </pc:picChg>
        <pc:picChg chg="add mod">
          <ac:chgData name="Denis Manley" userId="445117d2-14a5-4c3e-af19-f1006b049bb1" providerId="ADAL" clId="{8CC12A5C-FC9C-4E0E-8855-445E9824A927}" dt="2025-10-10T14:53:51.092" v="71" actId="1076"/>
          <ac:picMkLst>
            <pc:docMk/>
            <pc:sldMk cId="962322371" sldId="338"/>
            <ac:picMk id="14" creationId="{D72B1AD3-BCDA-2748-77A7-E74496BE41BC}"/>
          </ac:picMkLst>
        </pc:picChg>
        <pc:picChg chg="add mod">
          <ac:chgData name="Denis Manley" userId="445117d2-14a5-4c3e-af19-f1006b049bb1" providerId="ADAL" clId="{8CC12A5C-FC9C-4E0E-8855-445E9824A927}" dt="2025-10-10T14:54:28.193" v="76" actId="1076"/>
          <ac:picMkLst>
            <pc:docMk/>
            <pc:sldMk cId="962322371" sldId="338"/>
            <ac:picMk id="16" creationId="{B77E9997-3999-6E72-628D-E3347D4D281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258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9525" y="0"/>
            <a:ext cx="292258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1363"/>
            <a:ext cx="4946650" cy="37099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699000"/>
            <a:ext cx="5394325" cy="445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819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6413"/>
            <a:ext cx="292258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9525" y="9396413"/>
            <a:ext cx="292258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C91C714-B4CD-4F35-B5BF-05C9023C2B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46450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4763" y="3276600"/>
            <a:ext cx="9137650" cy="152400"/>
            <a:chOff x="3" y="2064"/>
            <a:chExt cx="5756" cy="96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black">
            <a:xfrm>
              <a:off x="3" y="2064"/>
              <a:ext cx="5756" cy="47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IE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black">
            <a:xfrm>
              <a:off x="3" y="2136"/>
              <a:ext cx="5756" cy="2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folHlink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IE"/>
            </a:p>
          </p:txBody>
        </p:sp>
      </p:grpSp>
      <p:sp>
        <p:nvSpPr>
          <p:cNvPr id="8704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TW" noProof="0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1148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altLang="zh-TW" noProof="0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D53E79C-20A0-4B3A-9E63-31A448B73EB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115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3E46E-91CF-4666-B63D-E9A859EB4C3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0016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FEA3FF-3E19-4EFE-860A-473B467BFDB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45757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9812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74E7C9-F6B9-4C66-B31A-50BD927F4AA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04650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6E8D7-5884-4377-8FF9-458A6C39E63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00299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49712E-3C71-4942-8830-FBF92394C7A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06972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FBE0CE-E1CC-45D1-B085-2E28DCCACCE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6904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B979A9-2C50-4CE3-A8AE-BCBE8C30454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86979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7AAD06-E077-4F88-82AB-BD9D5F3DA64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28636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0989F9-5D56-46DC-A6BA-6AE8A3C3D27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6289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6050" y="228600"/>
            <a:ext cx="19621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340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22F2F5-BC95-44BD-966B-D4FF483F3A8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075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7848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7848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 smtClean="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602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72400" y="6248400"/>
            <a:ext cx="1217613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smtClean="0">
                <a:ea typeface="新細明體" pitchFamily="18" charset="-120"/>
              </a:defRPr>
            </a:lvl1pPr>
          </a:lstStyle>
          <a:p>
            <a:pPr>
              <a:defRPr/>
            </a:pPr>
            <a:fld id="{CF85FB4E-56DF-4986-B6C1-7CA27615D5C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76200" y="76200"/>
            <a:ext cx="2514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TW" sz="1200">
                <a:solidFill>
                  <a:schemeClr val="folHlink"/>
                </a:solidFill>
                <a:ea typeface="新細明體" pitchFamily="18" charset="-120"/>
              </a:rPr>
              <a:t>Linked Lists / Slide </a:t>
            </a:r>
            <a:fld id="{0BF90A7F-6493-469B-92DC-7E8353A8F747}" type="slidenum">
              <a:rPr lang="en-US" altLang="zh-TW" sz="1200">
                <a:solidFill>
                  <a:schemeClr val="folHlink"/>
                </a:solidFill>
                <a:ea typeface="新細明體" pitchFamily="18" charset="-120"/>
              </a:rPr>
              <a:pPr/>
              <a:t>‹#›</a:t>
            </a:fld>
            <a:endParaRPr lang="en-US" altLang="zh-TW" sz="1200">
              <a:solidFill>
                <a:schemeClr val="folHlink"/>
              </a:solidFill>
              <a:ea typeface="新細明體" pitchFamily="18" charset="-120"/>
            </a:endParaRPr>
          </a:p>
        </p:txBody>
      </p:sp>
      <p:sp>
        <p:nvSpPr>
          <p:cNvPr id="8602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smtClean="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49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49FFF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49FFF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49FFF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49FFF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49FFF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49FFF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49FFF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49FFF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*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Monotype Sorts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1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Monotype Sort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Monotype Sort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Monotype Sort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Monotype Sort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Monotype Sort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4FA054FD-68F5-48F1-9B72-A51F34661994}" type="slidenum">
              <a:rPr lang="zh-TW" altLang="en-US"/>
              <a:pPr/>
              <a:t>1</a:t>
            </a:fld>
            <a:endParaRPr lang="en-US" altLang="zh-TW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00200"/>
            <a:ext cx="7772400" cy="1600200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ea typeface="宋体" pitchFamily="2" charset="-122"/>
              </a:rPr>
              <a:t>Linked Lists: A dynamic data structure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altLang="zh-CN" dirty="0">
                <a:solidFill>
                  <a:schemeClr val="bg1"/>
                </a:solidFill>
                <a:ea typeface="宋体" pitchFamily="2" charset="-122"/>
              </a:rPr>
              <a:t>Lecture 7</a:t>
            </a:r>
            <a:endParaRPr lang="zh-CN" altLang="en-US" dirty="0">
              <a:solidFill>
                <a:schemeClr val="bg1"/>
              </a:solidFill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7FB0C84-1A00-4771-963E-F11E9D2A28CE}" type="slidenum">
              <a:rPr lang="zh-TW" altLang="en-US"/>
              <a:pPr/>
              <a:t>2</a:t>
            </a:fld>
            <a:endParaRPr lang="en-US" altLang="zh-TW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Array versus Linked Lists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81200"/>
            <a:ext cx="7848600" cy="4267200"/>
          </a:xfrm>
        </p:spPr>
        <p:txBody>
          <a:bodyPr/>
          <a:lstStyle/>
          <a:p>
            <a:r>
              <a:rPr lang="en-US" altLang="zh-CN" sz="2400" dirty="0">
                <a:ea typeface="宋体" pitchFamily="2" charset="-122"/>
              </a:rPr>
              <a:t>Linked lists are more complex to code and manage than arrays, but they have some distinct advantages.</a:t>
            </a:r>
          </a:p>
          <a:p>
            <a:pPr lvl="1"/>
            <a:r>
              <a:rPr lang="en-US" altLang="zh-CN" sz="2000" b="1" dirty="0">
                <a:solidFill>
                  <a:schemeClr val="hlink"/>
                </a:solidFill>
                <a:ea typeface="宋体" pitchFamily="2" charset="-122"/>
              </a:rPr>
              <a:t>Dynamic</a:t>
            </a:r>
            <a:r>
              <a:rPr lang="en-US" altLang="zh-CN" sz="2000" dirty="0">
                <a:ea typeface="宋体" pitchFamily="2" charset="-122"/>
              </a:rPr>
              <a:t>: a linked list can easily grow and shrink in size.</a:t>
            </a:r>
          </a:p>
          <a:p>
            <a:pPr lvl="2"/>
            <a:r>
              <a:rPr lang="en-US" altLang="zh-CN" sz="1800" dirty="0">
                <a:ea typeface="宋体" pitchFamily="2" charset="-122"/>
              </a:rPr>
              <a:t>We don’t need to know how many nodes will be in the list. They are created in memory as needed.</a:t>
            </a:r>
          </a:p>
          <a:p>
            <a:pPr lvl="2"/>
            <a:r>
              <a:rPr lang="en-US" altLang="zh-CN" sz="1800" dirty="0">
                <a:ea typeface="宋体" pitchFamily="2" charset="-122"/>
              </a:rPr>
              <a:t>In contrast, the size of a C array is fixed at compilation time.</a:t>
            </a:r>
          </a:p>
          <a:p>
            <a:pPr lvl="1"/>
            <a:r>
              <a:rPr lang="en-US" altLang="zh-CN" sz="2000" b="1" dirty="0">
                <a:solidFill>
                  <a:schemeClr val="hlink"/>
                </a:solidFill>
                <a:ea typeface="宋体" pitchFamily="2" charset="-122"/>
              </a:rPr>
              <a:t>Easy and fast insertions and deletions</a:t>
            </a:r>
          </a:p>
          <a:p>
            <a:pPr lvl="2"/>
            <a:r>
              <a:rPr lang="en-US" altLang="zh-CN" sz="1800" dirty="0">
                <a:ea typeface="宋体" pitchFamily="2" charset="-122"/>
              </a:rPr>
              <a:t>To insert or delete an element in an array, we need to copy to temporary variables to make room for new elements or close the gap caused by deleted elements.</a:t>
            </a:r>
          </a:p>
          <a:p>
            <a:pPr lvl="2"/>
            <a:r>
              <a:rPr lang="en-US" altLang="zh-CN" sz="1800" dirty="0">
                <a:ea typeface="宋体" pitchFamily="2" charset="-122"/>
              </a:rPr>
              <a:t>With a linked list, no need to move other nodes. Only need to reset some pointers.</a:t>
            </a:r>
          </a:p>
        </p:txBody>
      </p:sp>
    </p:spTree>
    <p:extLst>
      <p:ext uri="{BB962C8B-B14F-4D97-AF65-F5344CB8AC3E}">
        <p14:creationId xmlns:p14="http://schemas.microsoft.com/office/powerpoint/2010/main" val="11778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BDE9A539-16C8-440C-B7EC-F22FA7599424}" type="slidenum">
              <a:rPr lang="zh-TW" altLang="en-US"/>
              <a:pPr/>
              <a:t>3</a:t>
            </a:fld>
            <a:endParaRPr lang="en-US" altLang="zh-TW" dirty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609600"/>
          </a:xfr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  <a:ea typeface="宋体" pitchFamily="2" charset="-122"/>
              </a:rPr>
              <a:t>List Overview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001000" cy="5562600"/>
          </a:xfrm>
          <a:solidFill>
            <a:schemeClr val="tx1"/>
          </a:solidFill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  <a:ea typeface="宋体" pitchFamily="2" charset="-122"/>
              </a:rPr>
              <a:t>Linked lists</a:t>
            </a:r>
          </a:p>
          <a:p>
            <a:pPr lvl="1"/>
            <a:r>
              <a:rPr lang="en-US" altLang="zh-CN" dirty="0">
                <a:solidFill>
                  <a:schemeClr val="bg2"/>
                </a:solidFill>
                <a:ea typeface="宋体" pitchFamily="2" charset="-122"/>
              </a:rPr>
              <a:t>It is Dynamic and so you can increase/decrease the size.</a:t>
            </a:r>
          </a:p>
          <a:p>
            <a:pPr lvl="1"/>
            <a:r>
              <a:rPr lang="en-US" altLang="zh-CN" dirty="0">
                <a:solidFill>
                  <a:schemeClr val="bg2"/>
                </a:solidFill>
                <a:ea typeface="宋体" pitchFamily="2" charset="-122"/>
              </a:rPr>
              <a:t>Unlike an array which is static: can not change the size at run time</a:t>
            </a:r>
          </a:p>
          <a:p>
            <a:r>
              <a:rPr lang="en-US" altLang="zh-CN" dirty="0">
                <a:solidFill>
                  <a:schemeClr val="bg2"/>
                </a:solidFill>
                <a:ea typeface="宋体" pitchFamily="2" charset="-122"/>
              </a:rPr>
              <a:t>Basic operations of linked lists</a:t>
            </a:r>
          </a:p>
          <a:p>
            <a:pPr lvl="1"/>
            <a:r>
              <a:rPr lang="en-US" altLang="zh-CN" dirty="0">
                <a:solidFill>
                  <a:schemeClr val="bg2"/>
                </a:solidFill>
                <a:ea typeface="宋体" pitchFamily="2" charset="-122"/>
              </a:rPr>
              <a:t>Insert, find, delete, print, modify….</a:t>
            </a:r>
          </a:p>
          <a:p>
            <a:r>
              <a:rPr lang="en-US" altLang="zh-CN" dirty="0">
                <a:solidFill>
                  <a:schemeClr val="bg2"/>
                </a:solidFill>
                <a:ea typeface="宋体" pitchFamily="2" charset="-122"/>
              </a:rPr>
              <a:t>Subset of linked lists</a:t>
            </a:r>
          </a:p>
          <a:p>
            <a:pPr lvl="1"/>
            <a:r>
              <a:rPr lang="en-US" altLang="zh-CN" b="1" dirty="0">
                <a:solidFill>
                  <a:schemeClr val="bg2"/>
                </a:solidFill>
                <a:ea typeface="宋体" pitchFamily="2" charset="-122"/>
              </a:rPr>
              <a:t>Stacks</a:t>
            </a:r>
            <a:r>
              <a:rPr lang="en-US" altLang="zh-CN" dirty="0">
                <a:solidFill>
                  <a:schemeClr val="bg2"/>
                </a:solidFill>
                <a:ea typeface="宋体" pitchFamily="2" charset="-122"/>
              </a:rPr>
              <a:t> : used in the program/thread stack: Last In First Output (L.I.F.O.)</a:t>
            </a:r>
          </a:p>
          <a:p>
            <a:pPr lvl="1"/>
            <a:r>
              <a:rPr lang="en-US" altLang="zh-CN" b="1" dirty="0">
                <a:solidFill>
                  <a:schemeClr val="bg2"/>
                </a:solidFill>
                <a:ea typeface="宋体" pitchFamily="2" charset="-122"/>
              </a:rPr>
              <a:t>Queues</a:t>
            </a:r>
            <a:r>
              <a:rPr lang="en-US" altLang="zh-CN" dirty="0">
                <a:solidFill>
                  <a:schemeClr val="bg2"/>
                </a:solidFill>
                <a:ea typeface="宋体" pitchFamily="2" charset="-122"/>
              </a:rPr>
              <a:t>: used for algorithms for scheduling processes to run on a CPU: First In First Out(F.I.F.O.)</a:t>
            </a:r>
          </a:p>
          <a:p>
            <a:pPr lvl="1"/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tx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5DF8D1-701C-4E82-9D27-EB597D7CA1BE}" type="slidenum">
              <a:rPr lang="zh-TW" altLang="en-US"/>
              <a:pPr/>
              <a:t>4</a:t>
            </a:fld>
            <a:endParaRPr lang="en-US" altLang="zh-TW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2"/>
                </a:solidFill>
              </a:rPr>
              <a:t>Operations on Linked List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68878"/>
            <a:ext cx="8534400" cy="5260521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dirty="0">
                <a:solidFill>
                  <a:schemeClr val="bg2"/>
                </a:solidFill>
                <a:latin typeface="Courier New" pitchFamily="49" charset="0"/>
              </a:rPr>
              <a:t>// prototypes: note data types</a:t>
            </a:r>
          </a:p>
          <a:p>
            <a:pPr>
              <a:spcBef>
                <a:spcPct val="0"/>
              </a:spcBef>
            </a:pPr>
            <a:r>
              <a:rPr lang="en-US" altLang="en-US" dirty="0">
                <a:solidFill>
                  <a:schemeClr val="bg2"/>
                </a:solidFill>
                <a:latin typeface="Courier New" pitchFamily="49" charset="0"/>
              </a:rPr>
              <a:t>void insert(</a:t>
            </a:r>
            <a:r>
              <a:rPr lang="en-US" altLang="en-US" dirty="0" err="1">
                <a:solidFill>
                  <a:schemeClr val="bg2"/>
                </a:solidFill>
                <a:latin typeface="Courier New" pitchFamily="49" charset="0"/>
              </a:rPr>
              <a:t>ListNode</a:t>
            </a:r>
            <a:r>
              <a:rPr lang="en-US" altLang="en-US" dirty="0">
                <a:solidFill>
                  <a:schemeClr val="bg2"/>
                </a:solidFill>
                <a:latin typeface="Courier New" pitchFamily="49" charset="0"/>
              </a:rPr>
              <a:t>**, char);</a:t>
            </a:r>
          </a:p>
          <a:p>
            <a:pPr>
              <a:spcBef>
                <a:spcPct val="0"/>
              </a:spcBef>
            </a:pPr>
            <a:r>
              <a:rPr lang="en-US" altLang="en-US" dirty="0">
                <a:solidFill>
                  <a:schemeClr val="bg2"/>
                </a:solidFill>
                <a:latin typeface="Courier New" pitchFamily="49" charset="0"/>
              </a:rPr>
              <a:t>char delete(</a:t>
            </a:r>
            <a:r>
              <a:rPr lang="en-US" altLang="en-US" dirty="0" err="1">
                <a:solidFill>
                  <a:schemeClr val="bg2"/>
                </a:solidFill>
                <a:latin typeface="Courier New" pitchFamily="49" charset="0"/>
              </a:rPr>
              <a:t>ListNode</a:t>
            </a:r>
            <a:r>
              <a:rPr lang="en-US" altLang="en-US" dirty="0">
                <a:solidFill>
                  <a:schemeClr val="bg2"/>
                </a:solidFill>
                <a:latin typeface="Courier New" pitchFamily="49" charset="0"/>
              </a:rPr>
              <a:t>*,char value);</a:t>
            </a:r>
          </a:p>
          <a:p>
            <a:pPr>
              <a:spcBef>
                <a:spcPct val="0"/>
              </a:spcBef>
            </a:pPr>
            <a:r>
              <a:rPr lang="en-US" altLang="en-US" dirty="0">
                <a:solidFill>
                  <a:schemeClr val="bg2"/>
                </a:solidFill>
                <a:latin typeface="Courier New" pitchFamily="49" charset="0"/>
              </a:rPr>
              <a:t>void </a:t>
            </a:r>
            <a:r>
              <a:rPr lang="en-US" altLang="en-US" dirty="0" err="1">
                <a:solidFill>
                  <a:schemeClr val="bg2"/>
                </a:solidFill>
                <a:latin typeface="Courier New" pitchFamily="49" charset="0"/>
              </a:rPr>
              <a:t>printList</a:t>
            </a:r>
            <a:r>
              <a:rPr lang="en-US" altLang="en-US" dirty="0">
                <a:solidFill>
                  <a:schemeClr val="bg2"/>
                </a:solidFill>
                <a:latin typeface="Courier New" pitchFamily="49" charset="0"/>
              </a:rPr>
              <a:t>(</a:t>
            </a:r>
            <a:r>
              <a:rPr lang="en-US" altLang="en-US" dirty="0" err="1">
                <a:solidFill>
                  <a:schemeClr val="bg2"/>
                </a:solidFill>
                <a:latin typeface="Courier New" pitchFamily="49" charset="0"/>
              </a:rPr>
              <a:t>ListNode</a:t>
            </a:r>
            <a:r>
              <a:rPr lang="en-US" altLang="en-US" dirty="0">
                <a:solidFill>
                  <a:schemeClr val="bg2"/>
                </a:solidFill>
                <a:latin typeface="Courier New" pitchFamily="49" charset="0"/>
              </a:rPr>
              <a:t>*);</a:t>
            </a:r>
          </a:p>
          <a:p>
            <a:pPr>
              <a:spcBef>
                <a:spcPct val="0"/>
              </a:spcBef>
            </a:pPr>
            <a:endParaRPr lang="en-US" altLang="en-US" dirty="0">
              <a:solidFill>
                <a:schemeClr val="bg2"/>
              </a:solidFill>
              <a:latin typeface="Courier New" pitchFamily="49" charset="0"/>
            </a:endParaRPr>
          </a:p>
          <a:p>
            <a:pPr>
              <a:spcBef>
                <a:spcPct val="0"/>
              </a:spcBef>
            </a:pPr>
            <a:r>
              <a:rPr lang="en-US" altLang="en-US" dirty="0">
                <a:solidFill>
                  <a:schemeClr val="bg2"/>
                </a:solidFill>
                <a:latin typeface="Courier New" pitchFamily="49" charset="0"/>
              </a:rPr>
              <a:t>Pass </a:t>
            </a:r>
            <a:r>
              <a:rPr lang="en-US" altLang="en-US" dirty="0" err="1">
                <a:solidFill>
                  <a:schemeClr val="bg2"/>
                </a:solidFill>
                <a:latin typeface="Courier New" pitchFamily="49" charset="0"/>
              </a:rPr>
              <a:t>ListNode</a:t>
            </a:r>
            <a:r>
              <a:rPr lang="en-US" altLang="en-US" dirty="0">
                <a:solidFill>
                  <a:schemeClr val="bg2"/>
                </a:solidFill>
                <a:latin typeface="Courier New" pitchFamily="49" charset="0"/>
              </a:rPr>
              <a:t> variable by </a:t>
            </a:r>
            <a:r>
              <a:rPr lang="en-US" altLang="en-US" b="1" dirty="0">
                <a:solidFill>
                  <a:schemeClr val="bg2"/>
                </a:solidFill>
                <a:latin typeface="Courier New" pitchFamily="49" charset="0"/>
              </a:rPr>
              <a:t>reference</a:t>
            </a:r>
            <a:r>
              <a:rPr lang="en-US" altLang="en-US" dirty="0">
                <a:solidFill>
                  <a:schemeClr val="bg2"/>
                </a:solidFill>
                <a:latin typeface="Courier New" pitchFamily="49" charset="0"/>
              </a:rPr>
              <a:t> in the insert and delete function:  pass the address of </a:t>
            </a:r>
            <a:r>
              <a:rPr lang="en-US" altLang="en-US" dirty="0" err="1">
                <a:solidFill>
                  <a:schemeClr val="bg2"/>
                </a:solidFill>
                <a:latin typeface="Courier New" pitchFamily="49" charset="0"/>
              </a:rPr>
              <a:t>ListNode</a:t>
            </a:r>
            <a:endParaRPr lang="en-US" altLang="en-US" dirty="0">
              <a:solidFill>
                <a:schemeClr val="bg2"/>
              </a:solidFill>
              <a:latin typeface="Courier New" pitchFamily="49" charset="0"/>
            </a:endParaRPr>
          </a:p>
          <a:p>
            <a:pPr>
              <a:spcBef>
                <a:spcPct val="0"/>
              </a:spcBef>
            </a:pPr>
            <a:r>
              <a:rPr lang="en-US" altLang="en-US" dirty="0">
                <a:solidFill>
                  <a:schemeClr val="bg2"/>
                </a:solidFill>
                <a:latin typeface="Courier New" pitchFamily="49" charset="0"/>
              </a:rPr>
              <a:t>Pass </a:t>
            </a:r>
            <a:r>
              <a:rPr lang="en-US" altLang="en-US" dirty="0" err="1">
                <a:solidFill>
                  <a:schemeClr val="bg2"/>
                </a:solidFill>
                <a:latin typeface="Courier New" pitchFamily="49" charset="0"/>
              </a:rPr>
              <a:t>ListNode</a:t>
            </a:r>
            <a:r>
              <a:rPr lang="en-US" altLang="en-US" dirty="0">
                <a:solidFill>
                  <a:schemeClr val="bg2"/>
                </a:solidFill>
                <a:latin typeface="Courier New" pitchFamily="49" charset="0"/>
              </a:rPr>
              <a:t> variable by </a:t>
            </a:r>
            <a:r>
              <a:rPr lang="en-US" altLang="en-US" b="1" dirty="0">
                <a:solidFill>
                  <a:schemeClr val="bg2"/>
                </a:solidFill>
                <a:latin typeface="Courier New" pitchFamily="49" charset="0"/>
              </a:rPr>
              <a:t>value</a:t>
            </a:r>
            <a:r>
              <a:rPr lang="en-US" altLang="en-US" dirty="0">
                <a:solidFill>
                  <a:schemeClr val="bg2"/>
                </a:solidFill>
                <a:latin typeface="Courier New" pitchFamily="49" charset="0"/>
              </a:rPr>
              <a:t> in the print function: pass the contents of </a:t>
            </a:r>
            <a:r>
              <a:rPr lang="en-US" altLang="en-US" dirty="0" err="1">
                <a:solidFill>
                  <a:schemeClr val="bg2"/>
                </a:solidFill>
                <a:latin typeface="Courier New" pitchFamily="49" charset="0"/>
              </a:rPr>
              <a:t>ListNode</a:t>
            </a:r>
            <a:endParaRPr lang="en-US" altLang="en-US" dirty="0">
              <a:solidFill>
                <a:schemeClr val="bg2"/>
              </a:solidFill>
              <a:latin typeface="Courier New" pitchFamily="49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B02E-DCAA-E28C-F2F4-C7D307BE8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848600" cy="914400"/>
          </a:xfrm>
        </p:spPr>
        <p:txBody>
          <a:bodyPr/>
          <a:lstStyle/>
          <a:p>
            <a:r>
              <a:rPr lang="en-IE" dirty="0"/>
              <a:t>The </a:t>
            </a:r>
            <a:r>
              <a:rPr lang="en-IE" dirty="0" err="1"/>
              <a:t>listNode</a:t>
            </a:r>
            <a:r>
              <a:rPr lang="en-IE" dirty="0"/>
              <a:t> structure </a:t>
            </a:r>
          </a:p>
        </p:txBody>
      </p:sp>
      <p:pic>
        <p:nvPicPr>
          <p:cNvPr id="6" name="Content Placeholder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A516D2F6-8891-4E0F-3793-2B93348098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173480"/>
            <a:ext cx="6562685" cy="201464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7C9EB-9DA7-BFCB-9D76-AABDF54A00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5</a:t>
            </a:fld>
            <a:endParaRPr lang="en-US" altLang="zh-TW"/>
          </a:p>
        </p:txBody>
      </p:sp>
      <p:pic>
        <p:nvPicPr>
          <p:cNvPr id="8" name="Picture 7" descr="A whiteboard with writing on it&#10;&#10;Description automatically generated">
            <a:extLst>
              <a:ext uri="{FF2B5EF4-FFF2-40B4-BE49-F238E27FC236}">
                <a16:creationId xmlns:a16="http://schemas.microsoft.com/office/drawing/2014/main" id="{F8001371-F7FA-EC2A-A0A7-E02EEF6BE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429000"/>
            <a:ext cx="5181600" cy="297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891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56FDC2E-DCDC-4775-A899-E12AA45A5E17}" type="slidenum">
              <a:rPr lang="zh-TW" altLang="en-US"/>
              <a:pPr/>
              <a:t>6</a:t>
            </a:fld>
            <a:endParaRPr lang="en-US" altLang="zh-TW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762000"/>
          </a:xfrm>
        </p:spPr>
        <p:txBody>
          <a:bodyPr/>
          <a:lstStyle/>
          <a:p>
            <a:r>
              <a:rPr lang="en-US" altLang="en-US" dirty="0">
                <a:solidFill>
                  <a:schemeClr val="bg2"/>
                </a:solidFill>
              </a:rPr>
              <a:t>Main function (insert node)</a:t>
            </a:r>
            <a:r>
              <a:rPr lang="en-US" altLang="en-US" dirty="0"/>
              <a:t> </a:t>
            </a:r>
          </a:p>
        </p:txBody>
      </p:sp>
      <p:sp>
        <p:nvSpPr>
          <p:cNvPr id="16388" name="Rectangl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457200" y="1066800"/>
            <a:ext cx="8202140" cy="44196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en-US" sz="1400" dirty="0">
                <a:solidFill>
                  <a:schemeClr val="bg2"/>
                </a:solidFill>
                <a:latin typeface="Courier New" pitchFamily="49" charset="0"/>
              </a:rPr>
              <a:t> </a:t>
            </a:r>
            <a:endParaRPr lang="en-US" altLang="en-US" sz="1600" dirty="0">
              <a:solidFill>
                <a:schemeClr val="bg2"/>
              </a:solidFill>
              <a:latin typeface="Courier New" pitchFamily="49" charset="0"/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551" y="1580990"/>
            <a:ext cx="6383731" cy="405781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 bwMode="auto">
          <a:xfrm flipH="1">
            <a:off x="3657600" y="838200"/>
            <a:ext cx="2057400" cy="37338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Straight Arrow Connector 7"/>
          <p:cNvCxnSpPr/>
          <p:nvPr/>
        </p:nvCxnSpPr>
        <p:spPr bwMode="auto">
          <a:xfrm flipH="1">
            <a:off x="3886200" y="838200"/>
            <a:ext cx="1600200" cy="35052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/>
          <p:nvPr/>
        </p:nvCxnSpPr>
        <p:spPr bwMode="auto">
          <a:xfrm flipH="1">
            <a:off x="4191000" y="838200"/>
            <a:ext cx="1066800" cy="34290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030019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A9B03FA-055A-40AE-996A-6379C5867DF8}" type="slidenum">
              <a:rPr lang="zh-TW" altLang="en-US"/>
              <a:pPr/>
              <a:t>7</a:t>
            </a:fld>
            <a:endParaRPr lang="en-US" altLang="zh-TW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Inserting a new node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534400" cy="4114800"/>
          </a:xfrm>
        </p:spPr>
        <p:txBody>
          <a:bodyPr/>
          <a:lstStyle/>
          <a:p>
            <a:pPr marL="533400" indent="-533400"/>
            <a:r>
              <a:rPr lang="en-US" altLang="zh-CN" dirty="0">
                <a:ea typeface="宋体" pitchFamily="2" charset="-122"/>
              </a:rPr>
              <a:t>Possible cases of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Insert a Node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zh-CN" dirty="0">
                <a:ea typeface="宋体" pitchFamily="2" charset="-122"/>
              </a:rPr>
              <a:t>Insert into an empty list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zh-CN" dirty="0">
                <a:ea typeface="宋体" pitchFamily="2" charset="-122"/>
              </a:rPr>
              <a:t>Insert in start of list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zh-CN" dirty="0">
                <a:ea typeface="宋体" pitchFamily="2" charset="-122"/>
              </a:rPr>
              <a:t>Insert at end of list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zh-CN" dirty="0">
                <a:ea typeface="宋体" pitchFamily="2" charset="-122"/>
              </a:rPr>
              <a:t>Insert in middle</a:t>
            </a:r>
          </a:p>
          <a:p>
            <a:pPr marL="533400" indent="-533400"/>
            <a:r>
              <a:rPr lang="en-US" altLang="zh-CN" dirty="0">
                <a:ea typeface="宋体" pitchFamily="2" charset="-122"/>
              </a:rPr>
              <a:t>But, in fact, only need to handle two cases</a:t>
            </a:r>
          </a:p>
          <a:p>
            <a:pPr marL="914400" lvl="1" indent="-457200"/>
            <a:r>
              <a:rPr lang="en-US" altLang="zh-CN" dirty="0">
                <a:ea typeface="宋体" pitchFamily="2" charset="-122"/>
              </a:rPr>
              <a:t>Insert as the first node (Case 1 and Case 2)</a:t>
            </a:r>
          </a:p>
          <a:p>
            <a:pPr marL="914400" lvl="1" indent="-457200"/>
            <a:r>
              <a:rPr lang="en-US" altLang="zh-CN" dirty="0">
                <a:ea typeface="宋体" pitchFamily="2" charset="-122"/>
              </a:rPr>
              <a:t>Insert in the middle or at the end of the list (Case 3 and Case 4)</a:t>
            </a:r>
          </a:p>
          <a:p>
            <a:pPr marL="533400" indent="-533400"/>
            <a:endParaRPr lang="en-US" altLang="zh-CN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754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56A6460-04C6-4E9E-ACB6-E0F533862394}" type="slidenum">
              <a:rPr lang="zh-TW" altLang="en-US"/>
              <a:pPr/>
              <a:t>8</a:t>
            </a:fld>
            <a:endParaRPr lang="en-US" altLang="zh-TW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914400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Inserting a new node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10600" cy="4572000"/>
          </a:xfrm>
        </p:spPr>
        <p:txBody>
          <a:bodyPr/>
          <a:lstStyle/>
          <a:p>
            <a:pPr marL="514350" indent="-457200">
              <a:lnSpc>
                <a:spcPct val="90000"/>
              </a:lnSpc>
            </a:pPr>
            <a:r>
              <a:rPr lang="en-US" altLang="zh-CN" dirty="0">
                <a:solidFill>
                  <a:srgbClr val="FFFFFF"/>
                </a:solidFill>
                <a:ea typeface="宋体" pitchFamily="2" charset="-122"/>
              </a:rPr>
              <a:t>Insert a node with data equal to </a:t>
            </a:r>
            <a:r>
              <a:rPr lang="en-US" altLang="zh-CN" dirty="0">
                <a:solidFill>
                  <a:srgbClr val="FFFFFF"/>
                </a:solidFill>
                <a:latin typeface="Courier New" pitchFamily="49" charset="0"/>
                <a:ea typeface="宋体" pitchFamily="2" charset="-122"/>
              </a:rPr>
              <a:t>x</a:t>
            </a:r>
            <a:r>
              <a:rPr lang="en-US" altLang="zh-CN" dirty="0">
                <a:solidFill>
                  <a:srgbClr val="FFFFFF"/>
                </a:solidFill>
                <a:ea typeface="宋体" pitchFamily="2" charset="-122"/>
              </a:rPr>
              <a:t> (in the Link List Demo the data is added in alphabetical order)</a:t>
            </a:r>
            <a:endParaRPr lang="en-US" altLang="zh-CN" sz="2200" dirty="0">
              <a:solidFill>
                <a:srgbClr val="FF66FF"/>
              </a:solidFill>
              <a:ea typeface="宋体" pitchFamily="2" charset="-122"/>
            </a:endParaRPr>
          </a:p>
          <a:p>
            <a:pPr marL="514350" indent="-457200">
              <a:lnSpc>
                <a:spcPct val="90000"/>
              </a:lnSpc>
            </a:pPr>
            <a:endParaRPr lang="en-US" altLang="zh-CN" dirty="0">
              <a:solidFill>
                <a:srgbClr val="FFFFFF"/>
              </a:solidFill>
              <a:ea typeface="宋体" pitchFamily="2" charset="-122"/>
            </a:endParaRPr>
          </a:p>
          <a:p>
            <a:pPr marL="514350" indent="-457200">
              <a:lnSpc>
                <a:spcPct val="90000"/>
              </a:lnSpc>
            </a:pPr>
            <a:r>
              <a:rPr lang="en-US" altLang="zh-CN" dirty="0">
                <a:solidFill>
                  <a:srgbClr val="FFFFFF"/>
                </a:solidFill>
                <a:ea typeface="宋体" pitchFamily="2" charset="-122"/>
              </a:rPr>
              <a:t>Steps (insert function)</a:t>
            </a:r>
          </a:p>
          <a:p>
            <a:pPr marL="914400" lvl="1" indent="-4572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zh-CN" sz="2200" dirty="0">
                <a:solidFill>
                  <a:srgbClr val="FFFFFF"/>
                </a:solidFill>
                <a:ea typeface="宋体" pitchFamily="2" charset="-122"/>
              </a:rPr>
              <a:t>Allocate memory for the new node </a:t>
            </a:r>
          </a:p>
          <a:p>
            <a:pPr marL="914400" lvl="1" indent="-4572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zh-CN" sz="2200" dirty="0">
                <a:solidFill>
                  <a:srgbClr val="FFFFFF"/>
                </a:solidFill>
                <a:ea typeface="宋体" pitchFamily="2" charset="-122"/>
              </a:rPr>
              <a:t>Locate node (current) before which new node is inserted</a:t>
            </a:r>
          </a:p>
          <a:p>
            <a:pPr marL="914400" lvl="1" indent="-4572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zh-CN" sz="2200" dirty="0">
                <a:solidFill>
                  <a:srgbClr val="FFFFFF"/>
                </a:solidFill>
                <a:ea typeface="宋体" pitchFamily="2" charset="-122"/>
              </a:rPr>
              <a:t>Point the new node to the (current) node</a:t>
            </a:r>
            <a:endParaRPr lang="en-US" altLang="zh-CN" sz="2200" b="1" dirty="0">
              <a:solidFill>
                <a:srgbClr val="FFFFFF"/>
              </a:solidFill>
              <a:ea typeface="宋体" pitchFamily="2" charset="-122"/>
            </a:endParaRPr>
          </a:p>
          <a:p>
            <a:pPr marL="914400" lvl="1" indent="-4572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zh-CN" sz="2200" dirty="0">
                <a:solidFill>
                  <a:srgbClr val="FFFFFF"/>
                </a:solidFill>
                <a:ea typeface="宋体" pitchFamily="2" charset="-122"/>
              </a:rPr>
              <a:t>Point the current node’s </a:t>
            </a:r>
            <a:r>
              <a:rPr lang="en-US" altLang="zh-CN" sz="2200" b="1" dirty="0">
                <a:solidFill>
                  <a:srgbClr val="FFFFFF"/>
                </a:solidFill>
                <a:ea typeface="宋体" pitchFamily="2" charset="-122"/>
              </a:rPr>
              <a:t>predecessor</a:t>
            </a:r>
            <a:r>
              <a:rPr lang="en-US" altLang="zh-CN" sz="2200" dirty="0">
                <a:solidFill>
                  <a:srgbClr val="FFFFFF"/>
                </a:solidFill>
                <a:ea typeface="宋体" pitchFamily="2" charset="-122"/>
              </a:rPr>
              <a:t> (previous) to the new node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zh-CN" sz="2200" dirty="0">
              <a:solidFill>
                <a:srgbClr val="FFFFFF"/>
              </a:solidFill>
              <a:ea typeface="宋体" pitchFamily="2" charset="-122"/>
            </a:endParaRPr>
          </a:p>
          <a:p>
            <a:pPr marL="914400" lvl="1" indent="-457200">
              <a:lnSpc>
                <a:spcPct val="90000"/>
              </a:lnSpc>
              <a:buFont typeface="Monotype Sorts" pitchFamily="2" charset="2"/>
              <a:buAutoNum type="arabicPeriod"/>
            </a:pPr>
            <a:endParaRPr lang="en-US" altLang="zh-CN" dirty="0">
              <a:solidFill>
                <a:srgbClr val="FFFFFF"/>
              </a:solidFill>
              <a:ea typeface="宋体" pitchFamily="2" charset="-122"/>
            </a:endParaRPr>
          </a:p>
          <a:p>
            <a:pPr marL="914400" lvl="1" indent="-457200">
              <a:lnSpc>
                <a:spcPct val="90000"/>
              </a:lnSpc>
            </a:pPr>
            <a:endParaRPr lang="zh-CN" altLang="en-US" dirty="0">
              <a:solidFill>
                <a:srgbClr val="FFFFFF"/>
              </a:solidFill>
              <a:ea typeface="宋体" pitchFamily="2" charset="-122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8477250" y="4881563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IE" altLang="en-US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096250" y="4883150"/>
            <a:ext cx="381000" cy="3810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IE" altLang="en-US"/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7789863" y="5527675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IE" altLang="en-US"/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7408863" y="5534025"/>
            <a:ext cx="381000" cy="3810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IE" altLang="en-US"/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 flipV="1">
            <a:off x="8696325" y="5057775"/>
            <a:ext cx="371475" cy="9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7246938" y="5943600"/>
            <a:ext cx="10588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zh-CN" sz="1400">
                <a:solidFill>
                  <a:schemeClr val="folHlink"/>
                </a:solidFill>
                <a:latin typeface="Courier New" pitchFamily="49" charset="0"/>
                <a:ea typeface="宋体" pitchFamily="2" charset="-122"/>
              </a:rPr>
              <a:t>newNode</a:t>
            </a:r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 flipV="1">
            <a:off x="8001000" y="5257800"/>
            <a:ext cx="228600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7129463" y="4881563"/>
            <a:ext cx="384175" cy="384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IE" altLang="en-US"/>
          </a:p>
        </p:txBody>
      </p:sp>
      <p:sp>
        <p:nvSpPr>
          <p:cNvPr id="8205" name="Rectangle 13"/>
          <p:cNvSpPr>
            <a:spLocks noChangeArrowheads="1"/>
          </p:cNvSpPr>
          <p:nvPr/>
        </p:nvSpPr>
        <p:spPr bwMode="auto">
          <a:xfrm>
            <a:off x="6748463" y="4883150"/>
            <a:ext cx="381000" cy="381000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IE" altLang="en-US"/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>
            <a:off x="7348538" y="5067300"/>
            <a:ext cx="682625" cy="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>
            <a:off x="7383463" y="5181600"/>
            <a:ext cx="0" cy="3238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6629400" y="4343400"/>
            <a:ext cx="1058863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zh-CN" sz="1400">
                <a:solidFill>
                  <a:schemeClr val="folHlink"/>
                </a:solidFill>
                <a:latin typeface="Courier New" pitchFamily="49" charset="0"/>
                <a:ea typeface="宋体" pitchFamily="2" charset="-122"/>
              </a:rPr>
              <a:t>index’th element</a:t>
            </a:r>
          </a:p>
        </p:txBody>
      </p:sp>
      <p:sp>
        <p:nvSpPr>
          <p:cNvPr id="8209" name="Line 17"/>
          <p:cNvSpPr>
            <a:spLocks noChangeShapeType="1"/>
          </p:cNvSpPr>
          <p:nvPr/>
        </p:nvSpPr>
        <p:spPr bwMode="auto">
          <a:xfrm>
            <a:off x="7772400" y="4953000"/>
            <a:ext cx="76200" cy="228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8210" name="Line 18"/>
          <p:cNvSpPr>
            <a:spLocks noChangeShapeType="1"/>
          </p:cNvSpPr>
          <p:nvPr/>
        </p:nvSpPr>
        <p:spPr bwMode="auto">
          <a:xfrm flipH="1">
            <a:off x="7696200" y="4953000"/>
            <a:ext cx="228600" cy="228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48600" cy="685800"/>
          </a:xfrm>
        </p:spPr>
        <p:txBody>
          <a:bodyPr/>
          <a:lstStyle/>
          <a:p>
            <a:r>
              <a:rPr lang="en-IE" dirty="0"/>
              <a:t>the insert function </a:t>
            </a:r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928826"/>
            <a:ext cx="6553200" cy="5395774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67144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Create node and initialise pointer variable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10</a:t>
            </a:fld>
            <a:endParaRPr lang="en-US" altLang="zh-TW"/>
          </a:p>
        </p:txBody>
      </p:sp>
      <p:pic>
        <p:nvPicPr>
          <p:cNvPr id="7" name="Content Placeholder 6" descr="denis.manley@apollo: ~/OS2/week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61" y="1981200"/>
            <a:ext cx="7973539" cy="2929537"/>
          </a:xfrm>
        </p:spPr>
      </p:pic>
    </p:spTree>
    <p:extLst>
      <p:ext uri="{BB962C8B-B14F-4D97-AF65-F5344CB8AC3E}">
        <p14:creationId xmlns:p14="http://schemas.microsoft.com/office/powerpoint/2010/main" val="2704315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Traversing the list</a:t>
            </a:r>
          </a:p>
        </p:txBody>
      </p:sp>
      <p:pic>
        <p:nvPicPr>
          <p:cNvPr id="5" name="Content Placeholder 4" descr="denis.manley@apollo: ~/OS2/week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42" y="1981200"/>
            <a:ext cx="8423658" cy="189688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84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Insert a beginning of list</a:t>
            </a:r>
          </a:p>
        </p:txBody>
      </p:sp>
      <p:pic>
        <p:nvPicPr>
          <p:cNvPr id="5" name="Content Placeholder 4" descr="denis.manley@apollo: ~/OS2/week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59" y="2438400"/>
            <a:ext cx="8037841" cy="181000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08347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Insert node in other part of list</a:t>
            </a:r>
          </a:p>
        </p:txBody>
      </p:sp>
      <p:pic>
        <p:nvPicPr>
          <p:cNvPr id="5" name="Content Placeholder 4" descr="denis.manley@apollo: ~/OS2/week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209800"/>
            <a:ext cx="7973539" cy="217352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55532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077200" cy="685800"/>
          </a:xfrm>
        </p:spPr>
        <p:txBody>
          <a:bodyPr/>
          <a:lstStyle/>
          <a:p>
            <a:r>
              <a:rPr lang="en-IE" dirty="0"/>
              <a:t>Process Space</a:t>
            </a:r>
          </a:p>
        </p:txBody>
      </p:sp>
      <p:pic>
        <p:nvPicPr>
          <p:cNvPr id="6" name="Content Placeholder 5" descr="03-Process.pdf - Adobe Acrobat Professional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31" y="1219200"/>
            <a:ext cx="7156938" cy="50292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B7F103D-599D-4770-B4B8-436F0A5A460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584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F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48600" cy="762000"/>
          </a:xfrm>
        </p:spPr>
        <p:txBody>
          <a:bodyPr/>
          <a:lstStyle/>
          <a:p>
            <a:r>
              <a:rPr lang="en-IE" dirty="0"/>
              <a:t>Example of inserting </a:t>
            </a:r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066704"/>
            <a:ext cx="7848600" cy="5448396"/>
          </a:xfrm>
          <a:solidFill>
            <a:schemeClr val="bg1"/>
          </a:solidFill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15</a:t>
            </a:fld>
            <a:endParaRPr lang="en-US" altLang="zh-TW"/>
          </a:p>
        </p:txBody>
      </p:sp>
      <p:sp>
        <p:nvSpPr>
          <p:cNvPr id="3" name="TextBox 2"/>
          <p:cNvSpPr txBox="1"/>
          <p:nvPr/>
        </p:nvSpPr>
        <p:spPr>
          <a:xfrm>
            <a:off x="6172200" y="24384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/>
                </a:solidFill>
              </a:rPr>
              <a:t>Node address</a:t>
            </a:r>
          </a:p>
        </p:txBody>
      </p:sp>
      <p:cxnSp>
        <p:nvCxnSpPr>
          <p:cNvPr id="7" name="Straight Arrow Connector 6"/>
          <p:cNvCxnSpPr>
            <a:stCxn id="17" idx="1"/>
          </p:cNvCxnSpPr>
          <p:nvPr/>
        </p:nvCxnSpPr>
        <p:spPr bwMode="auto">
          <a:xfrm flipH="1" flipV="1">
            <a:off x="3352800" y="1447800"/>
            <a:ext cx="2362200" cy="247214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bg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Arrow Connector 8"/>
          <p:cNvCxnSpPr/>
          <p:nvPr/>
        </p:nvCxnSpPr>
        <p:spPr bwMode="auto">
          <a:xfrm flipH="1" flipV="1">
            <a:off x="2209800" y="2667000"/>
            <a:ext cx="3962400" cy="762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bg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6172200" y="322373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/>
                </a:solidFill>
              </a:rPr>
              <a:t>Node contents</a:t>
            </a:r>
          </a:p>
        </p:txBody>
      </p:sp>
      <p:cxnSp>
        <p:nvCxnSpPr>
          <p:cNvPr id="14" name="Straight Arrow Connector 13"/>
          <p:cNvCxnSpPr>
            <a:stCxn id="13" idx="1"/>
          </p:cNvCxnSpPr>
          <p:nvPr/>
        </p:nvCxnSpPr>
        <p:spPr bwMode="auto">
          <a:xfrm flipH="1" flipV="1">
            <a:off x="990600" y="2692655"/>
            <a:ext cx="5181600" cy="715747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bg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5715000" y="151034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/>
                </a:solidFill>
              </a:rPr>
              <a:t>Node “pointer” address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495723-9FCD-A044-A0E4-E8D1F77E5489}"/>
              </a:ext>
            </a:extLst>
          </p:cNvPr>
          <p:cNvSpPr txBox="1"/>
          <p:nvPr/>
        </p:nvSpPr>
        <p:spPr>
          <a:xfrm>
            <a:off x="5410200" y="4291712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highlight>
                  <a:srgbClr val="000066"/>
                </a:highlight>
              </a:rPr>
              <a:t>Contents of variable in walkthrough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942A8A-0AFA-B7CC-F806-46343E28C3AD}"/>
              </a:ext>
            </a:extLst>
          </p:cNvPr>
          <p:cNvCxnSpPr>
            <a:stCxn id="6" idx="1"/>
          </p:cNvCxnSpPr>
          <p:nvPr/>
        </p:nvCxnSpPr>
        <p:spPr bwMode="auto">
          <a:xfrm flipH="1">
            <a:off x="3581400" y="4614878"/>
            <a:ext cx="1828800" cy="535065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124E27C-F384-B16C-FAE9-867482D378C3}"/>
              </a:ext>
            </a:extLst>
          </p:cNvPr>
          <p:cNvCxnSpPr/>
          <p:nvPr/>
        </p:nvCxnSpPr>
        <p:spPr bwMode="auto">
          <a:xfrm>
            <a:off x="5181600" y="5181600"/>
            <a:ext cx="914400" cy="9144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F25CC30-A512-1A9B-2887-0DBC8672A480}"/>
              </a:ext>
            </a:extLst>
          </p:cNvPr>
          <p:cNvCxnSpPr/>
          <p:nvPr/>
        </p:nvCxnSpPr>
        <p:spPr bwMode="auto">
          <a:xfrm flipH="1">
            <a:off x="4503420" y="4541106"/>
            <a:ext cx="1066800" cy="1100122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bg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039307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F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153400" cy="685800"/>
          </a:xfrm>
        </p:spPr>
        <p:txBody>
          <a:bodyPr/>
          <a:lstStyle/>
          <a:p>
            <a:r>
              <a:rPr lang="en-IE" dirty="0">
                <a:solidFill>
                  <a:schemeClr val="bg1"/>
                </a:solidFill>
              </a:rPr>
              <a:t>Exercise 1: insert a node empty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944880"/>
            <a:ext cx="7543800" cy="3017520"/>
          </a:xfrm>
        </p:spPr>
        <p:txBody>
          <a:bodyPr/>
          <a:lstStyle/>
          <a:p>
            <a:r>
              <a:rPr lang="en-IE" sz="2000" b="1" dirty="0">
                <a:solidFill>
                  <a:schemeClr val="bg1"/>
                </a:solidFill>
              </a:rPr>
              <a:t>Using the variable contents and addresses from previous slide: Explain, using illustrate or otherwise:</a:t>
            </a:r>
          </a:p>
          <a:p>
            <a:pPr lvl="1"/>
            <a:r>
              <a:rPr lang="en-IE" sz="1600" b="1" dirty="0">
                <a:solidFill>
                  <a:schemeClr val="bg1"/>
                </a:solidFill>
              </a:rPr>
              <a:t>What is the contents of </a:t>
            </a:r>
            <a:r>
              <a:rPr lang="en-IE" sz="1600" b="1" dirty="0" err="1">
                <a:solidFill>
                  <a:schemeClr val="bg1"/>
                </a:solidFill>
              </a:rPr>
              <a:t>sPtr</a:t>
            </a:r>
            <a:r>
              <a:rPr lang="en-IE" sz="1600" b="1" dirty="0">
                <a:solidFill>
                  <a:schemeClr val="bg1"/>
                </a:solidFill>
              </a:rPr>
              <a:t>?</a:t>
            </a:r>
            <a:endParaRPr lang="en-IE" sz="1600" dirty="0">
              <a:solidFill>
                <a:schemeClr val="bg1"/>
              </a:solidFill>
            </a:endParaRPr>
          </a:p>
          <a:p>
            <a:pPr lvl="1"/>
            <a:endParaRPr lang="en-IE" sz="1600" b="1" dirty="0">
              <a:solidFill>
                <a:schemeClr val="bg1"/>
              </a:solidFill>
            </a:endParaRPr>
          </a:p>
          <a:p>
            <a:pPr lvl="1"/>
            <a:r>
              <a:rPr lang="en-IE" sz="1600" b="1" dirty="0">
                <a:solidFill>
                  <a:schemeClr val="bg1"/>
                </a:solidFill>
              </a:rPr>
              <a:t>What is contents of the variables (</a:t>
            </a:r>
            <a:r>
              <a:rPr lang="en-IE" sz="1600" b="1" dirty="0" err="1">
                <a:solidFill>
                  <a:schemeClr val="bg1"/>
                </a:solidFill>
              </a:rPr>
              <a:t>newPtr</a:t>
            </a:r>
            <a:r>
              <a:rPr lang="en-IE" sz="1600" b="1" dirty="0">
                <a:solidFill>
                  <a:schemeClr val="bg1"/>
                </a:solidFill>
              </a:rPr>
              <a:t>, </a:t>
            </a:r>
            <a:r>
              <a:rPr lang="en-IE" sz="1600" b="1" dirty="0" err="1">
                <a:solidFill>
                  <a:schemeClr val="bg1"/>
                </a:solidFill>
              </a:rPr>
              <a:t>currentPtr</a:t>
            </a:r>
            <a:r>
              <a:rPr lang="en-IE" sz="1600" b="1" dirty="0">
                <a:solidFill>
                  <a:schemeClr val="bg1"/>
                </a:solidFill>
              </a:rPr>
              <a:t> and Previous </a:t>
            </a:r>
            <a:r>
              <a:rPr lang="en-IE" sz="1600" b="1" dirty="0" err="1">
                <a:solidFill>
                  <a:schemeClr val="bg1"/>
                </a:solidFill>
              </a:rPr>
              <a:t>Ptr</a:t>
            </a:r>
            <a:r>
              <a:rPr lang="en-IE" sz="1600" b="1" dirty="0">
                <a:solidFill>
                  <a:schemeClr val="bg1"/>
                </a:solidFill>
              </a:rPr>
              <a:t>) before inserting the new node? </a:t>
            </a:r>
          </a:p>
          <a:p>
            <a:pPr lvl="1"/>
            <a:endParaRPr lang="en-IE" sz="1600" b="1" dirty="0">
              <a:solidFill>
                <a:schemeClr val="bg1"/>
              </a:solidFill>
            </a:endParaRPr>
          </a:p>
          <a:p>
            <a:pPr lvl="1"/>
            <a:r>
              <a:rPr lang="en-IE" sz="1600" b="1" dirty="0">
                <a:solidFill>
                  <a:schemeClr val="bg1"/>
                </a:solidFill>
              </a:rPr>
              <a:t>What is contents of the variables after inserting the new node D (it is an ordered link list. 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70157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4A90E44D-4A2F-4E44-8F4A-BCA93D177EA1}" type="slidenum">
              <a:rPr lang="zh-TW" altLang="en-US"/>
              <a:pPr/>
              <a:t>17</a:t>
            </a:fld>
            <a:endParaRPr lang="en-US" altLang="zh-TW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762000"/>
          </a:xfr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  <a:ea typeface="宋体" pitchFamily="2" charset="-122"/>
              </a:rPr>
              <a:t>Deleting a node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848600" cy="4572000"/>
          </a:xfrm>
        </p:spPr>
        <p:txBody>
          <a:bodyPr/>
          <a:lstStyle/>
          <a:p>
            <a:r>
              <a:rPr lang="en-US" altLang="zh-CN" sz="2000" dirty="0">
                <a:solidFill>
                  <a:schemeClr val="bg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char </a:t>
            </a:r>
            <a:r>
              <a:rPr lang="en-US" altLang="zh-CN" sz="2000" dirty="0" err="1">
                <a:solidFill>
                  <a:schemeClr val="bg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DeleteNode</a:t>
            </a:r>
            <a:r>
              <a:rPr lang="en-US" altLang="zh-CN" sz="2000" dirty="0">
                <a:solidFill>
                  <a:schemeClr val="bg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en-US" sz="2000" dirty="0" err="1">
                <a:solidFill>
                  <a:schemeClr val="bg2"/>
                </a:solidFill>
              </a:rPr>
              <a:t>ListNode</a:t>
            </a:r>
            <a:r>
              <a:rPr lang="en-US" altLang="en-US" sz="2000" dirty="0">
                <a:solidFill>
                  <a:schemeClr val="bg2"/>
                </a:solidFill>
              </a:rPr>
              <a:t>  * *</a:t>
            </a:r>
            <a:r>
              <a:rPr lang="en-US" altLang="en-US" sz="2000" dirty="0" err="1">
                <a:solidFill>
                  <a:schemeClr val="bg2"/>
                </a:solidFill>
              </a:rPr>
              <a:t>sPtr</a:t>
            </a:r>
            <a:r>
              <a:rPr lang="en-US" altLang="en-US" sz="2000" dirty="0">
                <a:solidFill>
                  <a:schemeClr val="bg2"/>
                </a:solidFill>
              </a:rPr>
              <a:t>, </a:t>
            </a:r>
            <a:r>
              <a:rPr lang="en-US" altLang="en-US" sz="2000" dirty="0">
                <a:solidFill>
                  <a:schemeClr val="bg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char</a:t>
            </a:r>
            <a:r>
              <a:rPr lang="en-US" altLang="zh-CN" sz="2000" dirty="0">
                <a:solidFill>
                  <a:schemeClr val="bg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x)</a:t>
            </a:r>
          </a:p>
          <a:p>
            <a:pPr lvl="1"/>
            <a:r>
              <a:rPr lang="en-US" altLang="zh-CN" sz="2000" dirty="0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Delete a node with the value equal to </a:t>
            </a:r>
            <a:r>
              <a:rPr lang="en-US" altLang="zh-CN" sz="2000" dirty="0">
                <a:solidFill>
                  <a:schemeClr val="bg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x</a:t>
            </a:r>
            <a:r>
              <a:rPr lang="en-US" altLang="zh-CN" sz="2000" dirty="0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 from the list.</a:t>
            </a:r>
          </a:p>
          <a:p>
            <a:pPr lvl="1"/>
            <a:r>
              <a:rPr lang="en-US" altLang="zh-CN" sz="2000" dirty="0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If such a node is found, return its value. Otherwise, return ‘\0’ (Null character).</a:t>
            </a:r>
          </a:p>
          <a:p>
            <a:r>
              <a:rPr lang="en-US" altLang="zh-CN" sz="2400" dirty="0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Steps</a:t>
            </a:r>
          </a:p>
          <a:p>
            <a:pPr lvl="1"/>
            <a:r>
              <a:rPr lang="en-US" altLang="zh-CN" sz="2000" dirty="0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Find the desirable node (similar to </a:t>
            </a:r>
            <a:r>
              <a:rPr lang="en-US" altLang="zh-CN" sz="2000" dirty="0">
                <a:solidFill>
                  <a:schemeClr val="bg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insert </a:t>
            </a:r>
            <a:r>
              <a:rPr lang="en-US" altLang="zh-CN" sz="2000" dirty="0" err="1">
                <a:solidFill>
                  <a:schemeClr val="bg2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fnt</a:t>
            </a:r>
            <a:r>
              <a:rPr lang="en-US" altLang="zh-CN" sz="2000" dirty="0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)</a:t>
            </a:r>
          </a:p>
          <a:p>
            <a:pPr lvl="1"/>
            <a:r>
              <a:rPr lang="en-US" altLang="zh-CN" sz="2000" dirty="0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Set the pointer of the predecessor (</a:t>
            </a:r>
            <a:r>
              <a:rPr lang="en-US" altLang="zh-CN" sz="2000" dirty="0" err="1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previousPtr</a:t>
            </a:r>
            <a:r>
              <a:rPr lang="en-US" altLang="zh-CN" sz="2000" dirty="0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) of the </a:t>
            </a:r>
            <a:r>
              <a:rPr lang="en-US" altLang="zh-CN" sz="2000" i="1" dirty="0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delete</a:t>
            </a:r>
            <a:r>
              <a:rPr lang="en-US" altLang="zh-CN" sz="2000" dirty="0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 node (</a:t>
            </a:r>
            <a:r>
              <a:rPr lang="en-US" altLang="zh-CN" sz="2000" dirty="0" err="1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currentPtr</a:t>
            </a:r>
            <a:r>
              <a:rPr lang="en-US" altLang="zh-CN" sz="2000" dirty="0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) to the successor of the found node</a:t>
            </a:r>
          </a:p>
          <a:p>
            <a:pPr lvl="1"/>
            <a:r>
              <a:rPr lang="en-US" altLang="zh-CN" sz="2000" dirty="0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Release the memory occupied by the </a:t>
            </a:r>
            <a:r>
              <a:rPr lang="en-US" altLang="zh-CN" sz="2000" i="1" dirty="0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delete</a:t>
            </a:r>
            <a:r>
              <a:rPr lang="en-US" altLang="zh-CN" sz="2000" dirty="0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 node</a:t>
            </a:r>
          </a:p>
          <a:p>
            <a:r>
              <a:rPr lang="en-US" altLang="zh-CN" sz="2400" dirty="0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There are two cases of deletion</a:t>
            </a:r>
          </a:p>
          <a:p>
            <a:pPr lvl="1"/>
            <a:r>
              <a:rPr lang="en-US" altLang="zh-CN" sz="2000" dirty="0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Delete first node</a:t>
            </a:r>
          </a:p>
          <a:p>
            <a:pPr lvl="1"/>
            <a:r>
              <a:rPr lang="en-US" altLang="zh-CN" sz="2000" dirty="0">
                <a:solidFill>
                  <a:schemeClr val="bg2"/>
                </a:solidFill>
                <a:ea typeface="宋体" pitchFamily="2" charset="-122"/>
                <a:cs typeface="Courier New" pitchFamily="49" charset="0"/>
              </a:rPr>
              <a:t>Delete the node in middle or at the end of the list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48600" cy="685800"/>
          </a:xfrm>
        </p:spPr>
        <p:txBody>
          <a:bodyPr/>
          <a:lstStyle/>
          <a:p>
            <a:r>
              <a:rPr lang="en-IE" dirty="0"/>
              <a:t>Delete a node: call function 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88" y="1524000"/>
            <a:ext cx="7076985" cy="4038600"/>
          </a:xfrm>
        </p:spPr>
      </p:pic>
      <p:sp>
        <p:nvSpPr>
          <p:cNvPr id="163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56FDC2E-DCDC-4775-A899-E12AA45A5E17}" type="slidenum">
              <a:rPr lang="zh-TW" altLang="en-US"/>
              <a:pPr/>
              <a:t>18</a:t>
            </a:fld>
            <a:endParaRPr lang="en-US" altLang="zh-TW"/>
          </a:p>
        </p:txBody>
      </p:sp>
      <p:cxnSp>
        <p:nvCxnSpPr>
          <p:cNvPr id="6" name="Straight Arrow Connector 5"/>
          <p:cNvCxnSpPr/>
          <p:nvPr/>
        </p:nvCxnSpPr>
        <p:spPr bwMode="auto">
          <a:xfrm flipH="1">
            <a:off x="4800600" y="762000"/>
            <a:ext cx="1219200" cy="251460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140505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48600" cy="685800"/>
          </a:xfrm>
        </p:spPr>
        <p:txBody>
          <a:bodyPr/>
          <a:lstStyle/>
          <a:p>
            <a:r>
              <a:rPr lang="en-IE" dirty="0"/>
              <a:t>Delete function 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43000"/>
            <a:ext cx="7848600" cy="4953000"/>
          </a:xfrm>
        </p:spPr>
        <p:txBody>
          <a:bodyPr/>
          <a:lstStyle/>
          <a:p>
            <a:r>
              <a:rPr lang="en-US" altLang="en-US" sz="1600" dirty="0">
                <a:solidFill>
                  <a:schemeClr val="bg2"/>
                </a:solidFill>
              </a:rPr>
              <a:t>     </a:t>
            </a:r>
          </a:p>
        </p:txBody>
      </p:sp>
      <p:sp>
        <p:nvSpPr>
          <p:cNvPr id="133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4DE16259-65D3-4226-AD4B-0FE47480208C}" type="slidenum">
              <a:rPr lang="zh-TW" altLang="en-US"/>
              <a:pPr/>
              <a:t>19</a:t>
            </a:fld>
            <a:endParaRPr lang="en-US" altLang="zh-TW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091494"/>
            <a:ext cx="6705600" cy="547722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48600" cy="685800"/>
          </a:xfrm>
        </p:spPr>
        <p:txBody>
          <a:bodyPr/>
          <a:lstStyle/>
          <a:p>
            <a:r>
              <a:rPr lang="en-IE" dirty="0"/>
              <a:t>Sample output add 4 nodes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20</a:t>
            </a:fld>
            <a:endParaRPr lang="en-US" altLang="zh-TW"/>
          </a:p>
        </p:txBody>
      </p:sp>
      <p:pic>
        <p:nvPicPr>
          <p:cNvPr id="6" name="Content Placeholder 5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959" y="914400"/>
            <a:ext cx="6761881" cy="5486400"/>
          </a:xfrm>
        </p:spPr>
      </p:pic>
    </p:spTree>
    <p:extLst>
      <p:ext uri="{BB962C8B-B14F-4D97-AF65-F5344CB8AC3E}">
        <p14:creationId xmlns:p14="http://schemas.microsoft.com/office/powerpoint/2010/main" val="1256791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48600" cy="762000"/>
          </a:xfrm>
        </p:spPr>
        <p:txBody>
          <a:bodyPr/>
          <a:lstStyle/>
          <a:p>
            <a:r>
              <a:rPr lang="en-IE" dirty="0"/>
              <a:t>Sample output delete 3 nodes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21</a:t>
            </a:fld>
            <a:endParaRPr lang="en-US" altLang="zh-TW"/>
          </a:p>
        </p:txBody>
      </p:sp>
      <p:pic>
        <p:nvPicPr>
          <p:cNvPr id="7" name="Content Placeholder 6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53" y="1295399"/>
            <a:ext cx="8047147" cy="5247835"/>
          </a:xfrm>
        </p:spPr>
      </p:pic>
    </p:spTree>
    <p:extLst>
      <p:ext uri="{BB962C8B-B14F-4D97-AF65-F5344CB8AC3E}">
        <p14:creationId xmlns:p14="http://schemas.microsoft.com/office/powerpoint/2010/main" val="3190574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153400" cy="685800"/>
          </a:xfrm>
        </p:spPr>
        <p:txBody>
          <a:bodyPr/>
          <a:lstStyle/>
          <a:p>
            <a:r>
              <a:rPr lang="en-IE" dirty="0">
                <a:solidFill>
                  <a:schemeClr val="bg1"/>
                </a:solidFill>
              </a:rPr>
              <a:t>Exercise 2: delete nodes from a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944880"/>
            <a:ext cx="7543800" cy="3017520"/>
          </a:xfrm>
        </p:spPr>
        <p:txBody>
          <a:bodyPr/>
          <a:lstStyle/>
          <a:p>
            <a:r>
              <a:rPr lang="en-IE" sz="2000" b="1" dirty="0">
                <a:solidFill>
                  <a:schemeClr val="bg1"/>
                </a:solidFill>
              </a:rPr>
              <a:t>Using the variable contents and addresses from previous slide to Explain using illustrations or otherwise:</a:t>
            </a:r>
          </a:p>
          <a:p>
            <a:pPr lvl="1"/>
            <a:r>
              <a:rPr lang="en-IE" sz="1600" b="1" dirty="0">
                <a:solidFill>
                  <a:schemeClr val="bg1"/>
                </a:solidFill>
              </a:rPr>
              <a:t>What is the value (not the address) of </a:t>
            </a:r>
            <a:r>
              <a:rPr lang="en-IE" sz="1600" b="1" dirty="0" err="1">
                <a:solidFill>
                  <a:schemeClr val="bg1"/>
                </a:solidFill>
              </a:rPr>
              <a:t>sPtr</a:t>
            </a:r>
            <a:r>
              <a:rPr lang="en-IE" sz="1600" b="1" dirty="0">
                <a:solidFill>
                  <a:schemeClr val="bg1"/>
                </a:solidFill>
              </a:rPr>
              <a:t>?</a:t>
            </a:r>
            <a:endParaRPr lang="en-IE" sz="1600" dirty="0">
              <a:solidFill>
                <a:schemeClr val="bg1"/>
              </a:solidFill>
            </a:endParaRPr>
          </a:p>
          <a:p>
            <a:pPr lvl="1"/>
            <a:endParaRPr lang="en-IE" sz="1600" b="1" dirty="0">
              <a:solidFill>
                <a:schemeClr val="bg1"/>
              </a:solidFill>
            </a:endParaRPr>
          </a:p>
          <a:p>
            <a:pPr lvl="1"/>
            <a:r>
              <a:rPr lang="en-IE" sz="1600" b="1" dirty="0">
                <a:solidFill>
                  <a:schemeClr val="bg1"/>
                </a:solidFill>
              </a:rPr>
              <a:t>What is contents of the variables (</a:t>
            </a:r>
            <a:r>
              <a:rPr lang="en-IE" sz="1600" b="1" dirty="0" err="1">
                <a:solidFill>
                  <a:schemeClr val="bg1"/>
                </a:solidFill>
              </a:rPr>
              <a:t>newPtr</a:t>
            </a:r>
            <a:r>
              <a:rPr lang="en-IE" sz="1600" b="1" dirty="0">
                <a:solidFill>
                  <a:schemeClr val="bg1"/>
                </a:solidFill>
              </a:rPr>
              <a:t>, </a:t>
            </a:r>
            <a:r>
              <a:rPr lang="en-IE" sz="1600" b="1" dirty="0" err="1">
                <a:solidFill>
                  <a:schemeClr val="bg1"/>
                </a:solidFill>
              </a:rPr>
              <a:t>currentPtr</a:t>
            </a:r>
            <a:r>
              <a:rPr lang="en-IE" sz="1600" b="1" dirty="0">
                <a:solidFill>
                  <a:schemeClr val="bg1"/>
                </a:solidFill>
              </a:rPr>
              <a:t> and Previous </a:t>
            </a:r>
            <a:r>
              <a:rPr lang="en-IE" sz="1600" b="1" dirty="0" err="1">
                <a:solidFill>
                  <a:schemeClr val="bg1"/>
                </a:solidFill>
              </a:rPr>
              <a:t>Ptr</a:t>
            </a:r>
            <a:r>
              <a:rPr lang="en-IE" sz="1600" b="1" dirty="0">
                <a:solidFill>
                  <a:schemeClr val="bg1"/>
                </a:solidFill>
              </a:rPr>
              <a:t>) before inserting the new node? </a:t>
            </a:r>
          </a:p>
          <a:p>
            <a:pPr lvl="1"/>
            <a:endParaRPr lang="en-IE" sz="1600" b="1" dirty="0">
              <a:solidFill>
                <a:schemeClr val="bg1"/>
              </a:solidFill>
            </a:endParaRPr>
          </a:p>
          <a:p>
            <a:pPr lvl="1"/>
            <a:r>
              <a:rPr lang="en-IE" sz="1600" b="1" dirty="0">
                <a:solidFill>
                  <a:schemeClr val="bg1"/>
                </a:solidFill>
              </a:rPr>
              <a:t>What is contents of the variable after deleting a node from the list (Assume the ordered list contains 4 nodes…  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22</a:t>
            </a:fld>
            <a:endParaRPr lang="en-US" altLang="zh-TW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4CD68E-13CF-6B25-318C-63221E6FFC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23020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48600" cy="533400"/>
          </a:xfrm>
        </p:spPr>
        <p:txBody>
          <a:bodyPr/>
          <a:lstStyle/>
          <a:p>
            <a:r>
              <a:rPr lang="en-IE" dirty="0">
                <a:solidFill>
                  <a:schemeClr val="bg1"/>
                </a:solidFill>
              </a:rPr>
              <a:t>Print Function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09600"/>
            <a:ext cx="7848600" cy="5486400"/>
          </a:xfrm>
          <a:solidFill>
            <a:schemeClr val="accent1">
              <a:alpha val="28000"/>
            </a:schemeClr>
          </a:solidFill>
        </p:spPr>
        <p:txBody>
          <a:bodyPr/>
          <a:lstStyle/>
          <a:p>
            <a:r>
              <a:rPr lang="en-IE" dirty="0">
                <a:solidFill>
                  <a:schemeClr val="bg1"/>
                </a:solidFill>
              </a:rPr>
              <a:t>Call the print function (</a:t>
            </a:r>
            <a:r>
              <a:rPr lang="en-IE" sz="2000" dirty="0">
                <a:solidFill>
                  <a:schemeClr val="bg1"/>
                </a:solidFill>
              </a:rPr>
              <a:t>use a pointer to a node </a:t>
            </a:r>
            <a:r>
              <a:rPr lang="en-IE" sz="2000" dirty="0" err="1">
                <a:solidFill>
                  <a:schemeClr val="bg1"/>
                </a:solidFill>
              </a:rPr>
              <a:t>node</a:t>
            </a:r>
            <a:r>
              <a:rPr lang="en-IE" sz="2000" dirty="0">
                <a:solidFill>
                  <a:schemeClr val="bg1"/>
                </a:solidFill>
              </a:rPr>
              <a:t> address of pointer to a node</a:t>
            </a:r>
            <a:r>
              <a:rPr lang="en-IE" dirty="0">
                <a:solidFill>
                  <a:schemeClr val="bg1"/>
                </a:solidFill>
              </a:rPr>
              <a:t>):</a:t>
            </a:r>
          </a:p>
          <a:p>
            <a:endParaRPr lang="en-IE" dirty="0">
              <a:solidFill>
                <a:schemeClr val="bg1"/>
              </a:solidFill>
            </a:endParaRPr>
          </a:p>
          <a:p>
            <a:r>
              <a:rPr lang="en-IE" dirty="0">
                <a:solidFill>
                  <a:schemeClr val="bg1"/>
                </a:solidFill>
              </a:rPr>
              <a:t>Print function definition</a:t>
            </a:r>
          </a:p>
          <a:p>
            <a:endParaRPr lang="en-IE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23</a:t>
            </a:fld>
            <a:endParaRPr lang="en-US" altLang="zh-TW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607196"/>
            <a:ext cx="4162099" cy="457200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038" y="2948317"/>
            <a:ext cx="4875562" cy="352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99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153400" cy="685800"/>
          </a:xfrm>
        </p:spPr>
        <p:txBody>
          <a:bodyPr/>
          <a:lstStyle/>
          <a:p>
            <a:r>
              <a:rPr lang="en-IE" dirty="0">
                <a:solidFill>
                  <a:schemeClr val="bg1"/>
                </a:solidFill>
              </a:rPr>
              <a:t>Exercise 3: print nodes in a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944880"/>
            <a:ext cx="7543800" cy="2712720"/>
          </a:xfrm>
        </p:spPr>
        <p:txBody>
          <a:bodyPr/>
          <a:lstStyle/>
          <a:p>
            <a:r>
              <a:rPr lang="en-IE" sz="2000" b="1" dirty="0">
                <a:solidFill>
                  <a:schemeClr val="bg1"/>
                </a:solidFill>
              </a:rPr>
              <a:t>Using the variable contents and addresses Explain using illustrations or otherwise to illustrate:</a:t>
            </a:r>
          </a:p>
          <a:p>
            <a:pPr lvl="1"/>
            <a:endParaRPr lang="en-IE" sz="1600" b="1" dirty="0">
              <a:solidFill>
                <a:schemeClr val="bg1"/>
              </a:solidFill>
            </a:endParaRPr>
          </a:p>
          <a:p>
            <a:pPr lvl="1"/>
            <a:r>
              <a:rPr lang="en-IE" sz="1600" b="1" dirty="0">
                <a:solidFill>
                  <a:schemeClr val="bg1"/>
                </a:solidFill>
              </a:rPr>
              <a:t>What is the initial value (not the address) of </a:t>
            </a:r>
            <a:r>
              <a:rPr lang="en-IE" sz="1600" b="1" dirty="0" err="1">
                <a:solidFill>
                  <a:schemeClr val="bg1"/>
                </a:solidFill>
              </a:rPr>
              <a:t>currentPtr</a:t>
            </a:r>
            <a:r>
              <a:rPr lang="en-IE" sz="1600" b="1" dirty="0">
                <a:solidFill>
                  <a:schemeClr val="bg1"/>
                </a:solidFill>
              </a:rPr>
              <a:t>?</a:t>
            </a:r>
            <a:endParaRPr lang="en-IE" sz="1600" dirty="0">
              <a:solidFill>
                <a:schemeClr val="bg1"/>
              </a:solidFill>
            </a:endParaRPr>
          </a:p>
          <a:p>
            <a:pPr lvl="1"/>
            <a:endParaRPr lang="en-IE" sz="1600" b="1" dirty="0">
              <a:solidFill>
                <a:schemeClr val="bg1"/>
              </a:solidFill>
            </a:endParaRPr>
          </a:p>
          <a:p>
            <a:pPr lvl="1"/>
            <a:r>
              <a:rPr lang="en-IE" sz="1600" b="1" dirty="0">
                <a:solidFill>
                  <a:schemeClr val="bg1"/>
                </a:solidFill>
              </a:rPr>
              <a:t>What is contents of the field (</a:t>
            </a:r>
            <a:r>
              <a:rPr lang="en-IE" sz="1600" b="1" dirty="0" err="1">
                <a:solidFill>
                  <a:schemeClr val="bg1"/>
                </a:solidFill>
              </a:rPr>
              <a:t>currentPtr</a:t>
            </a:r>
            <a:r>
              <a:rPr lang="en-IE" sz="1600" b="1" dirty="0">
                <a:solidFill>
                  <a:schemeClr val="bg1"/>
                </a:solidFill>
              </a:rPr>
              <a:t>-&gt;</a:t>
            </a:r>
            <a:r>
              <a:rPr lang="en-IE" sz="1600" b="1" dirty="0" err="1">
                <a:solidFill>
                  <a:schemeClr val="bg1"/>
                </a:solidFill>
              </a:rPr>
              <a:t>nextPtr</a:t>
            </a:r>
            <a:r>
              <a:rPr lang="en-IE" sz="1600" b="1" dirty="0">
                <a:solidFill>
                  <a:schemeClr val="bg1"/>
                </a:solidFill>
              </a:rPr>
              <a:t>)? </a:t>
            </a:r>
          </a:p>
          <a:p>
            <a:pPr lvl="1"/>
            <a:endParaRPr lang="en-IE" sz="1600" b="1" dirty="0">
              <a:solidFill>
                <a:schemeClr val="bg1"/>
              </a:solidFill>
            </a:endParaRPr>
          </a:p>
          <a:p>
            <a:pPr lvl="1"/>
            <a:r>
              <a:rPr lang="en-IE" sz="1600" b="1" dirty="0">
                <a:solidFill>
                  <a:schemeClr val="bg1"/>
                </a:solidFill>
              </a:rPr>
              <a:t>What is contents of these variables after printing the first node (One iteration of the While loop)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24</a:t>
            </a:fld>
            <a:endParaRPr lang="en-US" altLang="zh-TW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D72B1AD3-BCDA-2748-77A7-E74496BE41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962400"/>
            <a:ext cx="6729984" cy="457200"/>
          </a:xfr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7E9997-3999-6E72-628D-E3347D4D28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34" y="5103074"/>
            <a:ext cx="7155332" cy="36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322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7848600" cy="4495800"/>
          </a:xfrm>
        </p:spPr>
        <p:txBody>
          <a:bodyPr/>
          <a:lstStyle/>
          <a:p>
            <a:r>
              <a:rPr lang="en-IE" dirty="0"/>
              <a:t>Write a function that will change the data contents of a node:</a:t>
            </a:r>
          </a:p>
          <a:p>
            <a:pPr lvl="1"/>
            <a:r>
              <a:rPr lang="en-IE" dirty="0"/>
              <a:t>Prompt the user for the ID</a:t>
            </a:r>
          </a:p>
          <a:p>
            <a:pPr lvl="1"/>
            <a:r>
              <a:rPr lang="en-IE" dirty="0"/>
              <a:t>Pass to a function to find a node</a:t>
            </a:r>
          </a:p>
          <a:p>
            <a:pPr lvl="1"/>
            <a:r>
              <a:rPr lang="en-IE" dirty="0"/>
              <a:t>If found change contents.  Print the list with the edited node</a:t>
            </a:r>
          </a:p>
          <a:p>
            <a:pPr lvl="1"/>
            <a:r>
              <a:rPr lang="en-IE" dirty="0"/>
              <a:t>If not found return an appropriate message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25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14273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F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48600" cy="609600"/>
          </a:xfrm>
        </p:spPr>
        <p:txBody>
          <a:bodyPr/>
          <a:lstStyle/>
          <a:p>
            <a:r>
              <a:rPr lang="en-IE" dirty="0">
                <a:solidFill>
                  <a:schemeClr val="bg1"/>
                </a:solidFill>
              </a:rPr>
              <a:t>Sample Exam Question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0"/>
            <a:ext cx="7848600" cy="4953000"/>
          </a:xfrm>
        </p:spPr>
        <p:txBody>
          <a:bodyPr/>
          <a:lstStyle/>
          <a:p>
            <a:r>
              <a:rPr lang="en-IE" dirty="0">
                <a:solidFill>
                  <a:schemeClr val="bg1"/>
                </a:solidFill>
              </a:rPr>
              <a:t>Why is a link list a more efficient way of utilisation of memory than arrays </a:t>
            </a:r>
            <a:r>
              <a:rPr lang="en-IE" b="1" dirty="0">
                <a:solidFill>
                  <a:schemeClr val="bg1"/>
                </a:solidFill>
              </a:rPr>
              <a:t>(3 marks)</a:t>
            </a:r>
          </a:p>
          <a:p>
            <a:endParaRPr lang="en-IE" dirty="0">
              <a:solidFill>
                <a:schemeClr val="bg1"/>
              </a:solidFill>
            </a:endParaRPr>
          </a:p>
          <a:p>
            <a:r>
              <a:rPr lang="en-IE" dirty="0">
                <a:solidFill>
                  <a:schemeClr val="bg1"/>
                </a:solidFill>
              </a:rPr>
              <a:t>Explain, using a simple example, how the add/delete functions , in a link list program, use pointers to keep tract of any changes made to the pointer to the beginning of the list (Head) 	 			</a:t>
            </a:r>
            <a:r>
              <a:rPr lang="en-IE" b="1" dirty="0">
                <a:solidFill>
                  <a:schemeClr val="bg1"/>
                </a:solidFill>
              </a:rPr>
              <a:t>(5 marks)</a:t>
            </a:r>
          </a:p>
          <a:p>
            <a:endParaRPr lang="en-IE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26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041034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F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48600" cy="838200"/>
          </a:xfrm>
        </p:spPr>
        <p:txBody>
          <a:bodyPr/>
          <a:lstStyle/>
          <a:p>
            <a:r>
              <a:rPr lang="en-IE" dirty="0">
                <a:solidFill>
                  <a:schemeClr val="bg1"/>
                </a:solidFill>
              </a:rPr>
              <a:t>Sample Question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>
                <a:solidFill>
                  <a:schemeClr val="bg1"/>
                </a:solidFill>
              </a:rPr>
              <a:t>Clearly explain, using suitable examples, the steps required to:</a:t>
            </a:r>
          </a:p>
          <a:p>
            <a:pPr lvl="1"/>
            <a:r>
              <a:rPr lang="en-IE" dirty="0">
                <a:solidFill>
                  <a:schemeClr val="bg1"/>
                </a:solidFill>
              </a:rPr>
              <a:t>Add a node into an ordered link list: at the start at the middle and at the end 		</a:t>
            </a:r>
            <a:r>
              <a:rPr lang="en-IE" b="1" dirty="0">
                <a:solidFill>
                  <a:schemeClr val="bg1"/>
                </a:solidFill>
              </a:rPr>
              <a:t>(10 marks)</a:t>
            </a:r>
          </a:p>
          <a:p>
            <a:pPr lvl="1"/>
            <a:endParaRPr lang="en-IE" dirty="0">
              <a:solidFill>
                <a:schemeClr val="bg1"/>
              </a:solidFill>
            </a:endParaRPr>
          </a:p>
          <a:p>
            <a:pPr lvl="1"/>
            <a:r>
              <a:rPr lang="en-IE" dirty="0">
                <a:solidFill>
                  <a:schemeClr val="bg1"/>
                </a:solidFill>
              </a:rPr>
              <a:t>Delete a node from an ordered link list, the start, middle and end of a link list   	</a:t>
            </a:r>
            <a:r>
              <a:rPr lang="en-IE" b="1" dirty="0">
                <a:solidFill>
                  <a:schemeClr val="bg1"/>
                </a:solidFill>
              </a:rPr>
              <a:t>(10 marks)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27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16612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F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610600" cy="457200"/>
          </a:xfrm>
        </p:spPr>
        <p:txBody>
          <a:bodyPr/>
          <a:lstStyle/>
          <a:p>
            <a:r>
              <a:rPr lang="en-IE" sz="2000" dirty="0">
                <a:solidFill>
                  <a:schemeClr val="bg1"/>
                </a:solidFill>
              </a:rPr>
              <a:t>Clearly explain if the following code will </a:t>
            </a:r>
            <a:r>
              <a:rPr lang="en-IE" sz="2000" b="1" dirty="0">
                <a:solidFill>
                  <a:schemeClr val="bg1"/>
                </a:solidFill>
              </a:rPr>
              <a:t>delete</a:t>
            </a:r>
            <a:r>
              <a:rPr lang="en-IE" sz="2000" dirty="0">
                <a:solidFill>
                  <a:schemeClr val="bg1"/>
                </a:solidFill>
              </a:rPr>
              <a:t> a node from a link list (10 marks)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28</a:t>
            </a:fld>
            <a:endParaRPr lang="en-US" altLang="zh-TW"/>
          </a:p>
        </p:txBody>
      </p:sp>
      <p:pic>
        <p:nvPicPr>
          <p:cNvPr id="6" name="Content Placeholder 5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19200"/>
            <a:ext cx="7848600" cy="5143751"/>
          </a:xfrm>
        </p:spPr>
      </p:pic>
    </p:spTree>
    <p:extLst>
      <p:ext uri="{BB962C8B-B14F-4D97-AF65-F5344CB8AC3E}">
        <p14:creationId xmlns:p14="http://schemas.microsoft.com/office/powerpoint/2010/main" val="18032813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610600" cy="457200"/>
          </a:xfrm>
        </p:spPr>
        <p:txBody>
          <a:bodyPr/>
          <a:lstStyle/>
          <a:p>
            <a:r>
              <a:rPr lang="en-IE" sz="2000" dirty="0">
                <a:solidFill>
                  <a:schemeClr val="bg1"/>
                </a:solidFill>
              </a:rPr>
              <a:t>Clearly explain if the following code will </a:t>
            </a:r>
            <a:r>
              <a:rPr lang="en-IE" sz="2000" b="1" dirty="0">
                <a:solidFill>
                  <a:schemeClr val="bg1"/>
                </a:solidFill>
              </a:rPr>
              <a:t>delete</a:t>
            </a:r>
            <a:r>
              <a:rPr lang="en-IE" sz="2000" dirty="0">
                <a:solidFill>
                  <a:schemeClr val="bg1"/>
                </a:solidFill>
              </a:rPr>
              <a:t> a node from a link list (10 marks)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29</a:t>
            </a:fld>
            <a:endParaRPr lang="en-US" altLang="zh-TW"/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086" y="1104685"/>
            <a:ext cx="7629107" cy="5219915"/>
          </a:xfrm>
        </p:spPr>
      </p:pic>
    </p:spTree>
    <p:extLst>
      <p:ext uri="{BB962C8B-B14F-4D97-AF65-F5344CB8AC3E}">
        <p14:creationId xmlns:p14="http://schemas.microsoft.com/office/powerpoint/2010/main" val="18262959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F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610600" cy="457200"/>
          </a:xfrm>
        </p:spPr>
        <p:txBody>
          <a:bodyPr/>
          <a:lstStyle/>
          <a:p>
            <a:r>
              <a:rPr lang="en-IE" sz="2000" dirty="0">
                <a:solidFill>
                  <a:schemeClr val="bg1"/>
                </a:solidFill>
              </a:rPr>
              <a:t>Clearly explain if the following code will </a:t>
            </a:r>
            <a:r>
              <a:rPr lang="en-IE" sz="2000" b="1" dirty="0">
                <a:solidFill>
                  <a:schemeClr val="bg1"/>
                </a:solidFill>
              </a:rPr>
              <a:t>insert</a:t>
            </a:r>
            <a:r>
              <a:rPr lang="en-IE" sz="2000" dirty="0">
                <a:solidFill>
                  <a:schemeClr val="bg1"/>
                </a:solidFill>
              </a:rPr>
              <a:t> a node onto a link list (10 marks)</a:t>
            </a:r>
            <a:br>
              <a:rPr lang="en-IE" sz="2000" dirty="0">
                <a:solidFill>
                  <a:schemeClr val="bg1"/>
                </a:solidFill>
              </a:rPr>
            </a:br>
            <a:r>
              <a:rPr lang="en-IE" sz="2000" dirty="0">
                <a:solidFill>
                  <a:schemeClr val="bg1"/>
                </a:solidFill>
              </a:rPr>
              <a:t>note the comments will be removed in the exam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30</a:t>
            </a:fld>
            <a:endParaRPr lang="en-US" altLang="zh-TW"/>
          </a:p>
        </p:txBody>
      </p:sp>
      <p:pic>
        <p:nvPicPr>
          <p:cNvPr id="6" name="Content Placeholder 5" descr="denis.manley@apollo: ~/OS2/week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570" y="1143000"/>
            <a:ext cx="6429375" cy="5257800"/>
          </a:xfrm>
        </p:spPr>
      </p:pic>
    </p:spTree>
    <p:extLst>
      <p:ext uri="{BB962C8B-B14F-4D97-AF65-F5344CB8AC3E}">
        <p14:creationId xmlns:p14="http://schemas.microsoft.com/office/powerpoint/2010/main" val="9632600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F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610600" cy="457200"/>
          </a:xfrm>
        </p:spPr>
        <p:txBody>
          <a:bodyPr/>
          <a:lstStyle/>
          <a:p>
            <a:r>
              <a:rPr lang="en-IE" sz="2000" dirty="0">
                <a:solidFill>
                  <a:schemeClr val="bg1"/>
                </a:solidFill>
              </a:rPr>
              <a:t>Clearly explain if the following code will </a:t>
            </a:r>
            <a:r>
              <a:rPr lang="en-IE" sz="2000" b="1" dirty="0">
                <a:solidFill>
                  <a:schemeClr val="bg1"/>
                </a:solidFill>
              </a:rPr>
              <a:t>insert</a:t>
            </a:r>
            <a:r>
              <a:rPr lang="en-IE" sz="2000" dirty="0">
                <a:solidFill>
                  <a:schemeClr val="bg1"/>
                </a:solidFill>
              </a:rPr>
              <a:t> a node onto a link list (10 marks)</a:t>
            </a:r>
            <a:br>
              <a:rPr lang="en-IE" sz="2000" dirty="0">
                <a:solidFill>
                  <a:schemeClr val="bg1"/>
                </a:solidFill>
              </a:rPr>
            </a:br>
            <a:r>
              <a:rPr lang="en-IE" sz="2000" dirty="0">
                <a:solidFill>
                  <a:schemeClr val="bg1"/>
                </a:solidFill>
              </a:rPr>
              <a:t>note the comments will be removed in the exam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3E46E-91CF-4666-B63D-E9A859EB4C3A}" type="slidenum">
              <a:rPr lang="zh-TW" altLang="en-US" smtClean="0"/>
              <a:pPr>
                <a:defRPr/>
              </a:pPr>
              <a:t>31</a:t>
            </a:fld>
            <a:endParaRPr lang="en-US" altLang="zh-TW"/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13401"/>
            <a:ext cx="7848600" cy="4897998"/>
          </a:xfrm>
        </p:spPr>
      </p:pic>
    </p:spTree>
    <p:extLst>
      <p:ext uri="{BB962C8B-B14F-4D97-AF65-F5344CB8AC3E}">
        <p14:creationId xmlns:p14="http://schemas.microsoft.com/office/powerpoint/2010/main" val="317610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a53bff39-c2c0-4824-ae73-a290d7d08b32"/>
</p:tagLst>
</file>

<file path=ppt/theme/theme1.xml><?xml version="1.0" encoding="utf-8"?>
<a:theme xmlns:a="http://schemas.openxmlformats.org/drawingml/2006/main" name="Double Lines">
  <a:themeElements>
    <a:clrScheme name="">
      <a:dk1>
        <a:srgbClr val="000000"/>
      </a:dk1>
      <a:lt1>
        <a:srgbClr val="FFFFFF"/>
      </a:lt1>
      <a:dk2>
        <a:srgbClr val="660066"/>
      </a:dk2>
      <a:lt2>
        <a:srgbClr val="00CCCC"/>
      </a:lt2>
      <a:accent1>
        <a:srgbClr val="D60093"/>
      </a:accent1>
      <a:accent2>
        <a:srgbClr val="FFFF66"/>
      </a:accent2>
      <a:accent3>
        <a:srgbClr val="B8AAB8"/>
      </a:accent3>
      <a:accent4>
        <a:srgbClr val="DADADA"/>
      </a:accent4>
      <a:accent5>
        <a:srgbClr val="E8AAC8"/>
      </a:accent5>
      <a:accent6>
        <a:srgbClr val="E7E75C"/>
      </a:accent6>
      <a:hlink>
        <a:srgbClr val="FF9933"/>
      </a:hlink>
      <a:folHlink>
        <a:srgbClr val="FFCCFF"/>
      </a:folHlink>
    </a:clrScheme>
    <a:fontScheme name="Double Line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0" cap="flat" cmpd="sng" algn="ctr">
          <a:solidFill>
            <a:schemeClr val="tx1"/>
          </a:solidFill>
          <a:prstDash val="solid"/>
          <a:round/>
          <a:headEnd type="none" w="sm" len="sm"/>
          <a:tailEnd type="triangl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0" cap="flat" cmpd="sng" algn="ctr">
          <a:solidFill>
            <a:schemeClr val="tx1"/>
          </a:solidFill>
          <a:prstDash val="solid"/>
          <a:round/>
          <a:headEnd type="none" w="sm" len="sm"/>
          <a:tailEnd type="triangl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ouble Lines 1">
        <a:dk1>
          <a:srgbClr val="000000"/>
        </a:dk1>
        <a:lt1>
          <a:srgbClr val="FFFFFF"/>
        </a:lt1>
        <a:dk2>
          <a:srgbClr val="990066"/>
        </a:dk2>
        <a:lt2>
          <a:srgbClr val="00CCCC"/>
        </a:lt2>
        <a:accent1>
          <a:srgbClr val="D60093"/>
        </a:accent1>
        <a:accent2>
          <a:srgbClr val="FFFF66"/>
        </a:accent2>
        <a:accent3>
          <a:srgbClr val="CAAAB8"/>
        </a:accent3>
        <a:accent4>
          <a:srgbClr val="DADADA"/>
        </a:accent4>
        <a:accent5>
          <a:srgbClr val="E8AAC8"/>
        </a:accent5>
        <a:accent6>
          <a:srgbClr val="E7E75C"/>
        </a:accent6>
        <a:hlink>
          <a:srgbClr val="FF9933"/>
        </a:hlink>
        <a:folHlink>
          <a:srgbClr val="FF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ouble Lines 2">
        <a:dk1>
          <a:srgbClr val="000000"/>
        </a:dk1>
        <a:lt1>
          <a:srgbClr val="FFFFCC"/>
        </a:lt1>
        <a:dk2>
          <a:srgbClr val="996600"/>
        </a:dk2>
        <a:lt2>
          <a:srgbClr val="FFFFCC"/>
        </a:lt2>
        <a:accent1>
          <a:srgbClr val="FFCC00"/>
        </a:accent1>
        <a:accent2>
          <a:srgbClr val="6666FF"/>
        </a:accent2>
        <a:accent3>
          <a:srgbClr val="FFFFE2"/>
        </a:accent3>
        <a:accent4>
          <a:srgbClr val="000000"/>
        </a:accent4>
        <a:accent5>
          <a:srgbClr val="FFE2AA"/>
        </a:accent5>
        <a:accent6>
          <a:srgbClr val="5C5CE7"/>
        </a:accent6>
        <a:hlink>
          <a:srgbClr val="999933"/>
        </a:hlink>
        <a:folHlink>
          <a:srgbClr val="99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uble Lines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878787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66317cb-e948-4e5f-8cec-dabc8e2fd5da}" enabled="0" method="" siteId="{766317cb-e948-4e5f-8cec-dabc8e2fd5d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3961</TotalTime>
  <Words>1176</Words>
  <Application>Microsoft Office PowerPoint</Application>
  <PresentationFormat>On-screen Show (4:3)</PresentationFormat>
  <Paragraphs>154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宋体</vt:lpstr>
      <vt:lpstr>Arial</vt:lpstr>
      <vt:lpstr>Courier New</vt:lpstr>
      <vt:lpstr>Monotype Sorts</vt:lpstr>
      <vt:lpstr>Times New Roman</vt:lpstr>
      <vt:lpstr>Wingdings</vt:lpstr>
      <vt:lpstr>Double Lines</vt:lpstr>
      <vt:lpstr>Linked Lists: A dynamic data structure</vt:lpstr>
      <vt:lpstr>Array versus Linked Lists</vt:lpstr>
      <vt:lpstr>List Overview</vt:lpstr>
      <vt:lpstr>Operations on Linked List</vt:lpstr>
      <vt:lpstr>The listNode structure </vt:lpstr>
      <vt:lpstr>Main function (insert node) </vt:lpstr>
      <vt:lpstr>Inserting a new node</vt:lpstr>
      <vt:lpstr>Inserting a new node</vt:lpstr>
      <vt:lpstr>the insert function </vt:lpstr>
      <vt:lpstr>Create node and initialise pointer variable</vt:lpstr>
      <vt:lpstr>Traversing the list</vt:lpstr>
      <vt:lpstr>Insert a beginning of list</vt:lpstr>
      <vt:lpstr>Insert node in other part of list</vt:lpstr>
      <vt:lpstr>Process Space</vt:lpstr>
      <vt:lpstr>Example of inserting </vt:lpstr>
      <vt:lpstr>Exercise 1: insert a node empty list</vt:lpstr>
      <vt:lpstr>Deleting a node</vt:lpstr>
      <vt:lpstr>Delete a node: call function </vt:lpstr>
      <vt:lpstr>Delete function </vt:lpstr>
      <vt:lpstr>Sample output add 4 nodes</vt:lpstr>
      <vt:lpstr>Sample output delete 3 nodes</vt:lpstr>
      <vt:lpstr>Exercise 2: delete nodes from a list</vt:lpstr>
      <vt:lpstr>Print Function </vt:lpstr>
      <vt:lpstr>Exercise 3: print nodes in a list</vt:lpstr>
      <vt:lpstr>homework</vt:lpstr>
      <vt:lpstr>Sample Exam Question </vt:lpstr>
      <vt:lpstr>Sample Question </vt:lpstr>
      <vt:lpstr>Clearly explain if the following code will delete a node from a link list (10 marks)  </vt:lpstr>
      <vt:lpstr>Clearly explain if the following code will delete a node from a link list (10 marks)  </vt:lpstr>
      <vt:lpstr>Clearly explain if the following code will insert a node onto a link list (10 marks) note the comments will be removed in the exam </vt:lpstr>
      <vt:lpstr>Clearly explain if the following code will insert a node onto a link list (10 marks) note the comments will be removed in the exam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</dc:title>
  <dc:creator>fuhb</dc:creator>
  <cp:lastModifiedBy>Denis Manley</cp:lastModifiedBy>
  <cp:revision>190</cp:revision>
  <dcterms:created xsi:type="dcterms:W3CDTF">2005-09-02T05:46:43Z</dcterms:created>
  <dcterms:modified xsi:type="dcterms:W3CDTF">2025-10-10T14:55:09Z</dcterms:modified>
</cp:coreProperties>
</file>