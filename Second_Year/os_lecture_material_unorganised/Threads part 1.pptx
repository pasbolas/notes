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46"/>
  </p:notesMasterIdLst>
  <p:sldIdLst>
    <p:sldId id="256" r:id="rId5"/>
    <p:sldId id="257" r:id="rId6"/>
    <p:sldId id="258" r:id="rId7"/>
    <p:sldId id="264" r:id="rId8"/>
    <p:sldId id="305" r:id="rId9"/>
    <p:sldId id="347" r:id="rId10"/>
    <p:sldId id="306" r:id="rId11"/>
    <p:sldId id="343" r:id="rId12"/>
    <p:sldId id="266" r:id="rId13"/>
    <p:sldId id="334" r:id="rId14"/>
    <p:sldId id="268" r:id="rId15"/>
    <p:sldId id="308" r:id="rId16"/>
    <p:sldId id="309" r:id="rId17"/>
    <p:sldId id="310" r:id="rId18"/>
    <p:sldId id="311" r:id="rId19"/>
    <p:sldId id="277" r:id="rId20"/>
    <p:sldId id="293" r:id="rId21"/>
    <p:sldId id="338" r:id="rId22"/>
    <p:sldId id="294" r:id="rId23"/>
    <p:sldId id="336" r:id="rId24"/>
    <p:sldId id="340" r:id="rId25"/>
    <p:sldId id="345" r:id="rId26"/>
    <p:sldId id="344" r:id="rId27"/>
    <p:sldId id="341" r:id="rId28"/>
    <p:sldId id="351" r:id="rId29"/>
    <p:sldId id="352" r:id="rId30"/>
    <p:sldId id="348" r:id="rId31"/>
    <p:sldId id="335" r:id="rId32"/>
    <p:sldId id="322" r:id="rId33"/>
    <p:sldId id="339" r:id="rId34"/>
    <p:sldId id="297" r:id="rId35"/>
    <p:sldId id="346" r:id="rId36"/>
    <p:sldId id="323" r:id="rId37"/>
    <p:sldId id="349" r:id="rId38"/>
    <p:sldId id="303" r:id="rId39"/>
    <p:sldId id="324" r:id="rId40"/>
    <p:sldId id="337" r:id="rId41"/>
    <p:sldId id="312" r:id="rId42"/>
    <p:sldId id="328" r:id="rId43"/>
    <p:sldId id="333" r:id="rId44"/>
    <p:sldId id="327" r:id="rId45"/>
  </p:sldIdLst>
  <p:sldSz cx="9144000" cy="6858000" type="screen4x3"/>
  <p:notesSz cx="6797675" cy="9928225"/>
  <p:custDataLst>
    <p:tags r:id="rId47"/>
  </p:custDataLst>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150" d="100"/>
          <a:sy n="150" d="100"/>
        </p:scale>
        <p:origin x="474" y="-103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tags" Target="tags/tag1.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nis Manley" userId="445117d2-14a5-4c3e-af19-f1006b049bb1" providerId="ADAL" clId="{8CC12A5C-FC9C-4E0E-8855-445E9824A927}"/>
    <pc:docChg chg="addSld delSld modSld">
      <pc:chgData name="Denis Manley" userId="445117d2-14a5-4c3e-af19-f1006b049bb1" providerId="ADAL" clId="{8CC12A5C-FC9C-4E0E-8855-445E9824A927}" dt="2025-11-11T11:22:47.120" v="7"/>
      <pc:docMkLst>
        <pc:docMk/>
      </pc:docMkLst>
      <pc:sldChg chg="add">
        <pc:chgData name="Denis Manley" userId="445117d2-14a5-4c3e-af19-f1006b049bb1" providerId="ADAL" clId="{8CC12A5C-FC9C-4E0E-8855-445E9824A927}" dt="2025-11-11T11:19:45.327" v="1"/>
        <pc:sldMkLst>
          <pc:docMk/>
          <pc:sldMk cId="32280438" sldId="348"/>
        </pc:sldMkLst>
      </pc:sldChg>
      <pc:sldChg chg="del">
        <pc:chgData name="Denis Manley" userId="445117d2-14a5-4c3e-af19-f1006b049bb1" providerId="ADAL" clId="{8CC12A5C-FC9C-4E0E-8855-445E9824A927}" dt="2025-11-11T11:19:34.826" v="0" actId="2696"/>
        <pc:sldMkLst>
          <pc:docMk/>
          <pc:sldMk cId="3136360224" sldId="348"/>
        </pc:sldMkLst>
      </pc:sldChg>
      <pc:sldChg chg="add del">
        <pc:chgData name="Denis Manley" userId="445117d2-14a5-4c3e-af19-f1006b049bb1" providerId="ADAL" clId="{8CC12A5C-FC9C-4E0E-8855-445E9824A927}" dt="2025-11-11T11:20:39.957" v="4" actId="47"/>
        <pc:sldMkLst>
          <pc:docMk/>
          <pc:sldMk cId="85964444" sldId="350"/>
        </pc:sldMkLst>
      </pc:sldChg>
      <pc:sldChg chg="del">
        <pc:chgData name="Denis Manley" userId="445117d2-14a5-4c3e-af19-f1006b049bb1" providerId="ADAL" clId="{8CC12A5C-FC9C-4E0E-8855-445E9824A927}" dt="2025-11-11T11:19:34.826" v="0" actId="2696"/>
        <pc:sldMkLst>
          <pc:docMk/>
          <pc:sldMk cId="4225269124" sldId="350"/>
        </pc:sldMkLst>
      </pc:sldChg>
      <pc:sldChg chg="add">
        <pc:chgData name="Denis Manley" userId="445117d2-14a5-4c3e-af19-f1006b049bb1" providerId="ADAL" clId="{8CC12A5C-FC9C-4E0E-8855-445E9824A927}" dt="2025-11-11T11:22:47.120" v="7"/>
        <pc:sldMkLst>
          <pc:docMk/>
          <pc:sldMk cId="769826664" sldId="351"/>
        </pc:sldMkLst>
      </pc:sldChg>
      <pc:sldChg chg="del">
        <pc:chgData name="Denis Manley" userId="445117d2-14a5-4c3e-af19-f1006b049bb1" providerId="ADAL" clId="{8CC12A5C-FC9C-4E0E-8855-445E9824A927}" dt="2025-11-11T11:22:34.912" v="6" actId="2696"/>
        <pc:sldMkLst>
          <pc:docMk/>
          <pc:sldMk cId="4096343991" sldId="351"/>
        </pc:sldMkLst>
      </pc:sldChg>
      <pc:sldChg chg="del">
        <pc:chgData name="Denis Manley" userId="445117d2-14a5-4c3e-af19-f1006b049bb1" providerId="ADAL" clId="{8CC12A5C-FC9C-4E0E-8855-445E9824A927}" dt="2025-11-11T11:20:09.454" v="2" actId="2696"/>
        <pc:sldMkLst>
          <pc:docMk/>
          <pc:sldMk cId="2430143559" sldId="352"/>
        </pc:sldMkLst>
      </pc:sldChg>
      <pc:sldChg chg="add">
        <pc:chgData name="Denis Manley" userId="445117d2-14a5-4c3e-af19-f1006b049bb1" providerId="ADAL" clId="{8CC12A5C-FC9C-4E0E-8855-445E9824A927}" dt="2025-11-11T11:20:26.061" v="3"/>
        <pc:sldMkLst>
          <pc:docMk/>
          <pc:sldMk cId="3720809651" sldId="352"/>
        </pc:sldMkLst>
      </pc:sldChg>
      <pc:sldChg chg="del">
        <pc:chgData name="Denis Manley" userId="445117d2-14a5-4c3e-af19-f1006b049bb1" providerId="ADAL" clId="{8CC12A5C-FC9C-4E0E-8855-445E9824A927}" dt="2025-11-11T11:21:46.999" v="5" actId="2696"/>
        <pc:sldMkLst>
          <pc:docMk/>
          <pc:sldMk cId="1000436017" sldId="3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6400" cy="496888"/>
          </a:xfrm>
          <a:prstGeom prst="rect">
            <a:avLst/>
          </a:prstGeom>
        </p:spPr>
        <p:txBody>
          <a:bodyPr vert="horz" lIns="91440" tIns="45720" rIns="91440" bIns="45720" rtlCol="0"/>
          <a:lstStyle>
            <a:lvl1pPr algn="l" eaLnBrk="1" hangingPunct="1">
              <a:defRPr sz="1200">
                <a:latin typeface="Arial" pitchFamily="34" charset="0"/>
              </a:defRPr>
            </a:lvl1pPr>
          </a:lstStyle>
          <a:p>
            <a:pPr>
              <a:defRPr/>
            </a:pPr>
            <a:endParaRPr lang="en-IE"/>
          </a:p>
        </p:txBody>
      </p:sp>
      <p:sp>
        <p:nvSpPr>
          <p:cNvPr id="3" name="Date Placeholder 2"/>
          <p:cNvSpPr>
            <a:spLocks noGrp="1"/>
          </p:cNvSpPr>
          <p:nvPr>
            <p:ph type="dt" idx="1"/>
          </p:nvPr>
        </p:nvSpPr>
        <p:spPr>
          <a:xfrm>
            <a:off x="3849688" y="0"/>
            <a:ext cx="2946400" cy="496888"/>
          </a:xfrm>
          <a:prstGeom prst="rect">
            <a:avLst/>
          </a:prstGeom>
        </p:spPr>
        <p:txBody>
          <a:bodyPr vert="horz" lIns="91440" tIns="45720" rIns="91440" bIns="45720" rtlCol="0"/>
          <a:lstStyle>
            <a:lvl1pPr algn="r" eaLnBrk="1" hangingPunct="1">
              <a:defRPr sz="1200">
                <a:latin typeface="Arial" pitchFamily="34" charset="0"/>
              </a:defRPr>
            </a:lvl1pPr>
          </a:lstStyle>
          <a:p>
            <a:pPr>
              <a:defRPr/>
            </a:pPr>
            <a:fld id="{45791723-E499-4DEB-8801-E7ECA6628C5B}" type="datetimeFigureOut">
              <a:rPr lang="en-IE"/>
              <a:pPr>
                <a:defRPr/>
              </a:pPr>
              <a:t>11/11/2025</a:t>
            </a:fld>
            <a:endParaRPr lang="en-IE"/>
          </a:p>
        </p:txBody>
      </p:sp>
      <p:sp>
        <p:nvSpPr>
          <p:cNvPr id="4" name="Slide Image Placeholder 3"/>
          <p:cNvSpPr>
            <a:spLocks noGrp="1" noRot="1" noChangeAspect="1"/>
          </p:cNvSpPr>
          <p:nvPr>
            <p:ph type="sldImg" idx="2"/>
          </p:nvPr>
        </p:nvSpPr>
        <p:spPr>
          <a:xfrm>
            <a:off x="917575" y="744538"/>
            <a:ext cx="4962525" cy="3722687"/>
          </a:xfrm>
          <a:prstGeom prst="rect">
            <a:avLst/>
          </a:prstGeom>
          <a:noFill/>
          <a:ln w="12700">
            <a:solidFill>
              <a:prstClr val="black"/>
            </a:solidFill>
          </a:ln>
        </p:spPr>
        <p:txBody>
          <a:bodyPr vert="horz" lIns="91440" tIns="45720" rIns="91440" bIns="45720" rtlCol="0" anchor="ctr"/>
          <a:lstStyle/>
          <a:p>
            <a:pPr lvl="0"/>
            <a:endParaRPr lang="en-IE" noProof="0"/>
          </a:p>
        </p:txBody>
      </p:sp>
      <p:sp>
        <p:nvSpPr>
          <p:cNvPr id="5" name="Notes Placeholder 4"/>
          <p:cNvSpPr>
            <a:spLocks noGrp="1"/>
          </p:cNvSpPr>
          <p:nvPr>
            <p:ph type="body" sz="quarter" idx="3"/>
          </p:nvPr>
        </p:nvSpPr>
        <p:spPr>
          <a:xfrm>
            <a:off x="679450" y="4716463"/>
            <a:ext cx="5438775" cy="4467225"/>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E" noProof="0"/>
          </a:p>
        </p:txBody>
      </p:sp>
      <p:sp>
        <p:nvSpPr>
          <p:cNvPr id="6" name="Footer Placeholder 5"/>
          <p:cNvSpPr>
            <a:spLocks noGrp="1"/>
          </p:cNvSpPr>
          <p:nvPr>
            <p:ph type="ftr" sz="quarter" idx="4"/>
          </p:nvPr>
        </p:nvSpPr>
        <p:spPr>
          <a:xfrm>
            <a:off x="0" y="9429750"/>
            <a:ext cx="2946400" cy="496888"/>
          </a:xfrm>
          <a:prstGeom prst="rect">
            <a:avLst/>
          </a:prstGeom>
        </p:spPr>
        <p:txBody>
          <a:bodyPr vert="horz" lIns="91440" tIns="45720" rIns="91440" bIns="45720" rtlCol="0" anchor="b"/>
          <a:lstStyle>
            <a:lvl1pPr algn="l" eaLnBrk="1" hangingPunct="1">
              <a:defRPr sz="1200">
                <a:latin typeface="Arial" pitchFamily="34" charset="0"/>
              </a:defRPr>
            </a:lvl1pPr>
          </a:lstStyle>
          <a:p>
            <a:pPr>
              <a:defRPr/>
            </a:pPr>
            <a:endParaRPr lang="en-IE"/>
          </a:p>
        </p:txBody>
      </p:sp>
      <p:sp>
        <p:nvSpPr>
          <p:cNvPr id="7" name="Slide Number Placeholder 6"/>
          <p:cNvSpPr>
            <a:spLocks noGrp="1"/>
          </p:cNvSpPr>
          <p:nvPr>
            <p:ph type="sldNum" sz="quarter" idx="5"/>
          </p:nvPr>
        </p:nvSpPr>
        <p:spPr>
          <a:xfrm>
            <a:off x="3849688" y="9429750"/>
            <a:ext cx="2946400" cy="496888"/>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3CB03C7C-3D8E-4389-B401-D1A62B8EC77A}" type="slidenum">
              <a:rPr lang="en-IE" altLang="en-US"/>
              <a:pPr>
                <a:defRPr/>
              </a:pPr>
              <a:t>‹#›</a:t>
            </a:fld>
            <a:endParaRPr lang="en-IE"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53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536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B38F993-FBBD-4B73-AB0A-4F897B1EB895}" type="slidenum">
              <a:rPr lang="en-US" altLang="en-US" smtClean="0">
                <a:latin typeface="Arial" panose="020B0604020202020204" pitchFamily="34" charset="0"/>
              </a:rPr>
              <a:pPr>
                <a:spcBef>
                  <a:spcPct val="0"/>
                </a:spcBef>
              </a:pPr>
              <a:t>10</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843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1843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18FDDF71-2797-49A7-8EC0-9FC35210FEF3}" type="slidenum">
              <a:rPr lang="en-US" altLang="en-US" smtClean="0">
                <a:latin typeface="Arial" panose="020B0604020202020204" pitchFamily="34" charset="0"/>
              </a:rPr>
              <a:pPr>
                <a:spcBef>
                  <a:spcPct val="0"/>
                </a:spcBef>
              </a:pPr>
              <a:t>12</a:t>
            </a:fld>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DC919E52-24B7-44A2-92CA-8E5C1D4FA831}" type="slidenum">
              <a:rPr lang="en-US" altLang="en-US" smtClean="0">
                <a:latin typeface="Arial" panose="020B0604020202020204" pitchFamily="34" charset="0"/>
              </a:rPr>
              <a:pPr>
                <a:spcBef>
                  <a:spcPct val="0"/>
                </a:spcBef>
              </a:pPr>
              <a:t>13</a:t>
            </a:fld>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879711E9-D1FA-4284-BA64-327F04511540}" type="slidenum">
              <a:rPr lang="en-US" altLang="en-US" smtClean="0">
                <a:latin typeface="Arial" panose="020B0604020202020204" pitchFamily="34" charset="0"/>
              </a:rPr>
              <a:pPr>
                <a:spcBef>
                  <a:spcPct val="0"/>
                </a:spcBef>
              </a:pPr>
              <a:t>14</a:t>
            </a:fld>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9A05D6C4-C67B-4F28-BCF4-491A9C9D5600}" type="slidenum">
              <a:rPr lang="en-US" altLang="en-US" smtClean="0">
                <a:latin typeface="Arial" panose="020B0604020202020204" pitchFamily="34" charset="0"/>
              </a:rPr>
              <a:pPr>
                <a:spcBef>
                  <a:spcPct val="0"/>
                </a:spcBef>
              </a:pPr>
              <a:t>15</a:t>
            </a:fld>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endParaRPr lang="en-IE" altLang="en-US"/>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anose="020F0502020204030204" pitchFamily="34" charset="0"/>
              </a:defRPr>
            </a:lvl1pPr>
            <a:lvl2pPr marL="742950" indent="-285750">
              <a:spcBef>
                <a:spcPct val="30000"/>
              </a:spcBef>
              <a:defRPr sz="1200">
                <a:solidFill>
                  <a:schemeClr val="tx1"/>
                </a:solidFill>
                <a:latin typeface="Calibri" panose="020F0502020204030204" pitchFamily="34" charset="0"/>
              </a:defRPr>
            </a:lvl2pPr>
            <a:lvl3pPr marL="1143000" indent="-228600">
              <a:spcBef>
                <a:spcPct val="30000"/>
              </a:spcBef>
              <a:defRPr sz="1200">
                <a:solidFill>
                  <a:schemeClr val="tx1"/>
                </a:solidFill>
                <a:latin typeface="Calibri" panose="020F0502020204030204" pitchFamily="34" charset="0"/>
              </a:defRPr>
            </a:lvl3pPr>
            <a:lvl4pPr marL="1600200" indent="-228600">
              <a:spcBef>
                <a:spcPct val="30000"/>
              </a:spcBef>
              <a:defRPr sz="1200">
                <a:solidFill>
                  <a:schemeClr val="tx1"/>
                </a:solidFill>
                <a:latin typeface="Calibri" panose="020F0502020204030204" pitchFamily="34" charset="0"/>
              </a:defRPr>
            </a:lvl4pPr>
            <a:lvl5pPr marL="2057400" indent="-228600">
              <a:spcBef>
                <a:spcPct val="30000"/>
              </a:spcBef>
              <a:defRPr sz="1200">
                <a:solidFill>
                  <a:schemeClr val="tx1"/>
                </a:solidFill>
                <a:latin typeface="Calibri" panose="020F0502020204030204" pitchFamily="34" charset="0"/>
              </a:defRPr>
            </a:lvl5pPr>
            <a:lvl6pPr marL="2514600" indent="-228600" eaLnBrk="0" fontAlgn="base" hangingPunct="0">
              <a:spcBef>
                <a:spcPct val="30000"/>
              </a:spcBef>
              <a:spcAft>
                <a:spcPct val="0"/>
              </a:spcAft>
              <a:defRPr sz="1200">
                <a:solidFill>
                  <a:schemeClr val="tx1"/>
                </a:solidFill>
                <a:latin typeface="Calibri" panose="020F0502020204030204" pitchFamily="34" charset="0"/>
              </a:defRPr>
            </a:lvl6pPr>
            <a:lvl7pPr marL="2971800" indent="-228600" eaLnBrk="0" fontAlgn="base" hangingPunct="0">
              <a:spcBef>
                <a:spcPct val="30000"/>
              </a:spcBef>
              <a:spcAft>
                <a:spcPct val="0"/>
              </a:spcAft>
              <a:defRPr sz="1200">
                <a:solidFill>
                  <a:schemeClr val="tx1"/>
                </a:solidFill>
                <a:latin typeface="Calibri" panose="020F0502020204030204" pitchFamily="34" charset="0"/>
              </a:defRPr>
            </a:lvl7pPr>
            <a:lvl8pPr marL="3429000" indent="-228600" eaLnBrk="0" fontAlgn="base" hangingPunct="0">
              <a:spcBef>
                <a:spcPct val="30000"/>
              </a:spcBef>
              <a:spcAft>
                <a:spcPct val="0"/>
              </a:spcAft>
              <a:defRPr sz="1200">
                <a:solidFill>
                  <a:schemeClr val="tx1"/>
                </a:solidFill>
                <a:latin typeface="Calibri" panose="020F0502020204030204" pitchFamily="34" charset="0"/>
              </a:defRPr>
            </a:lvl8pPr>
            <a:lvl9pPr marL="3886200" indent="-228600" eaLnBrk="0" fontAlgn="base" hangingPunct="0">
              <a:spcBef>
                <a:spcPct val="30000"/>
              </a:spcBef>
              <a:spcAft>
                <a:spcPct val="0"/>
              </a:spcAft>
              <a:defRPr sz="1200">
                <a:solidFill>
                  <a:schemeClr val="tx1"/>
                </a:solidFill>
                <a:latin typeface="Calibri" panose="020F0502020204030204" pitchFamily="34" charset="0"/>
              </a:defRPr>
            </a:lvl9pPr>
          </a:lstStyle>
          <a:p>
            <a:pPr>
              <a:spcBef>
                <a:spcPct val="0"/>
              </a:spcBef>
            </a:pPr>
            <a:fld id="{6C7A7B33-EAC5-4E76-97CF-0720EADBA1E2}" type="slidenum">
              <a:rPr lang="en-IE" altLang="en-US" smtClean="0">
                <a:latin typeface="Arial" panose="020B0604020202020204" pitchFamily="34" charset="0"/>
              </a:rPr>
              <a:pPr>
                <a:spcBef>
                  <a:spcPct val="0"/>
                </a:spcBef>
              </a:pPr>
              <a:t>41</a:t>
            </a:fld>
            <a:endParaRPr lang="en-IE" altLang="en-US">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E"/>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8767E53-7E2E-4870-B54D-7742C8D0701C}" type="slidenum">
              <a:rPr lang="en-US" altLang="en-US"/>
              <a:pPr>
                <a:defRPr/>
              </a:pPr>
              <a:t>‹#›</a:t>
            </a:fld>
            <a:endParaRPr lang="en-US" altLang="en-US"/>
          </a:p>
        </p:txBody>
      </p:sp>
    </p:spTree>
    <p:extLst>
      <p:ext uri="{BB962C8B-B14F-4D97-AF65-F5344CB8AC3E}">
        <p14:creationId xmlns:p14="http://schemas.microsoft.com/office/powerpoint/2010/main" val="24649048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B72DC129-3DA7-4BD9-B07F-D852723F3F5B}" type="slidenum">
              <a:rPr lang="en-US" altLang="en-US"/>
              <a:pPr>
                <a:defRPr/>
              </a:pPr>
              <a:t>‹#›</a:t>
            </a:fld>
            <a:endParaRPr lang="en-US" altLang="en-US"/>
          </a:p>
        </p:txBody>
      </p:sp>
    </p:spTree>
    <p:extLst>
      <p:ext uri="{BB962C8B-B14F-4D97-AF65-F5344CB8AC3E}">
        <p14:creationId xmlns:p14="http://schemas.microsoft.com/office/powerpoint/2010/main" val="108198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E"/>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268A060E-27E3-432B-9651-63693BE17041}" type="slidenum">
              <a:rPr lang="en-US" altLang="en-US"/>
              <a:pPr>
                <a:defRPr/>
              </a:pPr>
              <a:t>‹#›</a:t>
            </a:fld>
            <a:endParaRPr lang="en-US" altLang="en-US"/>
          </a:p>
        </p:txBody>
      </p:sp>
    </p:spTree>
    <p:extLst>
      <p:ext uri="{BB962C8B-B14F-4D97-AF65-F5344CB8AC3E}">
        <p14:creationId xmlns:p14="http://schemas.microsoft.com/office/powerpoint/2010/main" val="39407347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22BEE711-D5D7-4CCA-89B7-5448A7DC94DA}" type="slidenum">
              <a:rPr lang="en-US" altLang="en-US"/>
              <a:pPr>
                <a:defRPr/>
              </a:pPr>
              <a:t>‹#›</a:t>
            </a:fld>
            <a:endParaRPr lang="en-US" altLang="en-US"/>
          </a:p>
        </p:txBody>
      </p:sp>
    </p:spTree>
    <p:extLst>
      <p:ext uri="{BB962C8B-B14F-4D97-AF65-F5344CB8AC3E}">
        <p14:creationId xmlns:p14="http://schemas.microsoft.com/office/powerpoint/2010/main" val="1967236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9" name="Rectangle 6"/>
          <p:cNvSpPr>
            <a:spLocks noGrp="1" noChangeArrowheads="1"/>
          </p:cNvSpPr>
          <p:nvPr>
            <p:ph type="sldNum" sz="quarter" idx="12"/>
          </p:nvPr>
        </p:nvSpPr>
        <p:spPr>
          <a:ln/>
        </p:spPr>
        <p:txBody>
          <a:bodyPr/>
          <a:lstStyle>
            <a:lvl1pPr>
              <a:defRPr/>
            </a:lvl1pPr>
          </a:lstStyle>
          <a:p>
            <a:pPr>
              <a:defRPr/>
            </a:pPr>
            <a:fld id="{E7DB8ABC-4010-4E00-BDD6-E8BD81D5A0A3}" type="slidenum">
              <a:rPr lang="en-US" altLang="en-US"/>
              <a:pPr>
                <a:defRPr/>
              </a:pPr>
              <a:t>‹#›</a:t>
            </a:fld>
            <a:endParaRPr lang="en-US" altLang="en-US"/>
          </a:p>
        </p:txBody>
      </p:sp>
    </p:spTree>
    <p:extLst>
      <p:ext uri="{BB962C8B-B14F-4D97-AF65-F5344CB8AC3E}">
        <p14:creationId xmlns:p14="http://schemas.microsoft.com/office/powerpoint/2010/main" val="24064979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5" name="Rectangle 6"/>
          <p:cNvSpPr>
            <a:spLocks noGrp="1" noChangeArrowheads="1"/>
          </p:cNvSpPr>
          <p:nvPr>
            <p:ph type="sldNum" sz="quarter" idx="12"/>
          </p:nvPr>
        </p:nvSpPr>
        <p:spPr>
          <a:ln/>
        </p:spPr>
        <p:txBody>
          <a:bodyPr/>
          <a:lstStyle>
            <a:lvl1pPr>
              <a:defRPr/>
            </a:lvl1pPr>
          </a:lstStyle>
          <a:p>
            <a:pPr>
              <a:defRPr/>
            </a:pPr>
            <a:fld id="{488B2B44-9405-4535-BA41-1205F2978A7C}" type="slidenum">
              <a:rPr lang="en-US" altLang="en-US"/>
              <a:pPr>
                <a:defRPr/>
              </a:pPr>
              <a:t>‹#›</a:t>
            </a:fld>
            <a:endParaRPr lang="en-US" altLang="en-US"/>
          </a:p>
        </p:txBody>
      </p:sp>
    </p:spTree>
    <p:extLst>
      <p:ext uri="{BB962C8B-B14F-4D97-AF65-F5344CB8AC3E}">
        <p14:creationId xmlns:p14="http://schemas.microsoft.com/office/powerpoint/2010/main" val="940528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4" name="Rectangle 6"/>
          <p:cNvSpPr>
            <a:spLocks noGrp="1" noChangeArrowheads="1"/>
          </p:cNvSpPr>
          <p:nvPr>
            <p:ph type="sldNum" sz="quarter" idx="12"/>
          </p:nvPr>
        </p:nvSpPr>
        <p:spPr>
          <a:ln/>
        </p:spPr>
        <p:txBody>
          <a:bodyPr/>
          <a:lstStyle>
            <a:lvl1pPr>
              <a:defRPr/>
            </a:lvl1pPr>
          </a:lstStyle>
          <a:p>
            <a:pPr>
              <a:defRPr/>
            </a:pPr>
            <a:fld id="{9DC8EBA0-9A07-48D6-964A-BD4519395F2F}" type="slidenum">
              <a:rPr lang="en-US" altLang="en-US"/>
              <a:pPr>
                <a:defRPr/>
              </a:pPr>
              <a:t>‹#›</a:t>
            </a:fld>
            <a:endParaRPr lang="en-US" altLang="en-US"/>
          </a:p>
        </p:txBody>
      </p:sp>
    </p:spTree>
    <p:extLst>
      <p:ext uri="{BB962C8B-B14F-4D97-AF65-F5344CB8AC3E}">
        <p14:creationId xmlns:p14="http://schemas.microsoft.com/office/powerpoint/2010/main" val="633150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E"/>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DC24DA7E-8A1A-4DAD-A678-0C226F1C422F}" type="slidenum">
              <a:rPr lang="en-US" altLang="en-US"/>
              <a:pPr>
                <a:defRPr/>
              </a:pPr>
              <a:t>‹#›</a:t>
            </a:fld>
            <a:endParaRPr lang="en-US" altLang="en-US"/>
          </a:p>
        </p:txBody>
      </p:sp>
    </p:spTree>
    <p:extLst>
      <p:ext uri="{BB962C8B-B14F-4D97-AF65-F5344CB8AC3E}">
        <p14:creationId xmlns:p14="http://schemas.microsoft.com/office/powerpoint/2010/main" val="40211875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E"/>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E"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7" name="Rectangle 6"/>
          <p:cNvSpPr>
            <a:spLocks noGrp="1" noChangeArrowheads="1"/>
          </p:cNvSpPr>
          <p:nvPr>
            <p:ph type="sldNum" sz="quarter" idx="12"/>
          </p:nvPr>
        </p:nvSpPr>
        <p:spPr>
          <a:ln/>
        </p:spPr>
        <p:txBody>
          <a:bodyPr/>
          <a:lstStyle>
            <a:lvl1pPr>
              <a:defRPr/>
            </a:lvl1pPr>
          </a:lstStyle>
          <a:p>
            <a:pPr>
              <a:defRPr/>
            </a:pPr>
            <a:fld id="{9B06E82A-7487-4D31-B475-86F15552233F}" type="slidenum">
              <a:rPr lang="en-US" altLang="en-US"/>
              <a:pPr>
                <a:defRPr/>
              </a:pPr>
              <a:t>‹#›</a:t>
            </a:fld>
            <a:endParaRPr lang="en-US" altLang="en-US"/>
          </a:p>
        </p:txBody>
      </p:sp>
    </p:spTree>
    <p:extLst>
      <p:ext uri="{BB962C8B-B14F-4D97-AF65-F5344CB8AC3E}">
        <p14:creationId xmlns:p14="http://schemas.microsoft.com/office/powerpoint/2010/main" val="113342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48243EF3-4D48-4827-A9B3-5AE3BD0F7323}" type="slidenum">
              <a:rPr lang="en-US" altLang="en-US"/>
              <a:pPr>
                <a:defRPr/>
              </a:pPr>
              <a:t>‹#›</a:t>
            </a:fld>
            <a:endParaRPr lang="en-US" altLang="en-US"/>
          </a:p>
        </p:txBody>
      </p:sp>
    </p:spTree>
    <p:extLst>
      <p:ext uri="{BB962C8B-B14F-4D97-AF65-F5344CB8AC3E}">
        <p14:creationId xmlns:p14="http://schemas.microsoft.com/office/powerpoint/2010/main" val="15649904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en-US"/>
          </a:p>
        </p:txBody>
      </p:sp>
      <p:sp>
        <p:nvSpPr>
          <p:cNvPr id="6" name="Rectangle 6"/>
          <p:cNvSpPr>
            <a:spLocks noGrp="1" noChangeArrowheads="1"/>
          </p:cNvSpPr>
          <p:nvPr>
            <p:ph type="sldNum" sz="quarter" idx="12"/>
          </p:nvPr>
        </p:nvSpPr>
        <p:spPr>
          <a:ln/>
        </p:spPr>
        <p:txBody>
          <a:bodyPr/>
          <a:lstStyle>
            <a:lvl1pPr>
              <a:defRPr/>
            </a:lvl1pPr>
          </a:lstStyle>
          <a:p>
            <a:pPr>
              <a:defRPr/>
            </a:pPr>
            <a:fld id="{99886D2E-1754-46D1-B580-D32B20973DD3}" type="slidenum">
              <a:rPr lang="en-US" altLang="en-US"/>
              <a:pPr>
                <a:defRPr/>
              </a:pPr>
              <a:t>‹#›</a:t>
            </a:fld>
            <a:endParaRPr lang="en-US" altLang="en-US"/>
          </a:p>
        </p:txBody>
      </p:sp>
    </p:spTree>
    <p:extLst>
      <p:ext uri="{BB962C8B-B14F-4D97-AF65-F5344CB8AC3E}">
        <p14:creationId xmlns:p14="http://schemas.microsoft.com/office/powerpoint/2010/main" val="1418488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atin typeface="Arial" pitchFamily="34" charset="0"/>
              </a:defRPr>
            </a:lvl1pPr>
          </a:lstStyle>
          <a:p>
            <a:pPr>
              <a:defRPr/>
            </a:pPr>
            <a:endParaRPr lang="en-US"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atin typeface="Arial" pitchFamily="34" charset="0"/>
              </a:defRPr>
            </a:lvl1pPr>
          </a:lstStyle>
          <a:p>
            <a:pPr>
              <a:defRPr/>
            </a:pPr>
            <a:endParaRPr lang="en-US"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EE3CEBD9-B5C4-4B91-B1E2-8C642848E864}"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itchFamily="34" charset="0"/>
        </a:defRPr>
      </a:lvl2pPr>
      <a:lvl3pPr algn="ctr" rtl="0" eaLnBrk="0" fontAlgn="base" hangingPunct="0">
        <a:spcBef>
          <a:spcPct val="0"/>
        </a:spcBef>
        <a:spcAft>
          <a:spcPct val="0"/>
        </a:spcAft>
        <a:defRPr sz="4400">
          <a:solidFill>
            <a:schemeClr val="tx2"/>
          </a:solidFill>
          <a:latin typeface="Arial" pitchFamily="34" charset="0"/>
        </a:defRPr>
      </a:lvl3pPr>
      <a:lvl4pPr algn="ctr" rtl="0" eaLnBrk="0" fontAlgn="base" hangingPunct="0">
        <a:spcBef>
          <a:spcPct val="0"/>
        </a:spcBef>
        <a:spcAft>
          <a:spcPct val="0"/>
        </a:spcAft>
        <a:defRPr sz="4400">
          <a:solidFill>
            <a:schemeClr val="tx2"/>
          </a:solidFill>
          <a:latin typeface="Arial" pitchFamily="34" charset="0"/>
        </a:defRPr>
      </a:lvl4pPr>
      <a:lvl5pPr algn="ctr" rtl="0" eaLnBrk="0" fontAlgn="base" hangingPunct="0">
        <a:spcBef>
          <a:spcPct val="0"/>
        </a:spcBef>
        <a:spcAft>
          <a:spcPct val="0"/>
        </a:spcAft>
        <a:defRPr sz="4400">
          <a:solidFill>
            <a:schemeClr val="tx2"/>
          </a:solidFill>
          <a:latin typeface="Arial" pitchFamily="34" charset="0"/>
        </a:defRPr>
      </a:lvl5pPr>
      <a:lvl6pPr marL="457200" algn="ctr" rtl="0" fontAlgn="base">
        <a:spcBef>
          <a:spcPct val="0"/>
        </a:spcBef>
        <a:spcAft>
          <a:spcPct val="0"/>
        </a:spcAft>
        <a:defRPr sz="4400">
          <a:solidFill>
            <a:schemeClr val="tx2"/>
          </a:solidFill>
          <a:latin typeface="Arial" pitchFamily="34" charset="0"/>
        </a:defRPr>
      </a:lvl6pPr>
      <a:lvl7pPr marL="914400" algn="ctr" rtl="0" fontAlgn="base">
        <a:spcBef>
          <a:spcPct val="0"/>
        </a:spcBef>
        <a:spcAft>
          <a:spcPct val="0"/>
        </a:spcAft>
        <a:defRPr sz="4400">
          <a:solidFill>
            <a:schemeClr val="tx2"/>
          </a:solidFill>
          <a:latin typeface="Arial" pitchFamily="34" charset="0"/>
        </a:defRPr>
      </a:lvl7pPr>
      <a:lvl8pPr marL="1371600" algn="ctr" rtl="0" fontAlgn="base">
        <a:spcBef>
          <a:spcPct val="0"/>
        </a:spcBef>
        <a:spcAft>
          <a:spcPct val="0"/>
        </a:spcAft>
        <a:defRPr sz="4400">
          <a:solidFill>
            <a:schemeClr val="tx2"/>
          </a:solidFill>
          <a:latin typeface="Arial" pitchFamily="34" charset="0"/>
        </a:defRPr>
      </a:lvl8pPr>
      <a:lvl9pPr marL="1828800" algn="ctr" rtl="0" fontAlgn="base">
        <a:spcBef>
          <a:spcPct val="0"/>
        </a:spcBef>
        <a:spcAft>
          <a:spcPct val="0"/>
        </a:spcAft>
        <a:defRPr sz="4400">
          <a:solidFill>
            <a:schemeClr val="tx2"/>
          </a:solidFill>
          <a:latin typeface="Arial" pitchFamily="34"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www.unet.univie.ac.at/aix/aixprggd/genprogc/understanding_threads.htm#D3A446E532manu" TargetMode="External"/><Relationship Id="rId2" Type="http://schemas.openxmlformats.org/officeDocument/2006/relationships/hyperlink" Target="http://www.unet.univie.ac.at/aix/aixprggd/genprogc/understanding_threads.htm#D3A446E503manu"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man7.org/linux/man-pages/man3/pthread_attr_init.3.html"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2" Type="http://schemas.openxmlformats.org/officeDocument/2006/relationships/image" Target="../media/image18.tmp"/><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p:txBody>
          <a:bodyPr/>
          <a:lstStyle/>
          <a:p>
            <a:pPr eaLnBrk="1" hangingPunct="1"/>
            <a:r>
              <a:rPr lang="en-GB" altLang="en-US" dirty="0"/>
              <a:t>Threads</a:t>
            </a:r>
            <a:endParaRPr lang="en-US" altLang="en-US" dirty="0"/>
          </a:p>
        </p:txBody>
      </p:sp>
      <p:sp>
        <p:nvSpPr>
          <p:cNvPr id="3075" name="Rectangle 3"/>
          <p:cNvSpPr>
            <a:spLocks noGrp="1" noChangeArrowheads="1"/>
          </p:cNvSpPr>
          <p:nvPr>
            <p:ph type="subTitle" idx="1"/>
          </p:nvPr>
        </p:nvSpPr>
        <p:spPr/>
        <p:txBody>
          <a:bodyPr/>
          <a:lstStyle/>
          <a:p>
            <a:pPr eaLnBrk="1" hangingPunct="1"/>
            <a:r>
              <a:rPr lang="en-US" altLang="en-US" dirty="0"/>
              <a:t>Lecture on creating and joining threads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pPr eaLnBrk="1" hangingPunct="1"/>
            <a:r>
              <a:rPr lang="en-US" altLang="en-US" sz="4000" b="1"/>
              <a:t>What is a thread?</a:t>
            </a:r>
            <a:br>
              <a:rPr lang="en-US" altLang="en-US" sz="4000" b="1"/>
            </a:br>
            <a:endParaRPr lang="en-US" altLang="en-US" sz="4000" b="1"/>
          </a:p>
        </p:txBody>
      </p:sp>
      <p:sp>
        <p:nvSpPr>
          <p:cNvPr id="4099" name="Rectangle 3"/>
          <p:cNvSpPr>
            <a:spLocks noGrp="1" noChangeArrowheads="1"/>
          </p:cNvSpPr>
          <p:nvPr>
            <p:ph type="body" idx="1"/>
          </p:nvPr>
        </p:nvSpPr>
        <p:spPr/>
        <p:txBody>
          <a:bodyPr/>
          <a:lstStyle/>
          <a:p>
            <a:pPr eaLnBrk="1" hangingPunct="1"/>
            <a:r>
              <a:rPr lang="en-US" altLang="en-US"/>
              <a:t>A </a:t>
            </a:r>
            <a:r>
              <a:rPr lang="en-US" altLang="en-US" b="1"/>
              <a:t>thread</a:t>
            </a:r>
            <a:r>
              <a:rPr lang="en-US" altLang="en-US"/>
              <a:t> is a sequence of instructions that can be executed in parallel with other threads </a:t>
            </a:r>
          </a:p>
          <a:p>
            <a:pPr eaLnBrk="1" hangingPunct="1"/>
            <a:r>
              <a:rPr lang="en-US" altLang="en-US"/>
              <a:t>Threads of a program are not full-blown processes, but are smaller portions of the process running concurrently (or in parallel). Hence, the term </a:t>
            </a:r>
            <a:r>
              <a:rPr lang="en-US" altLang="en-US" b="1"/>
              <a:t>lightweight</a:t>
            </a:r>
            <a:r>
              <a:rPr lang="en-US" altLang="en-US"/>
              <a:t> is used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en-GB" altLang="en-US"/>
              <a:t>Needles and Threads</a:t>
            </a:r>
            <a:endParaRPr lang="en-US" altLang="en-US"/>
          </a:p>
        </p:txBody>
      </p:sp>
      <p:sp>
        <p:nvSpPr>
          <p:cNvPr id="5123" name="Rectangle 3"/>
          <p:cNvSpPr>
            <a:spLocks noGrp="1" noChangeArrowheads="1"/>
          </p:cNvSpPr>
          <p:nvPr>
            <p:ph type="body" idx="1"/>
          </p:nvPr>
        </p:nvSpPr>
        <p:spPr/>
        <p:txBody>
          <a:bodyPr/>
          <a:lstStyle/>
          <a:p>
            <a:pPr eaLnBrk="1" hangingPunct="1">
              <a:lnSpc>
                <a:spcPct val="80000"/>
              </a:lnSpc>
            </a:pPr>
            <a:r>
              <a:rPr lang="en-GB" altLang="en-US" sz="2400"/>
              <a:t>A thread is a fibre used in sewing with a needle</a:t>
            </a:r>
          </a:p>
          <a:p>
            <a:pPr eaLnBrk="1" hangingPunct="1">
              <a:lnSpc>
                <a:spcPct val="80000"/>
              </a:lnSpc>
            </a:pPr>
            <a:r>
              <a:rPr lang="en-GB" altLang="en-US" sz="2400"/>
              <a:t>Think of this</a:t>
            </a:r>
          </a:p>
          <a:p>
            <a:pPr eaLnBrk="1" hangingPunct="1">
              <a:lnSpc>
                <a:spcPct val="80000"/>
              </a:lnSpc>
            </a:pPr>
            <a:r>
              <a:rPr lang="en-US" altLang="en-US" sz="2400"/>
              <a:t>Think of sewing needles as the CPUs and the threads in a program as the fibre. If you had two needles but only one thread, it would take longer to finish the job than if you split the thread into two and used both needles at the same time. </a:t>
            </a:r>
          </a:p>
          <a:p>
            <a:pPr eaLnBrk="1" hangingPunct="1">
              <a:lnSpc>
                <a:spcPct val="80000"/>
              </a:lnSpc>
            </a:pPr>
            <a:r>
              <a:rPr lang="en-US" altLang="en-US" sz="2400"/>
              <a:t>Taking this analogy a little further, if one needle had to sew on a button (blocking I/O), the other needle could continue doing other useful work even if the other needle took 4 hours to sew on a single button. If you only used one needle, you would be ~4 hours behind </a:t>
            </a:r>
          </a:p>
          <a:p>
            <a:pPr eaLnBrk="1" hangingPunct="1">
              <a:lnSpc>
                <a:spcPct val="80000"/>
              </a:lnSpc>
            </a:pPr>
            <a:r>
              <a:rPr lang="en-GB" altLang="en-US" sz="2400"/>
              <a:t>We will see the term LWP or lightweight process being used</a:t>
            </a:r>
            <a:endParaRPr lang="en-US" altLang="en-US" sz="24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pPr eaLnBrk="1" hangingPunct="1"/>
            <a:r>
              <a:rPr lang="en-US" altLang="en-US" b="1"/>
              <a:t>Threads and Processes</a:t>
            </a:r>
          </a:p>
        </p:txBody>
      </p:sp>
      <p:sp>
        <p:nvSpPr>
          <p:cNvPr id="6147" name="Rectangle 3"/>
          <p:cNvSpPr>
            <a:spLocks noGrp="1" noChangeArrowheads="1"/>
          </p:cNvSpPr>
          <p:nvPr>
            <p:ph type="body" idx="1"/>
          </p:nvPr>
        </p:nvSpPr>
        <p:spPr/>
        <p:txBody>
          <a:bodyPr/>
          <a:lstStyle/>
          <a:p>
            <a:pPr eaLnBrk="1" hangingPunct="1">
              <a:buFontTx/>
              <a:buNone/>
            </a:pPr>
            <a:endParaRPr lang="en-US" altLang="en-US" b="1"/>
          </a:p>
          <a:p>
            <a:pPr eaLnBrk="1" hangingPunct="1"/>
            <a:r>
              <a:rPr lang="en-US" altLang="en-US"/>
              <a:t>In traditional single-threaded process systems, a process has a set of properties. In multi-threaded systems, these properties are divided between </a:t>
            </a:r>
            <a:r>
              <a:rPr lang="en-US" altLang="en-US">
                <a:hlinkClick r:id="rId2"/>
              </a:rPr>
              <a:t>processes</a:t>
            </a:r>
            <a:r>
              <a:rPr lang="en-US" altLang="en-US"/>
              <a:t> and </a:t>
            </a:r>
            <a:r>
              <a:rPr lang="en-US" altLang="en-US">
                <a:hlinkClick r:id="rId3"/>
              </a:rPr>
              <a:t>threads</a:t>
            </a:r>
            <a:r>
              <a:rPr lang="en-US" altLang="en-US"/>
              <a: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533400" y="381000"/>
            <a:ext cx="8077200" cy="685800"/>
          </a:xfrm>
        </p:spPr>
        <p:txBody>
          <a:bodyPr/>
          <a:lstStyle/>
          <a:p>
            <a:r>
              <a:rPr lang="en-IE" altLang="en-US"/>
              <a:t>Single and Multi-threading </a:t>
            </a:r>
          </a:p>
        </p:txBody>
      </p:sp>
      <p:sp>
        <p:nvSpPr>
          <p:cNvPr id="7171" name="Content Placeholder 2"/>
          <p:cNvSpPr>
            <a:spLocks noGrp="1"/>
          </p:cNvSpPr>
          <p:nvPr>
            <p:ph idx="1"/>
          </p:nvPr>
        </p:nvSpPr>
        <p:spPr>
          <a:xfrm>
            <a:off x="533400" y="1295400"/>
            <a:ext cx="8077200" cy="4572000"/>
          </a:xfrm>
        </p:spPr>
        <p:txBody>
          <a:bodyPr/>
          <a:lstStyle/>
          <a:p>
            <a:pPr eaLnBrk="1" hangingPunct="1">
              <a:lnSpc>
                <a:spcPct val="90000"/>
              </a:lnSpc>
            </a:pPr>
            <a:r>
              <a:rPr lang="en-US" altLang="en-US" sz="2000"/>
              <a:t>Single threading </a:t>
            </a:r>
          </a:p>
          <a:p>
            <a:pPr lvl="1" eaLnBrk="1" hangingPunct="1">
              <a:lnSpc>
                <a:spcPct val="90000"/>
              </a:lnSpc>
            </a:pPr>
            <a:r>
              <a:rPr lang="en-US" altLang="en-US" sz="2000"/>
              <a:t>This is a process with only one thread of control so is essentially a single process or one processing one command at a time.  </a:t>
            </a:r>
          </a:p>
          <a:p>
            <a:pPr lvl="1" eaLnBrk="1" hangingPunct="1">
              <a:lnSpc>
                <a:spcPct val="90000"/>
              </a:lnSpc>
            </a:pPr>
            <a:endParaRPr lang="en-US" altLang="en-US" sz="2000"/>
          </a:p>
          <a:p>
            <a:pPr eaLnBrk="1" hangingPunct="1">
              <a:lnSpc>
                <a:spcPct val="90000"/>
              </a:lnSpc>
            </a:pPr>
            <a:r>
              <a:rPr lang="en-US" altLang="en-US" sz="2000"/>
              <a:t>Multithreading</a:t>
            </a:r>
          </a:p>
          <a:p>
            <a:pPr lvl="1" eaLnBrk="1" hangingPunct="1">
              <a:lnSpc>
                <a:spcPct val="90000"/>
              </a:lnSpc>
            </a:pPr>
            <a:r>
              <a:rPr lang="en-US" altLang="en-US" sz="2000"/>
              <a:t>Allows applications to manage a, separate, process with several threads of control; This allows the OS to emulate a system with multiple processors and a common memory. </a:t>
            </a:r>
          </a:p>
          <a:p>
            <a:pPr lvl="1" eaLnBrk="1" hangingPunct="1">
              <a:lnSpc>
                <a:spcPct val="90000"/>
              </a:lnSpc>
            </a:pPr>
            <a:r>
              <a:rPr lang="en-US" altLang="en-US" sz="2000"/>
              <a:t>In reduces overheads associated with swapping the whole process in and out of memory. </a:t>
            </a:r>
          </a:p>
          <a:p>
            <a:pPr lvl="1" eaLnBrk="1" hangingPunct="1">
              <a:lnSpc>
                <a:spcPct val="90000"/>
              </a:lnSpc>
            </a:pPr>
            <a:endParaRPr lang="en-US" altLang="en-US" sz="2000"/>
          </a:p>
          <a:p>
            <a:pPr lvl="1" eaLnBrk="1" hangingPunct="1">
              <a:lnSpc>
                <a:spcPct val="90000"/>
              </a:lnSpc>
            </a:pPr>
            <a:r>
              <a:rPr lang="en-US" altLang="en-US" sz="2000" i="1"/>
              <a:t>In other words different parts of the program can be run concurrently in a single processor system or in parallel in a multi-processor system.</a:t>
            </a:r>
            <a:endParaRPr lang="en-US" altLang="en-US" sz="2000"/>
          </a:p>
          <a:p>
            <a:pPr lvl="1" eaLnBrk="1" hangingPunct="1">
              <a:lnSpc>
                <a:spcPct val="90000"/>
              </a:lnSpc>
            </a:pPr>
            <a:endParaRPr lang="en-US" altLang="en-US" sz="1800"/>
          </a:p>
          <a:p>
            <a:pPr lvl="1" eaLnBrk="1" hangingPunct="1">
              <a:lnSpc>
                <a:spcPct val="90000"/>
              </a:lnSpc>
            </a:pPr>
            <a:endParaRPr lang="en-IE" altLang="en-US" sz="2000"/>
          </a:p>
        </p:txBody>
      </p:sp>
      <p:sp>
        <p:nvSpPr>
          <p:cNvPr id="7172"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7173"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F20835ED-3116-42F8-9306-A09882FF828E}" type="slidenum">
              <a:rPr lang="en-US" altLang="en-US" sz="1400" smtClean="0"/>
              <a:pPr algn="ctr">
                <a:spcBef>
                  <a:spcPct val="0"/>
                </a:spcBef>
                <a:buFontTx/>
                <a:buNone/>
              </a:pPr>
              <a:t>5</a:t>
            </a:fld>
            <a:endParaRPr lang="en-US" altLang="en-US" sz="1400"/>
          </a:p>
        </p:txBody>
      </p:sp>
    </p:spTree>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Footer Placeholder 3"/>
          <p:cNvSpPr>
            <a:spLocks noGrp="1"/>
          </p:cNvSpPr>
          <p:nvPr>
            <p:ph type="ftr" sz="quarter" idx="11"/>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600"/>
              <a:t>4: Threads</a:t>
            </a:r>
          </a:p>
        </p:txBody>
      </p:sp>
      <p:sp>
        <p:nvSpPr>
          <p:cNvPr id="11267" name="Slide Number Placeholder 4"/>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96F2039C-D422-46E8-AD99-1F91F4E7569F}" type="slidenum">
              <a:rPr lang="en-US" altLang="en-US" sz="1600" smtClean="0"/>
              <a:pPr>
                <a:spcBef>
                  <a:spcPct val="0"/>
                </a:spcBef>
                <a:buFontTx/>
                <a:buNone/>
              </a:pPr>
              <a:t>6</a:t>
            </a:fld>
            <a:endParaRPr lang="en-US" altLang="en-US" sz="1600"/>
          </a:p>
        </p:txBody>
      </p:sp>
      <p:sp>
        <p:nvSpPr>
          <p:cNvPr id="11268" name="Rectangle 1026"/>
          <p:cNvSpPr>
            <a:spLocks noGrp="1" noChangeArrowheads="1"/>
          </p:cNvSpPr>
          <p:nvPr>
            <p:ph type="title"/>
          </p:nvPr>
        </p:nvSpPr>
        <p:spPr>
          <a:xfrm>
            <a:off x="5943600" y="304800"/>
            <a:ext cx="2819400" cy="1143000"/>
          </a:xfrm>
        </p:spPr>
        <p:txBody>
          <a:bodyPr/>
          <a:lstStyle/>
          <a:p>
            <a:pPr eaLnBrk="1" hangingPunct="1"/>
            <a:r>
              <a:rPr lang="en-US" altLang="en-US" sz="2800" b="1"/>
              <a:t>Single and Multithreaded Processes</a:t>
            </a:r>
          </a:p>
        </p:txBody>
      </p:sp>
      <p:pic>
        <p:nvPicPr>
          <p:cNvPr id="11269" name="Picture 1027"/>
          <p:cNvPicPr>
            <a:picLocks noChangeAspect="1" noChangeArrowheads="1"/>
          </p:cNvPicPr>
          <p:nvPr/>
        </p:nvPicPr>
        <p:blipFill>
          <a:blip r:embed="rId2">
            <a:extLst>
              <a:ext uri="{28A0092B-C50C-407E-A947-70E740481C1C}">
                <a14:useLocalDpi xmlns:a14="http://schemas.microsoft.com/office/drawing/2010/main" val="0"/>
              </a:ext>
            </a:extLst>
          </a:blip>
          <a:srcRect l="1257" t="11810" r="2359" b="11565"/>
          <a:stretch>
            <a:fillRect/>
          </a:stretch>
        </p:blipFill>
        <p:spPr bwMode="auto">
          <a:xfrm>
            <a:off x="1371600" y="2209800"/>
            <a:ext cx="6553200" cy="3906838"/>
          </a:xfrm>
          <a:prstGeom prst="rect">
            <a:avLst/>
          </a:prstGeom>
          <a:noFill/>
          <a:ln w="57150" cmpd="thickThin">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70" name="Text Box 1028"/>
          <p:cNvSpPr txBox="1">
            <a:spLocks noChangeArrowheads="1"/>
          </p:cNvSpPr>
          <p:nvPr/>
        </p:nvSpPr>
        <p:spPr bwMode="auto">
          <a:xfrm>
            <a:off x="990600" y="533400"/>
            <a:ext cx="239395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eaLnBrk="1" hangingPunct="1">
              <a:spcBef>
                <a:spcPct val="0"/>
              </a:spcBef>
              <a:buFontTx/>
              <a:buNone/>
            </a:pPr>
            <a:r>
              <a:rPr lang="en-US" altLang="en-US" sz="3600" b="1"/>
              <a:t>THREADS</a:t>
            </a:r>
          </a:p>
        </p:txBody>
      </p:sp>
    </p:spTree>
    <p:extLst>
      <p:ext uri="{BB962C8B-B14F-4D97-AF65-F5344CB8AC3E}">
        <p14:creationId xmlns:p14="http://schemas.microsoft.com/office/powerpoint/2010/main" val="21974175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p:txBody>
          <a:bodyPr/>
          <a:lstStyle/>
          <a:p>
            <a:r>
              <a:rPr lang="en-IE" altLang="en-US"/>
              <a:t>Examples of multithreading </a:t>
            </a:r>
          </a:p>
        </p:txBody>
      </p:sp>
      <p:sp>
        <p:nvSpPr>
          <p:cNvPr id="8195" name="Content Placeholder 2"/>
          <p:cNvSpPr>
            <a:spLocks noGrp="1"/>
          </p:cNvSpPr>
          <p:nvPr>
            <p:ph idx="1"/>
          </p:nvPr>
        </p:nvSpPr>
        <p:spPr/>
        <p:txBody>
          <a:bodyPr/>
          <a:lstStyle/>
          <a:p>
            <a:pPr eaLnBrk="1" hangingPunct="1">
              <a:lnSpc>
                <a:spcPct val="90000"/>
              </a:lnSpc>
            </a:pPr>
            <a:r>
              <a:rPr lang="en-US" altLang="en-US" sz="2200"/>
              <a:t>Examples of multithreading:</a:t>
            </a:r>
          </a:p>
          <a:p>
            <a:pPr lvl="1" eaLnBrk="1" hangingPunct="1">
              <a:lnSpc>
                <a:spcPct val="90000"/>
              </a:lnSpc>
            </a:pPr>
            <a:r>
              <a:rPr lang="en-US" altLang="en-US" sz="2000"/>
              <a:t>Multiple queries to a database (a separate thread for each query); </a:t>
            </a:r>
          </a:p>
          <a:p>
            <a:pPr lvl="1" eaLnBrk="1" hangingPunct="1">
              <a:lnSpc>
                <a:spcPct val="90000"/>
              </a:lnSpc>
            </a:pPr>
            <a:r>
              <a:rPr lang="en-US" altLang="en-US" sz="2000"/>
              <a:t>Multiple connections TCP connections: a separate thread to deal with each connection. </a:t>
            </a:r>
          </a:p>
          <a:p>
            <a:pPr lvl="1" eaLnBrk="1" hangingPunct="1">
              <a:lnSpc>
                <a:spcPct val="90000"/>
              </a:lnSpc>
            </a:pPr>
            <a:r>
              <a:rPr lang="en-US" altLang="en-US" sz="2000"/>
              <a:t>An application that has a processing element and an i/o element where one thread processing and one thread to deal with the I/O</a:t>
            </a:r>
          </a:p>
          <a:p>
            <a:pPr lvl="1" eaLnBrk="1" hangingPunct="1">
              <a:lnSpc>
                <a:spcPct val="90000"/>
              </a:lnSpc>
            </a:pPr>
            <a:r>
              <a:rPr lang="en-US" altLang="en-US" sz="2000"/>
              <a:t>A word processor will have many threads; one for inputting data, one for backup or archiving the word document…</a:t>
            </a:r>
          </a:p>
          <a:p>
            <a:pPr lvl="1" eaLnBrk="1" hangingPunct="1">
              <a:lnSpc>
                <a:spcPct val="90000"/>
              </a:lnSpc>
            </a:pPr>
            <a:endParaRPr lang="en-IE" altLang="en-US"/>
          </a:p>
        </p:txBody>
      </p:sp>
      <p:sp>
        <p:nvSpPr>
          <p:cNvPr id="8196"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8197"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5FFB04CE-2577-4287-8CCB-07ED484CE3A3}" type="slidenum">
              <a:rPr lang="en-US" altLang="en-US" sz="1400" smtClean="0"/>
              <a:pPr algn="ctr">
                <a:spcBef>
                  <a:spcPct val="0"/>
                </a:spcBef>
                <a:buFontTx/>
                <a:buNone/>
              </a:pPr>
              <a:t>7</a:t>
            </a:fld>
            <a:endParaRPr lang="en-US" altLang="en-US" sz="1400"/>
          </a:p>
        </p:txBody>
      </p:sp>
    </p:spTree>
  </p:cSld>
  <p:clrMapOvr>
    <a:masterClrMapping/>
  </p:clrMapOvr>
  <p:transition spd="slow"/>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p:txBody>
          <a:bodyPr/>
          <a:lstStyle/>
          <a:p>
            <a:r>
              <a:rPr lang="en-IE" altLang="en-US"/>
              <a:t>Property of multi-threading</a:t>
            </a:r>
          </a:p>
        </p:txBody>
      </p:sp>
      <p:pic>
        <p:nvPicPr>
          <p:cNvPr id="12291"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555750" y="1600200"/>
            <a:ext cx="6032500" cy="4525963"/>
          </a:xfrm>
          <a:noFill/>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GB" altLang="en-US"/>
              <a:t>Thread properties</a:t>
            </a:r>
            <a:endParaRPr lang="en-US" altLang="en-US"/>
          </a:p>
        </p:txBody>
      </p:sp>
      <p:sp>
        <p:nvSpPr>
          <p:cNvPr id="13315" name="Rectangle 3"/>
          <p:cNvSpPr>
            <a:spLocks noGrp="1" noChangeArrowheads="1"/>
          </p:cNvSpPr>
          <p:nvPr>
            <p:ph type="body" idx="1"/>
          </p:nvPr>
        </p:nvSpPr>
        <p:spPr>
          <a:xfrm>
            <a:off x="457200" y="1600200"/>
            <a:ext cx="8229600" cy="5029200"/>
          </a:xfrm>
        </p:spPr>
        <p:txBody>
          <a:bodyPr/>
          <a:lstStyle/>
          <a:p>
            <a:pPr eaLnBrk="1" hangingPunct="1">
              <a:lnSpc>
                <a:spcPct val="90000"/>
              </a:lnSpc>
            </a:pPr>
            <a:r>
              <a:rPr lang="en-US" altLang="en-US" sz="2400" dirty="0"/>
              <a:t>A thread is the schedulable entity. It has only those properties that are required to ensure its independent flow of control. These include the following properties:</a:t>
            </a:r>
          </a:p>
          <a:p>
            <a:pPr lvl="1" eaLnBrk="1" hangingPunct="1">
              <a:lnSpc>
                <a:spcPct val="90000"/>
              </a:lnSpc>
            </a:pPr>
            <a:r>
              <a:rPr lang="en-US" altLang="en-US" sz="2000" dirty="0"/>
              <a:t>Stack </a:t>
            </a:r>
          </a:p>
          <a:p>
            <a:pPr lvl="1" eaLnBrk="1" hangingPunct="1">
              <a:lnSpc>
                <a:spcPct val="90000"/>
              </a:lnSpc>
            </a:pPr>
            <a:r>
              <a:rPr lang="en-US" altLang="en-US" sz="2000" dirty="0"/>
              <a:t>Scheduling properties (such as policy or priority) </a:t>
            </a:r>
          </a:p>
          <a:p>
            <a:pPr lvl="1" eaLnBrk="1" hangingPunct="1">
              <a:lnSpc>
                <a:spcPct val="90000"/>
              </a:lnSpc>
            </a:pPr>
            <a:r>
              <a:rPr lang="en-US" altLang="en-US" sz="2000" dirty="0"/>
              <a:t>Set of pending and blocked signals </a:t>
            </a:r>
          </a:p>
          <a:p>
            <a:pPr lvl="1" eaLnBrk="1" hangingPunct="1">
              <a:lnSpc>
                <a:spcPct val="90000"/>
              </a:lnSpc>
            </a:pPr>
            <a:r>
              <a:rPr lang="en-US" altLang="en-US" sz="2000" dirty="0"/>
              <a:t>Some thread-specific data.</a:t>
            </a:r>
          </a:p>
          <a:p>
            <a:pPr lvl="1" eaLnBrk="1" hangingPunct="1">
              <a:lnSpc>
                <a:spcPct val="90000"/>
              </a:lnSpc>
            </a:pPr>
            <a:endParaRPr lang="en-US" altLang="en-US" sz="2000" dirty="0"/>
          </a:p>
          <a:p>
            <a:pPr eaLnBrk="1" hangingPunct="1">
              <a:lnSpc>
                <a:spcPct val="90000"/>
              </a:lnSpc>
            </a:pPr>
            <a:r>
              <a:rPr lang="en-US" altLang="en-US" sz="2400" dirty="0"/>
              <a:t>Threads within a process must not be considered as a group of processes. All threads share the same address space. This means that </a:t>
            </a:r>
            <a:r>
              <a:rPr lang="en-US" altLang="en-US" sz="2400" b="1" i="1" dirty="0"/>
              <a:t>two pointers</a:t>
            </a:r>
            <a:r>
              <a:rPr lang="en-US" altLang="en-US" sz="2400" dirty="0"/>
              <a:t> </a:t>
            </a:r>
            <a:r>
              <a:rPr lang="en-US" altLang="en-US" sz="2400" b="1" dirty="0"/>
              <a:t>variables</a:t>
            </a:r>
            <a:r>
              <a:rPr lang="en-US" altLang="en-US" sz="2400" dirty="0"/>
              <a:t> having the </a:t>
            </a:r>
            <a:r>
              <a:rPr lang="en-US" altLang="en-US" sz="2400" b="1" dirty="0"/>
              <a:t>same value</a:t>
            </a:r>
            <a:r>
              <a:rPr lang="en-US" altLang="en-US" sz="2400" dirty="0"/>
              <a:t> in two threads </a:t>
            </a:r>
            <a:r>
              <a:rPr lang="en-US" altLang="en-US" sz="2400" b="1" dirty="0"/>
              <a:t>refer to the same data.</a:t>
            </a:r>
            <a:r>
              <a:rPr lang="en-US" altLang="en-US" sz="2400" dirty="0"/>
              <a:t> Also, if any thread changes one of the shared system resources, all threads within the process are affected; e.g. </a:t>
            </a:r>
            <a:r>
              <a:rPr lang="en-US" altLang="en-US" sz="2400" i="1" dirty="0"/>
              <a:t>Closing files… shared address</a:t>
            </a:r>
            <a:r>
              <a:rPr lang="en-US" altLang="en-US" sz="2400" dirty="0"/>
              <a:t>… </a:t>
            </a:r>
          </a:p>
          <a:p>
            <a:pPr eaLnBrk="1" hangingPunct="1">
              <a:lnSpc>
                <a:spcPct val="90000"/>
              </a:lnSpc>
            </a:pPr>
            <a:endParaRPr lang="en-US" altLang="en-US" sz="2400" dirty="0"/>
          </a:p>
          <a:p>
            <a:pPr eaLnBrk="1" hangingPunct="1">
              <a:lnSpc>
                <a:spcPct val="90000"/>
              </a:lnSpc>
            </a:pPr>
            <a:endParaRPr lang="en-US" alt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Footer Placeholder 1"/>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 7e</a:t>
            </a:r>
          </a:p>
        </p:txBody>
      </p:sp>
      <p:sp>
        <p:nvSpPr>
          <p:cNvPr id="14339" name="Slide Number Placeholder 2"/>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43AA19EC-BDC2-48CB-A2F6-E7F6173A421E}" type="slidenum">
              <a:rPr lang="en-US" altLang="en-US" sz="1400" smtClean="0"/>
              <a:pPr algn="ctr">
                <a:spcBef>
                  <a:spcPct val="0"/>
                </a:spcBef>
                <a:buFontTx/>
                <a:buNone/>
              </a:pPr>
              <a:t>10</a:t>
            </a:fld>
            <a:endParaRPr lang="en-US" altLang="en-US" sz="1400"/>
          </a:p>
        </p:txBody>
      </p:sp>
      <p:pic>
        <p:nvPicPr>
          <p:cNvPr id="14340" name="Picture 2"/>
          <p:cNvPicPr>
            <a:picLocks noChangeAspect="1" noChangeArrowheads="1"/>
          </p:cNvPicPr>
          <p:nvPr/>
        </p:nvPicPr>
        <p:blipFill>
          <a:blip r:embed="rId3">
            <a:extLst>
              <a:ext uri="{28A0092B-C50C-407E-A947-70E740481C1C}">
                <a14:useLocalDpi xmlns:a14="http://schemas.microsoft.com/office/drawing/2010/main" val="0"/>
              </a:ext>
            </a:extLst>
          </a:blip>
          <a:srcRect r="17657"/>
          <a:stretch>
            <a:fillRect/>
          </a:stretch>
        </p:blipFill>
        <p:spPr bwMode="auto">
          <a:xfrm>
            <a:off x="366713" y="995363"/>
            <a:ext cx="8243887" cy="311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pic>
      <p:sp>
        <p:nvSpPr>
          <p:cNvPr id="14341" name="Rectangle 4"/>
          <p:cNvSpPr>
            <a:spLocks noChangeArrowheads="1"/>
          </p:cNvSpPr>
          <p:nvPr/>
        </p:nvSpPr>
        <p:spPr bwMode="auto">
          <a:xfrm rot="10800000" flipV="1">
            <a:off x="533400" y="4164013"/>
            <a:ext cx="8153400" cy="1169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ea typeface="MS PGothic" panose="020B0600070205080204" pitchFamily="34" charset="-128"/>
              </a:rPr>
              <a:t>(figure 4.4) </a:t>
            </a:r>
          </a:p>
          <a:p>
            <a:pPr>
              <a:spcBef>
                <a:spcPct val="0"/>
              </a:spcBef>
              <a:buFontTx/>
              <a:buNone/>
            </a:pPr>
            <a:r>
              <a:rPr lang="en-US" altLang="en-US" sz="1800">
                <a:solidFill>
                  <a:srgbClr val="000000"/>
                </a:solidFill>
                <a:ea typeface="MS PGothic" panose="020B0600070205080204" pitchFamily="34" charset="-128"/>
              </a:rPr>
              <a:t>Comparison of a typical Thread Control Block (TCB) vs. a Process Control Block (PCB).</a:t>
            </a:r>
            <a:br>
              <a:rPr lang="en-US" altLang="en-US" sz="1800">
                <a:solidFill>
                  <a:srgbClr val="000000"/>
                </a:solidFill>
                <a:ea typeface="MS PGothic" panose="020B0600070205080204" pitchFamily="34" charset="-128"/>
              </a:rPr>
            </a:br>
            <a:r>
              <a:rPr lang="en-US" altLang="en-US" sz="1600" i="1">
                <a:solidFill>
                  <a:srgbClr val="000000"/>
                </a:solidFill>
                <a:ea typeface="MS PGothic" panose="020B0600070205080204" pitchFamily="34" charset="-128"/>
              </a:rPr>
              <a:t>© Cengage Learning 2014</a:t>
            </a:r>
            <a:endParaRPr lang="en-US" altLang="en-US" sz="2400" i="1">
              <a:solidFill>
                <a:srgbClr val="000000"/>
              </a:solidFill>
              <a:ea typeface="MS PGothic" panose="020B0600070205080204" pitchFamily="34" charset="-128"/>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p:txBody>
          <a:bodyPr/>
          <a:lstStyle/>
          <a:p>
            <a:pPr eaLnBrk="1" hangingPunct="1"/>
            <a:r>
              <a:rPr lang="en-GB" altLang="en-US" sz="4000"/>
              <a:t>Thread Creation and Implementation</a:t>
            </a:r>
            <a:endParaRPr lang="en-US" altLang="en-US" sz="4000"/>
          </a:p>
        </p:txBody>
      </p:sp>
      <p:sp>
        <p:nvSpPr>
          <p:cNvPr id="16387" name="Rectangle 3"/>
          <p:cNvSpPr>
            <a:spLocks noGrp="1" noChangeArrowheads="1"/>
          </p:cNvSpPr>
          <p:nvPr>
            <p:ph type="body" idx="1"/>
          </p:nvPr>
        </p:nvSpPr>
        <p:spPr/>
        <p:txBody>
          <a:bodyPr/>
          <a:lstStyle/>
          <a:p>
            <a:pPr eaLnBrk="1" hangingPunct="1">
              <a:lnSpc>
                <a:spcPct val="80000"/>
              </a:lnSpc>
            </a:pPr>
            <a:r>
              <a:rPr lang="en-US" altLang="en-US" sz="2000" b="1"/>
              <a:t>The Initial Thread </a:t>
            </a:r>
          </a:p>
          <a:p>
            <a:pPr eaLnBrk="1" hangingPunct="1">
              <a:lnSpc>
                <a:spcPct val="80000"/>
              </a:lnSpc>
            </a:pPr>
            <a:r>
              <a:rPr lang="en-US" altLang="en-US" sz="2000"/>
              <a:t>When a process is created, one thread is automatically created. This thread is called the </a:t>
            </a:r>
            <a:r>
              <a:rPr lang="en-US" altLang="en-US" sz="2000" i="1"/>
              <a:t>initial thread</a:t>
            </a:r>
            <a:r>
              <a:rPr lang="en-US" altLang="en-US" sz="2000"/>
              <a:t>. It ensures the compatibility between the old processes with a unique implicit thread and the new multi-threaded processes. The initial thread has some special properties, not visible to the programmer, that ensure binary compatibility between the old single-threaded programs and the multi-threaded operating system. It is also the initial thread that executes the </a:t>
            </a:r>
            <a:r>
              <a:rPr lang="en-US" altLang="en-US" sz="2000" b="1"/>
              <a:t>main</a:t>
            </a:r>
            <a:r>
              <a:rPr lang="en-US" altLang="en-US" sz="2000"/>
              <a:t> routine in multi-threaded programs.</a:t>
            </a:r>
            <a:endParaRPr lang="en-US" altLang="en-US" sz="2000" b="1"/>
          </a:p>
          <a:p>
            <a:pPr eaLnBrk="1" hangingPunct="1">
              <a:lnSpc>
                <a:spcPct val="80000"/>
              </a:lnSpc>
            </a:pPr>
            <a:endParaRPr lang="en-US" altLang="en-US" sz="2000" b="1"/>
          </a:p>
          <a:p>
            <a:pPr eaLnBrk="1" hangingPunct="1">
              <a:lnSpc>
                <a:spcPct val="80000"/>
              </a:lnSpc>
            </a:pPr>
            <a:r>
              <a:rPr lang="en-US" altLang="en-US" sz="2000" b="1"/>
              <a:t>Threads Implementation</a:t>
            </a:r>
          </a:p>
          <a:p>
            <a:pPr eaLnBrk="1" hangingPunct="1">
              <a:lnSpc>
                <a:spcPct val="80000"/>
              </a:lnSpc>
            </a:pPr>
            <a:r>
              <a:rPr lang="en-US" altLang="en-US" sz="2000"/>
              <a:t>A thread is the schedulable entity, which means that the system scheduler handles threads. These threads, known by the system scheduler, are strongly implementation-dependent. To facilitate the writing of portable programs, libraries provide another kind of thread.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a:xfrm>
            <a:off x="533400" y="381000"/>
            <a:ext cx="8077200" cy="685800"/>
          </a:xfrm>
        </p:spPr>
        <p:txBody>
          <a:bodyPr/>
          <a:lstStyle/>
          <a:p>
            <a:r>
              <a:rPr lang="en-US" altLang="en-US"/>
              <a:t>Thread States</a:t>
            </a:r>
          </a:p>
        </p:txBody>
      </p:sp>
      <p:sp>
        <p:nvSpPr>
          <p:cNvPr id="17411" name="Content Placeholder 2"/>
          <p:cNvSpPr>
            <a:spLocks noGrp="1"/>
          </p:cNvSpPr>
          <p:nvPr>
            <p:ph idx="1"/>
          </p:nvPr>
        </p:nvSpPr>
        <p:spPr>
          <a:xfrm>
            <a:off x="533400" y="1295400"/>
            <a:ext cx="8077200" cy="4953000"/>
          </a:xfrm>
        </p:spPr>
        <p:txBody>
          <a:bodyPr/>
          <a:lstStyle/>
          <a:p>
            <a:r>
              <a:rPr lang="en-US" altLang="en-US" sz="2400"/>
              <a:t>Operating systems must be able to:</a:t>
            </a:r>
          </a:p>
          <a:p>
            <a:pPr lvl="1"/>
            <a:r>
              <a:rPr lang="en-US" altLang="en-US" sz="2400" b="1"/>
              <a:t>Create</a:t>
            </a:r>
            <a:r>
              <a:rPr lang="en-US" altLang="en-US" sz="2400"/>
              <a:t> new threads</a:t>
            </a:r>
          </a:p>
          <a:p>
            <a:pPr lvl="1"/>
            <a:r>
              <a:rPr lang="en-US" altLang="en-US" sz="2400"/>
              <a:t>Set up a thread so it is ready to execute</a:t>
            </a:r>
          </a:p>
          <a:p>
            <a:pPr lvl="1"/>
            <a:r>
              <a:rPr lang="en-US" altLang="en-US" sz="2400" b="1"/>
              <a:t>Delay</a:t>
            </a:r>
            <a:r>
              <a:rPr lang="en-US" altLang="en-US" sz="2400"/>
              <a:t>, or put to sleep, threads for a specified amount of time</a:t>
            </a:r>
          </a:p>
          <a:p>
            <a:pPr lvl="1"/>
            <a:r>
              <a:rPr lang="en-US" altLang="en-US" sz="2400" b="1"/>
              <a:t>Block</a:t>
            </a:r>
            <a:r>
              <a:rPr lang="en-US" altLang="en-US" sz="2400"/>
              <a:t>, or suspend, threads waiting for I/O to be completed</a:t>
            </a:r>
          </a:p>
          <a:p>
            <a:pPr lvl="1"/>
            <a:r>
              <a:rPr lang="en-US" altLang="en-US" sz="2400"/>
              <a:t>Set threads to a </a:t>
            </a:r>
            <a:r>
              <a:rPr lang="en-US" altLang="en-US" sz="2400" b="1"/>
              <a:t>WAIT</a:t>
            </a:r>
            <a:r>
              <a:rPr lang="en-US" altLang="en-US" sz="2400"/>
              <a:t> state until a specific event  occurs: until another thread finishes execution </a:t>
            </a:r>
          </a:p>
          <a:p>
            <a:pPr lvl="1"/>
            <a:r>
              <a:rPr lang="en-US" altLang="en-US" sz="2400" b="1"/>
              <a:t>Schedule</a:t>
            </a:r>
            <a:r>
              <a:rPr lang="en-US" altLang="en-US" sz="2400"/>
              <a:t> threads for execution</a:t>
            </a:r>
          </a:p>
          <a:p>
            <a:pPr lvl="1"/>
            <a:r>
              <a:rPr lang="en-US" altLang="en-US" sz="2400" b="1"/>
              <a:t>Terminate</a:t>
            </a:r>
            <a:r>
              <a:rPr lang="en-US" altLang="en-US" sz="2400"/>
              <a:t> a thread and release its resources</a:t>
            </a:r>
          </a:p>
          <a:p>
            <a:pPr lvl="1"/>
            <a:endParaRPr lang="en-US" altLang="en-US" sz="2400"/>
          </a:p>
        </p:txBody>
      </p:sp>
      <p:sp>
        <p:nvSpPr>
          <p:cNvPr id="17412"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17413"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4085F394-886A-4BFC-B9FB-C7B4BB7C2D73}" type="slidenum">
              <a:rPr lang="en-US" altLang="en-US" sz="1400" smtClean="0"/>
              <a:pPr algn="ctr">
                <a:spcBef>
                  <a:spcPct val="0"/>
                </a:spcBef>
                <a:buFontTx/>
                <a:buNone/>
              </a:pPr>
              <a:t>12</a:t>
            </a:fld>
            <a:endParaRPr lang="en-US" altLang="en-US" sz="1400"/>
          </a:p>
        </p:txBody>
      </p:sp>
    </p:spTree>
  </p:cSld>
  <p:clrMapOvr>
    <a:masterClrMapping/>
  </p:clrMapOvr>
  <p:transition spd="slow"/>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19459"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DAC4FED8-A307-4A70-AE63-1C0E4A22B8D4}" type="slidenum">
              <a:rPr lang="en-US" altLang="en-US" sz="1400" smtClean="0"/>
              <a:pPr algn="ctr">
                <a:spcBef>
                  <a:spcPct val="0"/>
                </a:spcBef>
                <a:buFontTx/>
                <a:buNone/>
              </a:pPr>
              <a:t>13</a:t>
            </a:fld>
            <a:endParaRPr lang="en-US" altLang="en-US" sz="1400"/>
          </a:p>
        </p:txBody>
      </p:sp>
      <p:pic>
        <p:nvPicPr>
          <p:cNvPr id="19460"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09600" y="762000"/>
            <a:ext cx="7924800" cy="367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61" name="Rectangle 7"/>
          <p:cNvSpPr>
            <a:spLocks noChangeArrowheads="1"/>
          </p:cNvSpPr>
          <p:nvPr/>
        </p:nvSpPr>
        <p:spPr bwMode="auto">
          <a:xfrm rot="10800000" flipV="1">
            <a:off x="533400" y="4648200"/>
            <a:ext cx="8153400" cy="1169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r>
              <a:rPr lang="en-US" altLang="en-US" sz="1800" b="1">
                <a:solidFill>
                  <a:srgbClr val="000000"/>
                </a:solidFill>
                <a:ea typeface="MS PGothic" panose="020B0600070205080204" pitchFamily="34" charset="-128"/>
              </a:rPr>
              <a:t>(figure 4.3) </a:t>
            </a:r>
          </a:p>
          <a:p>
            <a:pPr>
              <a:spcBef>
                <a:spcPct val="0"/>
              </a:spcBef>
              <a:buFontTx/>
              <a:buNone/>
            </a:pPr>
            <a:r>
              <a:rPr lang="en-US" altLang="en-US" sz="1800">
                <a:solidFill>
                  <a:srgbClr val="000000"/>
                </a:solidFill>
                <a:ea typeface="MS PGothic" panose="020B0600070205080204" pitchFamily="34" charset="-128"/>
              </a:rPr>
              <a:t>A typical thread changes states from READY to FINISHED as it moves through the system.</a:t>
            </a:r>
            <a:br>
              <a:rPr lang="en-US" altLang="en-US" sz="1800">
                <a:solidFill>
                  <a:srgbClr val="000000"/>
                </a:solidFill>
                <a:ea typeface="MS PGothic" panose="020B0600070205080204" pitchFamily="34" charset="-128"/>
              </a:rPr>
            </a:br>
            <a:r>
              <a:rPr lang="en-US" altLang="en-US" sz="1600" i="1">
                <a:solidFill>
                  <a:srgbClr val="000000"/>
                </a:solidFill>
                <a:ea typeface="MS PGothic" panose="020B0600070205080204" pitchFamily="34" charset="-128"/>
              </a:rPr>
              <a:t>© Cengage Learning 2014</a:t>
            </a:r>
            <a:endParaRPr lang="en-US" altLang="en-US" sz="2400" i="1">
              <a:solidFill>
                <a:srgbClr val="000000"/>
              </a:solidFill>
              <a:ea typeface="MS PGothic" panose="020B0600070205080204" pitchFamily="34" charset="-128"/>
            </a:endParaRPr>
          </a:p>
        </p:txBody>
      </p:sp>
    </p:spTree>
  </p:cSld>
  <p:clrMapOvr>
    <a:masterClrMapping/>
  </p:clrMapOvr>
  <p:transition spd="slow"/>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p:cNvSpPr>
            <a:spLocks noGrp="1"/>
          </p:cNvSpPr>
          <p:nvPr>
            <p:ph type="title"/>
          </p:nvPr>
        </p:nvSpPr>
        <p:spPr>
          <a:xfrm>
            <a:off x="533400" y="381000"/>
            <a:ext cx="8077200" cy="762000"/>
          </a:xfrm>
        </p:spPr>
        <p:txBody>
          <a:bodyPr/>
          <a:lstStyle/>
          <a:p>
            <a:r>
              <a:rPr lang="en-US" altLang="en-US"/>
              <a:t>Thread States (cont’d.)</a:t>
            </a:r>
          </a:p>
        </p:txBody>
      </p:sp>
      <p:sp>
        <p:nvSpPr>
          <p:cNvPr id="21507" name="Content Placeholder 2"/>
          <p:cNvSpPr>
            <a:spLocks noGrp="1"/>
          </p:cNvSpPr>
          <p:nvPr>
            <p:ph idx="1"/>
          </p:nvPr>
        </p:nvSpPr>
        <p:spPr>
          <a:xfrm>
            <a:off x="533400" y="1219200"/>
            <a:ext cx="8077200" cy="5029200"/>
          </a:xfrm>
        </p:spPr>
        <p:txBody>
          <a:bodyPr/>
          <a:lstStyle/>
          <a:p>
            <a:r>
              <a:rPr lang="en-US" altLang="en-US" sz="2400"/>
              <a:t>Thread transitions</a:t>
            </a:r>
          </a:p>
          <a:p>
            <a:pPr lvl="1"/>
            <a:r>
              <a:rPr lang="en-US" altLang="en-US" sz="2400"/>
              <a:t>Application creates a thread: placed in READY queue</a:t>
            </a:r>
          </a:p>
          <a:p>
            <a:pPr lvl="1"/>
            <a:endParaRPr lang="en-US" altLang="en-US" sz="2400"/>
          </a:p>
          <a:p>
            <a:pPr lvl="1"/>
            <a:r>
              <a:rPr lang="en-US" altLang="en-US" sz="2400"/>
              <a:t>READY to RUNNING: </a:t>
            </a:r>
            <a:r>
              <a:rPr lang="en-US" altLang="en-US" sz="2400" i="1"/>
              <a:t>Process Scheduler</a:t>
            </a:r>
            <a:r>
              <a:rPr lang="en-US" altLang="en-US" sz="2400"/>
              <a:t>  assigns it to a processor</a:t>
            </a:r>
          </a:p>
          <a:p>
            <a:pPr lvl="1"/>
            <a:endParaRPr lang="en-US" altLang="en-US" sz="2400"/>
          </a:p>
          <a:p>
            <a:pPr lvl="1"/>
            <a:r>
              <a:rPr lang="en-US" altLang="en-US" sz="2400"/>
              <a:t>RUNNING to WAITING: when dependent on an outside event, e.g., mouse click, or waiting for another thread to finish</a:t>
            </a:r>
          </a:p>
          <a:p>
            <a:pPr lvl="1"/>
            <a:r>
              <a:rPr lang="en-US" altLang="en-US" sz="2400"/>
              <a:t>WAITING to READY: outside event occurs or previous thread finishes</a:t>
            </a:r>
          </a:p>
        </p:txBody>
      </p:sp>
      <p:sp>
        <p:nvSpPr>
          <p:cNvPr id="21508"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21509"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20DF855D-EF1B-47A7-8E6F-AA8181F7A766}" type="slidenum">
              <a:rPr lang="en-US" altLang="en-US" sz="1400" smtClean="0"/>
              <a:pPr algn="ctr">
                <a:spcBef>
                  <a:spcPct val="0"/>
                </a:spcBef>
                <a:buFontTx/>
                <a:buNone/>
              </a:pPr>
              <a:t>14</a:t>
            </a:fld>
            <a:endParaRPr lang="en-US" altLang="en-US" sz="1400"/>
          </a:p>
        </p:txBody>
      </p:sp>
    </p:spTree>
  </p:cSld>
  <p:clrMapOvr>
    <a:masterClrMapping/>
  </p:clrMapOvr>
  <p:transition spd="slow"/>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p:cNvSpPr>
            <a:spLocks noGrp="1"/>
          </p:cNvSpPr>
          <p:nvPr>
            <p:ph type="title"/>
          </p:nvPr>
        </p:nvSpPr>
        <p:spPr>
          <a:xfrm>
            <a:off x="533400" y="381000"/>
            <a:ext cx="8077200" cy="762000"/>
          </a:xfrm>
        </p:spPr>
        <p:txBody>
          <a:bodyPr/>
          <a:lstStyle/>
          <a:p>
            <a:r>
              <a:rPr lang="en-US" altLang="en-US"/>
              <a:t>Thread States (cont’d.)</a:t>
            </a:r>
          </a:p>
        </p:txBody>
      </p:sp>
      <p:sp>
        <p:nvSpPr>
          <p:cNvPr id="23555" name="Content Placeholder 2"/>
          <p:cNvSpPr>
            <a:spLocks noGrp="1"/>
          </p:cNvSpPr>
          <p:nvPr>
            <p:ph idx="1"/>
          </p:nvPr>
        </p:nvSpPr>
        <p:spPr>
          <a:xfrm>
            <a:off x="533400" y="1371600"/>
            <a:ext cx="8077200" cy="4876800"/>
          </a:xfrm>
        </p:spPr>
        <p:txBody>
          <a:bodyPr/>
          <a:lstStyle/>
          <a:p>
            <a:r>
              <a:rPr lang="en-US" altLang="en-US" sz="2400"/>
              <a:t>Thread transitions (cont’d.)</a:t>
            </a:r>
          </a:p>
          <a:p>
            <a:pPr lvl="1"/>
            <a:r>
              <a:rPr lang="en-US" altLang="en-US" sz="2400"/>
              <a:t>RUNNING to DELAYED: application that delays thread processing by specified amount of time</a:t>
            </a:r>
          </a:p>
          <a:p>
            <a:pPr lvl="1"/>
            <a:r>
              <a:rPr lang="en-US" altLang="en-US" sz="2400"/>
              <a:t>DELAYED to READY: prescribed time elapsed</a:t>
            </a:r>
          </a:p>
          <a:p>
            <a:pPr lvl="1"/>
            <a:endParaRPr lang="en-US" altLang="en-US" sz="2400"/>
          </a:p>
          <a:p>
            <a:pPr lvl="1"/>
            <a:r>
              <a:rPr lang="en-US" altLang="en-US" sz="2400"/>
              <a:t>RUNNING to BLOCKED: I/O request issued</a:t>
            </a:r>
          </a:p>
          <a:p>
            <a:pPr lvl="1"/>
            <a:r>
              <a:rPr lang="en-US" altLang="en-US" sz="2400"/>
              <a:t>BLOCKED to RUNNING: I/O completed</a:t>
            </a:r>
          </a:p>
          <a:p>
            <a:pPr lvl="1"/>
            <a:endParaRPr lang="en-US" altLang="en-US" sz="2400"/>
          </a:p>
          <a:p>
            <a:pPr lvl="1"/>
            <a:r>
              <a:rPr lang="en-US" altLang="en-US" sz="2400"/>
              <a:t>RUNNING to FINISHED: exit or termination</a:t>
            </a:r>
          </a:p>
          <a:p>
            <a:pPr lvl="2"/>
            <a:r>
              <a:rPr lang="en-US" altLang="en-US"/>
              <a:t>All resources released</a:t>
            </a:r>
          </a:p>
        </p:txBody>
      </p:sp>
      <p:sp>
        <p:nvSpPr>
          <p:cNvPr id="23556" name="Footer Placeholder 3"/>
          <p:cNvSpPr>
            <a:spLocks noGrp="1"/>
          </p:cNvSpPr>
          <p:nvPr>
            <p:ph type="ftr" sz="quarter" idx="11"/>
          </p:nvPr>
        </p:nvSpPr>
        <p:spPr>
          <a:xfrm>
            <a:off x="457200" y="6245225"/>
            <a:ext cx="2133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l">
              <a:spcBef>
                <a:spcPct val="0"/>
              </a:spcBef>
              <a:buFontTx/>
              <a:buNone/>
            </a:pPr>
            <a:r>
              <a:rPr lang="en-US" altLang="en-US" sz="1400"/>
              <a:t>Understanding Operating Systems</a:t>
            </a:r>
          </a:p>
        </p:txBody>
      </p:sp>
      <p:sp>
        <p:nvSpPr>
          <p:cNvPr id="23557" name="Slide Number Placeholder 4"/>
          <p:cNvSpPr>
            <a:spLocks noGrp="1"/>
          </p:cNvSpPr>
          <p:nvPr>
            <p:ph type="sldNum" sz="quarter" idx="12"/>
          </p:nvPr>
        </p:nvSpPr>
        <p:spPr>
          <a:xfrm>
            <a:off x="3124200" y="6245225"/>
            <a:ext cx="2895600" cy="476250"/>
          </a:xfrm>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lgn="ctr">
              <a:spcBef>
                <a:spcPct val="0"/>
              </a:spcBef>
              <a:buFontTx/>
              <a:buNone/>
            </a:pPr>
            <a:fld id="{A521445B-6FCC-43BC-BB97-C8D34A4CA31F}" type="slidenum">
              <a:rPr lang="en-US" altLang="en-US" sz="1400" smtClean="0"/>
              <a:pPr algn="ctr">
                <a:spcBef>
                  <a:spcPct val="0"/>
                </a:spcBef>
                <a:buFontTx/>
                <a:buNone/>
              </a:pPr>
              <a:t>15</a:t>
            </a:fld>
            <a:endParaRPr lang="en-US" altLang="en-US" sz="1400"/>
          </a:p>
        </p:txBody>
      </p:sp>
    </p:spTree>
  </p:cSld>
  <p:clrMapOvr>
    <a:masterClrMapping/>
  </p:clrMapOvr>
  <p:transition spd="slow"/>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p:txBody>
          <a:bodyPr/>
          <a:lstStyle/>
          <a:p>
            <a:pPr eaLnBrk="1" hangingPunct="1"/>
            <a:r>
              <a:rPr lang="en-US" altLang="en-US"/>
              <a:t>Programming Preliminaries</a:t>
            </a:r>
          </a:p>
        </p:txBody>
      </p:sp>
      <p:sp>
        <p:nvSpPr>
          <p:cNvPr id="25603" name="Rectangle 3"/>
          <p:cNvSpPr>
            <a:spLocks noGrp="1" noChangeArrowheads="1"/>
          </p:cNvSpPr>
          <p:nvPr>
            <p:ph type="body" idx="1"/>
          </p:nvPr>
        </p:nvSpPr>
        <p:spPr/>
        <p:txBody>
          <a:bodyPr/>
          <a:lstStyle/>
          <a:p>
            <a:pPr eaLnBrk="1" hangingPunct="1"/>
            <a:r>
              <a:rPr lang="en-US" altLang="en-US"/>
              <a:t>Include </a:t>
            </a:r>
            <a:r>
              <a:rPr lang="en-US" altLang="en-US">
                <a:latin typeface="Courier New" panose="02070309020205020404" pitchFamily="49" charset="0"/>
              </a:rPr>
              <a:t>pthread.h</a:t>
            </a:r>
            <a:r>
              <a:rPr lang="en-US" altLang="en-US"/>
              <a:t> in the main file</a:t>
            </a:r>
          </a:p>
          <a:p>
            <a:pPr eaLnBrk="1" hangingPunct="1"/>
            <a:r>
              <a:rPr lang="en-US" altLang="en-US"/>
              <a:t>Compile program with </a:t>
            </a:r>
            <a:r>
              <a:rPr lang="en-US" altLang="en-US">
                <a:latin typeface="Courier New" panose="02070309020205020404" pitchFamily="49" charset="0"/>
              </a:rPr>
              <a:t>–lpthread</a:t>
            </a:r>
          </a:p>
          <a:p>
            <a:pPr lvl="1" eaLnBrk="1" hangingPunct="1"/>
            <a:r>
              <a:rPr lang="en-US" altLang="en-US">
                <a:latin typeface="Courier New" panose="02070309020205020404" pitchFamily="49" charset="0"/>
              </a:rPr>
              <a:t>gcc –o test test.c –lpthread</a:t>
            </a:r>
          </a:p>
          <a:p>
            <a:pPr lvl="1" eaLnBrk="1" hangingPunct="1"/>
            <a:r>
              <a:rPr lang="en-US" altLang="en-US"/>
              <a:t>may not report compilation errors otherwise but calls will fail</a:t>
            </a:r>
          </a:p>
          <a:p>
            <a:pPr eaLnBrk="1" hangingPunct="1"/>
            <a:r>
              <a:rPr lang="en-US" altLang="en-US"/>
              <a:t>Good idea to check return values on common functions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4"/>
          <p:cNvSpPr>
            <a:spLocks noGrp="1"/>
          </p:cNvSpPr>
          <p:nvPr>
            <p:ph type="title"/>
          </p:nvPr>
        </p:nvSpPr>
        <p:spPr/>
        <p:txBody>
          <a:bodyPr/>
          <a:lstStyle/>
          <a:p>
            <a:pPr eaLnBrk="1" hangingPunct="1"/>
            <a:r>
              <a:rPr lang="en-IE" altLang="en-US"/>
              <a:t>Creating Threads: </a:t>
            </a:r>
          </a:p>
        </p:txBody>
      </p:sp>
      <p:sp>
        <p:nvSpPr>
          <p:cNvPr id="26627" name="Content Placeholder 5"/>
          <p:cNvSpPr>
            <a:spLocks noGrp="1"/>
          </p:cNvSpPr>
          <p:nvPr>
            <p:ph idx="1"/>
          </p:nvPr>
        </p:nvSpPr>
        <p:spPr/>
        <p:txBody>
          <a:bodyPr/>
          <a:lstStyle/>
          <a:p>
            <a:pPr eaLnBrk="1" hangingPunct="1"/>
            <a:r>
              <a:rPr lang="en-IE" altLang="en-US"/>
              <a:t>Initially, your main() program comprises a single, default thread. All other threads must be explicitly created by the programmer. </a:t>
            </a:r>
          </a:p>
          <a:p>
            <a:pPr eaLnBrk="1" hangingPunct="1"/>
            <a:r>
              <a:rPr lang="en-IE" altLang="en-US"/>
              <a:t>pthread_create creates a new thread and makes it executable. This routine can be called any number of times from anywhere within your code.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eaLnBrk="1" hangingPunct="1"/>
            <a:r>
              <a:rPr lang="en-US" altLang="en-US"/>
              <a:t>Thread creation</a:t>
            </a:r>
          </a:p>
        </p:txBody>
      </p:sp>
      <p:sp>
        <p:nvSpPr>
          <p:cNvPr id="27651" name="Rectangle 3"/>
          <p:cNvSpPr>
            <a:spLocks noGrp="1" noChangeArrowheads="1"/>
          </p:cNvSpPr>
          <p:nvPr>
            <p:ph type="body" idx="1"/>
          </p:nvPr>
        </p:nvSpPr>
        <p:spPr>
          <a:xfrm>
            <a:off x="0" y="1676400"/>
            <a:ext cx="8839200" cy="4876800"/>
          </a:xfrm>
        </p:spPr>
        <p:txBody>
          <a:bodyPr/>
          <a:lstStyle/>
          <a:p>
            <a:pPr eaLnBrk="1" hangingPunct="1">
              <a:lnSpc>
                <a:spcPct val="80000"/>
              </a:lnSpc>
            </a:pPr>
            <a:r>
              <a:rPr lang="en-US" altLang="en-US" sz="2000"/>
              <a:t>Types: </a:t>
            </a:r>
            <a:r>
              <a:rPr lang="en-US" altLang="en-US" sz="2000">
                <a:latin typeface="Courier New" panose="02070309020205020404" pitchFamily="49" charset="0"/>
              </a:rPr>
              <a:t>pthread_t</a:t>
            </a:r>
            <a:r>
              <a:rPr lang="en-US" altLang="en-US" sz="2000"/>
              <a:t> –data type  ( thread)</a:t>
            </a:r>
          </a:p>
          <a:p>
            <a:pPr eaLnBrk="1" hangingPunct="1">
              <a:lnSpc>
                <a:spcPct val="80000"/>
              </a:lnSpc>
            </a:pPr>
            <a:r>
              <a:rPr lang="en-US" altLang="en-US" sz="2000"/>
              <a:t>Some calls:</a:t>
            </a:r>
          </a:p>
          <a:p>
            <a:pPr lvl="1" eaLnBrk="1" hangingPunct="1">
              <a:lnSpc>
                <a:spcPct val="80000"/>
              </a:lnSpc>
              <a:buFontTx/>
              <a:buNone/>
            </a:pPr>
            <a:r>
              <a:rPr lang="en-US" altLang="en-US" sz="1600" b="1">
                <a:latin typeface="Courier New" panose="02070309020205020404" pitchFamily="49" charset="0"/>
              </a:rPr>
              <a:t>int pthread_create(pthread_t *thread, </a:t>
            </a:r>
          </a:p>
          <a:p>
            <a:pPr lvl="1" eaLnBrk="1" hangingPunct="1">
              <a:lnSpc>
                <a:spcPct val="80000"/>
              </a:lnSpc>
              <a:buFontTx/>
              <a:buNone/>
            </a:pPr>
            <a:r>
              <a:rPr lang="en-US" altLang="en-US" sz="1600" b="1">
                <a:latin typeface="Courier New" panose="02070309020205020404" pitchFamily="49" charset="0"/>
              </a:rPr>
              <a:t>				   pthread_attr_t *attr, </a:t>
            </a:r>
          </a:p>
          <a:p>
            <a:pPr lvl="1" eaLnBrk="1" hangingPunct="1">
              <a:lnSpc>
                <a:spcPct val="80000"/>
              </a:lnSpc>
              <a:buFontTx/>
              <a:buNone/>
            </a:pPr>
            <a:r>
              <a:rPr lang="en-US" altLang="en-US" sz="1600" b="1">
                <a:latin typeface="Courier New" panose="02070309020205020404" pitchFamily="49" charset="0"/>
              </a:rPr>
              <a:t>				   *start_routine, </a:t>
            </a:r>
          </a:p>
          <a:p>
            <a:pPr lvl="1" eaLnBrk="1" hangingPunct="1">
              <a:lnSpc>
                <a:spcPct val="80000"/>
              </a:lnSpc>
              <a:buFontTx/>
              <a:buNone/>
            </a:pPr>
            <a:r>
              <a:rPr lang="en-US" altLang="en-US" sz="1600" b="1">
                <a:latin typeface="Courier New" panose="02070309020205020404" pitchFamily="49" charset="0"/>
              </a:rPr>
              <a:t>				   void *arg);</a:t>
            </a:r>
          </a:p>
          <a:p>
            <a:pPr lvl="1" eaLnBrk="1" hangingPunct="1">
              <a:lnSpc>
                <a:spcPct val="80000"/>
              </a:lnSpc>
              <a:buFontTx/>
              <a:buNone/>
            </a:pPr>
            <a:endParaRPr lang="en-US" altLang="en-US" sz="1600">
              <a:latin typeface="Courier New" panose="02070309020205020404" pitchFamily="49" charset="0"/>
            </a:endParaRPr>
          </a:p>
          <a:p>
            <a:pPr lvl="1" eaLnBrk="1" hangingPunct="1">
              <a:lnSpc>
                <a:spcPct val="80000"/>
              </a:lnSpc>
              <a:buFontTx/>
              <a:buNone/>
            </a:pPr>
            <a:r>
              <a:rPr lang="en-US" altLang="en-US" sz="1600">
                <a:latin typeface="Courier New" panose="02070309020205020404" pitchFamily="49" charset="0"/>
              </a:rPr>
              <a:t>void </a:t>
            </a:r>
            <a:r>
              <a:rPr lang="en-US" altLang="en-US" sz="1600" b="1">
                <a:latin typeface="Courier New" panose="02070309020205020404" pitchFamily="49" charset="0"/>
              </a:rPr>
              <a:t>pthread_exit</a:t>
            </a:r>
            <a:r>
              <a:rPr lang="en-US" altLang="en-US" sz="1600">
                <a:latin typeface="Courier New" panose="02070309020205020404" pitchFamily="49" charset="0"/>
              </a:rPr>
              <a:t>();</a:t>
            </a:r>
          </a:p>
          <a:p>
            <a:pPr lvl="1" eaLnBrk="1" hangingPunct="1">
              <a:lnSpc>
                <a:spcPct val="80000"/>
              </a:lnSpc>
            </a:pPr>
            <a:endParaRPr lang="en-US" altLang="en-US" sz="1800"/>
          </a:p>
          <a:p>
            <a:pPr lvl="1" eaLnBrk="1" hangingPunct="1">
              <a:lnSpc>
                <a:spcPct val="80000"/>
              </a:lnSpc>
            </a:pPr>
            <a:endParaRPr lang="en-US" altLang="en-US" sz="1800"/>
          </a:p>
          <a:p>
            <a:pPr lvl="1" eaLnBrk="1" hangingPunct="1">
              <a:lnSpc>
                <a:spcPct val="80000"/>
              </a:lnSpc>
            </a:pPr>
            <a:r>
              <a:rPr lang="en-US" altLang="en-US" sz="1800"/>
              <a:t>No explicit parent/child model, except main thread holds process info</a:t>
            </a:r>
          </a:p>
          <a:p>
            <a:pPr lvl="1" eaLnBrk="1" hangingPunct="1">
              <a:lnSpc>
                <a:spcPct val="80000"/>
              </a:lnSpc>
            </a:pPr>
            <a:r>
              <a:rPr lang="en-US" altLang="en-US" sz="1800"/>
              <a:t>Call </a:t>
            </a:r>
            <a:r>
              <a:rPr lang="en-US" altLang="en-US" sz="1800">
                <a:latin typeface="Courier New" panose="02070309020205020404" pitchFamily="49" charset="0"/>
              </a:rPr>
              <a:t>pthread_exit</a:t>
            </a:r>
            <a:r>
              <a:rPr lang="en-US" altLang="en-US" sz="1800"/>
              <a:t> in main, don’t just fall through;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itle 1"/>
          <p:cNvSpPr>
            <a:spLocks noGrp="1"/>
          </p:cNvSpPr>
          <p:nvPr>
            <p:ph type="title"/>
          </p:nvPr>
        </p:nvSpPr>
        <p:spPr>
          <a:xfrm>
            <a:off x="457200" y="274638"/>
            <a:ext cx="8229600" cy="868362"/>
          </a:xfrm>
        </p:spPr>
        <p:txBody>
          <a:bodyPr/>
          <a:lstStyle/>
          <a:p>
            <a:pPr eaLnBrk="1" hangingPunct="1"/>
            <a:r>
              <a:rPr lang="en-IE" altLang="en-US"/>
              <a:t>pthread_create arguments: </a:t>
            </a:r>
          </a:p>
        </p:txBody>
      </p:sp>
      <p:sp>
        <p:nvSpPr>
          <p:cNvPr id="28675" name="Content Placeholder 2"/>
          <p:cNvSpPr>
            <a:spLocks noGrp="1"/>
          </p:cNvSpPr>
          <p:nvPr>
            <p:ph idx="1"/>
          </p:nvPr>
        </p:nvSpPr>
        <p:spPr>
          <a:xfrm>
            <a:off x="457200" y="1219200"/>
            <a:ext cx="8229600" cy="4525963"/>
          </a:xfrm>
        </p:spPr>
        <p:txBody>
          <a:bodyPr/>
          <a:lstStyle/>
          <a:p>
            <a:pPr lvl="1" eaLnBrk="1" hangingPunct="1"/>
            <a:r>
              <a:rPr lang="en-IE" altLang="en-US" sz="2400" b="1"/>
              <a:t>*thread</a:t>
            </a:r>
            <a:r>
              <a:rPr lang="en-IE" altLang="en-US" sz="2400"/>
              <a:t>: A unique identifier (pointer) for the new thread returned by the subroutine. </a:t>
            </a:r>
          </a:p>
          <a:p>
            <a:pPr lvl="1" eaLnBrk="1" hangingPunct="1"/>
            <a:r>
              <a:rPr lang="en-IE" altLang="en-US" sz="2400" b="1"/>
              <a:t>attr</a:t>
            </a:r>
            <a:r>
              <a:rPr lang="en-IE" altLang="en-US" sz="2400"/>
              <a:t>: An attribute object that may be used to set thread attributes (joinable, detach, stack size…). You can specify a thread attributes object, or NULL for the default values. (more detail here </a:t>
            </a:r>
            <a:r>
              <a:rPr lang="en-IE" altLang="en-US" sz="2400">
                <a:hlinkClick r:id="rId2"/>
              </a:rPr>
              <a:t>thread_attributes</a:t>
            </a:r>
            <a:r>
              <a:rPr lang="en-IE" altLang="en-US" sz="2400"/>
              <a:t>)</a:t>
            </a:r>
          </a:p>
          <a:p>
            <a:pPr lvl="1" eaLnBrk="1" hangingPunct="1"/>
            <a:r>
              <a:rPr lang="en-IE" altLang="en-US" sz="2400" b="1"/>
              <a:t>*start_routine</a:t>
            </a:r>
            <a:r>
              <a:rPr lang="en-IE" altLang="en-US" sz="2400"/>
              <a:t>: the C routine that the thread will execute once it is created. </a:t>
            </a:r>
          </a:p>
          <a:p>
            <a:pPr lvl="1" eaLnBrk="1" hangingPunct="1"/>
            <a:r>
              <a:rPr lang="en-IE" altLang="en-US" sz="2400" b="1"/>
              <a:t>arg</a:t>
            </a:r>
            <a:r>
              <a:rPr lang="en-IE" altLang="en-US" sz="2400"/>
              <a:t>: A single argument that may be passed to </a:t>
            </a:r>
            <a:r>
              <a:rPr lang="en-IE" altLang="en-US" sz="2400" i="1"/>
              <a:t>start_routine</a:t>
            </a:r>
            <a:r>
              <a:rPr lang="en-IE" altLang="en-US" sz="2400"/>
              <a:t>. It must be passed by reference as a pointer cast of type void. NULL may be used if no argument is to be passed. Be aware that this single argument can also be an array of arguments (but this is still only a pointer </a:t>
            </a:r>
          </a:p>
          <a:p>
            <a:pPr eaLnBrk="1" hangingPunct="1"/>
            <a:endParaRPr lang="en-IE" altLang="en-US"/>
          </a:p>
          <a:p>
            <a:pPr eaLnBrk="1" hangingPunct="1"/>
            <a:endParaRPr lang="en-IE"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457200" y="274638"/>
            <a:ext cx="8229600" cy="792162"/>
          </a:xfrm>
        </p:spPr>
        <p:txBody>
          <a:bodyPr/>
          <a:lstStyle/>
          <a:p>
            <a:r>
              <a:rPr lang="en-IE" altLang="en-US" sz="3600"/>
              <a:t>Create Basic Thread example</a:t>
            </a:r>
          </a:p>
        </p:txBody>
      </p:sp>
      <p:pic>
        <p:nvPicPr>
          <p:cNvPr id="29699" name="Content Placeholder 2"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057400" y="1143000"/>
            <a:ext cx="5465763" cy="5514975"/>
          </a:xfr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274638"/>
            <a:ext cx="8229600" cy="792162"/>
          </a:xfrm>
        </p:spPr>
        <p:txBody>
          <a:bodyPr/>
          <a:lstStyle/>
          <a:p>
            <a:r>
              <a:rPr lang="en-IE" altLang="en-US"/>
              <a:t>Thread example 1 with pass int</a:t>
            </a:r>
          </a:p>
        </p:txBody>
      </p:sp>
      <p:pic>
        <p:nvPicPr>
          <p:cNvPr id="30723" name="Content Placeholder 3"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143000" y="1371600"/>
            <a:ext cx="7227888" cy="4887913"/>
          </a:xfr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p:txBody>
          <a:bodyPr/>
          <a:lstStyle/>
          <a:p>
            <a:r>
              <a:rPr lang="en-IE" altLang="en-US"/>
              <a:t>Modify Scheduling output</a:t>
            </a:r>
          </a:p>
        </p:txBody>
      </p:sp>
      <p:pic>
        <p:nvPicPr>
          <p:cNvPr id="31747" name="Content Placeholder 5" descr="denis.manley@apollo: ~/OS2/week7"/>
          <p:cNvPicPr>
            <a:picLocks noGrp="1" noChangeAspect="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7200" y="1682750"/>
            <a:ext cx="4038600" cy="4360863"/>
          </a:xfrm>
        </p:spPr>
      </p:pic>
      <p:pic>
        <p:nvPicPr>
          <p:cNvPr id="31748" name="Content Placeholder 7" descr="denis.manley@apollo: ~/OS2/week7"/>
          <p:cNvPicPr>
            <a:picLocks noGrp="1" noChangeAspect="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1682750"/>
            <a:ext cx="4038600" cy="4360863"/>
          </a:xfrm>
        </p:spPr>
      </p:pic>
      <p:sp>
        <p:nvSpPr>
          <p:cNvPr id="2" name="TextBox 1"/>
          <p:cNvSpPr txBox="1"/>
          <p:nvPr/>
        </p:nvSpPr>
        <p:spPr>
          <a:xfrm>
            <a:off x="838200" y="6324600"/>
            <a:ext cx="4495800" cy="369332"/>
          </a:xfrm>
          <a:prstGeom prst="rect">
            <a:avLst/>
          </a:prstGeom>
          <a:noFill/>
        </p:spPr>
        <p:txBody>
          <a:bodyPr wrap="square" rtlCol="0">
            <a:spAutoFit/>
          </a:bodyPr>
          <a:lstStyle/>
          <a:p>
            <a:r>
              <a:rPr lang="en-IE" dirty="0"/>
              <a:t>Delay creation of threads</a:t>
            </a:r>
          </a:p>
        </p:txBody>
      </p:sp>
      <p:cxnSp>
        <p:nvCxnSpPr>
          <p:cNvPr id="4" name="Straight Arrow Connector 3"/>
          <p:cNvCxnSpPr/>
          <p:nvPr/>
        </p:nvCxnSpPr>
        <p:spPr>
          <a:xfrm flipH="1" flipV="1">
            <a:off x="1447800" y="4876800"/>
            <a:ext cx="152400" cy="129540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9F10CDFF-9308-E684-8E43-D0E198A44FA7}"/>
              </a:ext>
            </a:extLst>
          </p:cNvPr>
          <p:cNvCxnSpPr/>
          <p:nvPr/>
        </p:nvCxnSpPr>
        <p:spPr>
          <a:xfrm flipH="1" flipV="1">
            <a:off x="1447800" y="4343400"/>
            <a:ext cx="838200" cy="20574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1"/>
          <p:cNvSpPr>
            <a:spLocks noGrp="1"/>
          </p:cNvSpPr>
          <p:nvPr>
            <p:ph type="title"/>
          </p:nvPr>
        </p:nvSpPr>
        <p:spPr>
          <a:xfrm>
            <a:off x="457200" y="274638"/>
            <a:ext cx="8229600" cy="715962"/>
          </a:xfrm>
        </p:spPr>
        <p:txBody>
          <a:bodyPr/>
          <a:lstStyle/>
          <a:p>
            <a:r>
              <a:rPr lang="en-IE" altLang="en-US" sz="3600"/>
              <a:t>Code to demonstrate shared memory</a:t>
            </a:r>
          </a:p>
        </p:txBody>
      </p:sp>
      <p:pic>
        <p:nvPicPr>
          <p:cNvPr id="32771" name="Content Placeholder 3"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600200" y="1295400"/>
            <a:ext cx="6134100" cy="5254625"/>
          </a:xfr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457200" y="274638"/>
            <a:ext cx="8229600" cy="715962"/>
          </a:xfrm>
        </p:spPr>
        <p:txBody>
          <a:bodyPr/>
          <a:lstStyle/>
          <a:p>
            <a:r>
              <a:rPr lang="en-IE" altLang="en-US" sz="3200"/>
              <a:t>Thread_1 unsafe pass pointer &amp;t and not t </a:t>
            </a:r>
          </a:p>
        </p:txBody>
      </p:sp>
      <p:pic>
        <p:nvPicPr>
          <p:cNvPr id="33795" name="Content Placeholder 3"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990600" y="1295400"/>
            <a:ext cx="7645400" cy="5170488"/>
          </a:xfr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44562"/>
          </a:xfrm>
        </p:spPr>
        <p:txBody>
          <a:bodyPr/>
          <a:lstStyle/>
          <a:p>
            <a:r>
              <a:rPr lang="en-IE" dirty="0"/>
              <a:t>Modify to delay thread creation</a:t>
            </a:r>
          </a:p>
        </p:txBody>
      </p:sp>
      <p:sp>
        <p:nvSpPr>
          <p:cNvPr id="3" name="Content Placeholder 2"/>
          <p:cNvSpPr>
            <a:spLocks noGrp="1"/>
          </p:cNvSpPr>
          <p:nvPr>
            <p:ph idx="1"/>
          </p:nvPr>
        </p:nvSpPr>
        <p:spPr/>
        <p:txBody>
          <a:bodyPr/>
          <a:lstStyle/>
          <a:p>
            <a:r>
              <a:rPr lang="en-IE" dirty="0"/>
              <a:t>Modify the unsafe code to delay the creation of threads: the delay time is input via command line: hint refer to modified safe code. </a:t>
            </a:r>
          </a:p>
          <a:p>
            <a:r>
              <a:rPr lang="en-IE" dirty="0"/>
              <a:t> </a:t>
            </a:r>
          </a:p>
          <a:p>
            <a:r>
              <a:rPr lang="en-IE" dirty="0"/>
              <a:t>Remove the delay code from within the thread. </a:t>
            </a:r>
          </a:p>
          <a:p>
            <a:r>
              <a:rPr lang="en-IE" dirty="0"/>
              <a:t>Refer to the following slide for code </a:t>
            </a:r>
          </a:p>
        </p:txBody>
      </p:sp>
    </p:spTree>
    <p:extLst>
      <p:ext uri="{BB962C8B-B14F-4D97-AF65-F5344CB8AC3E}">
        <p14:creationId xmlns:p14="http://schemas.microsoft.com/office/powerpoint/2010/main" val="76982666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lstStyle/>
          <a:p>
            <a:r>
              <a:rPr lang="en-IE" dirty="0"/>
              <a:t>Modified </a:t>
            </a:r>
            <a:r>
              <a:rPr lang="en-IE" dirty="0" err="1"/>
              <a:t>thread_unsafe.c</a:t>
            </a:r>
            <a:endParaRPr lang="en-IE" dirty="0"/>
          </a:p>
        </p:txBody>
      </p:sp>
      <p:pic>
        <p:nvPicPr>
          <p:cNvPr id="4" name="Content Placeholder 3" descr="denis.manley@soc-apollo: ~/OS2/week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00200" y="914401"/>
            <a:ext cx="5837510" cy="5749386"/>
          </a:xfrm>
        </p:spPr>
      </p:pic>
      <p:sp>
        <p:nvSpPr>
          <p:cNvPr id="5" name="TextBox 4"/>
          <p:cNvSpPr txBox="1"/>
          <p:nvPr/>
        </p:nvSpPr>
        <p:spPr>
          <a:xfrm>
            <a:off x="7696200" y="3505200"/>
            <a:ext cx="1295400" cy="646331"/>
          </a:xfrm>
          <a:prstGeom prst="rect">
            <a:avLst/>
          </a:prstGeom>
          <a:noFill/>
        </p:spPr>
        <p:txBody>
          <a:bodyPr wrap="square" rtlCol="0">
            <a:spAutoFit/>
          </a:bodyPr>
          <a:lstStyle/>
          <a:p>
            <a:r>
              <a:rPr lang="en-IE" dirty="0"/>
              <a:t>Slow processing</a:t>
            </a:r>
          </a:p>
        </p:txBody>
      </p:sp>
      <p:cxnSp>
        <p:nvCxnSpPr>
          <p:cNvPr id="7" name="Straight Arrow Connector 6"/>
          <p:cNvCxnSpPr/>
          <p:nvPr/>
        </p:nvCxnSpPr>
        <p:spPr>
          <a:xfrm flipH="1" flipV="1">
            <a:off x="3276600" y="3276600"/>
            <a:ext cx="44196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H="1" flipV="1">
            <a:off x="2438400" y="3124200"/>
            <a:ext cx="5562600" cy="3810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flipH="1">
            <a:off x="2971800" y="4151531"/>
            <a:ext cx="4800600" cy="9538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08096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228600" y="274638"/>
            <a:ext cx="8458200" cy="715962"/>
          </a:xfrm>
        </p:spPr>
        <p:txBody>
          <a:bodyPr/>
          <a:lstStyle/>
          <a:p>
            <a:r>
              <a:rPr lang="en-IE" altLang="en-US" sz="2800" dirty="0"/>
              <a:t>Modify Thread_1 unsafe .c  to delay thread creation</a:t>
            </a:r>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75884" y="1371600"/>
            <a:ext cx="6448915" cy="5189729"/>
          </a:xfrm>
        </p:spPr>
      </p:pic>
    </p:spTree>
    <p:extLst>
      <p:ext uri="{BB962C8B-B14F-4D97-AF65-F5344CB8AC3E}">
        <p14:creationId xmlns:p14="http://schemas.microsoft.com/office/powerpoint/2010/main" val="322804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GB" altLang="en-US" sz="3600"/>
              <a:t>A Warning of working with threads </a:t>
            </a:r>
            <a:endParaRPr lang="en-US" altLang="en-US" sz="3600"/>
          </a:p>
        </p:txBody>
      </p:sp>
      <p:sp>
        <p:nvSpPr>
          <p:cNvPr id="34819" name="Rectangle 3"/>
          <p:cNvSpPr>
            <a:spLocks noGrp="1" noChangeArrowheads="1"/>
          </p:cNvSpPr>
          <p:nvPr>
            <p:ph type="body" idx="1"/>
          </p:nvPr>
        </p:nvSpPr>
        <p:spPr>
          <a:xfrm>
            <a:off x="533400" y="1143000"/>
            <a:ext cx="8229600" cy="5410200"/>
          </a:xfrm>
        </p:spPr>
        <p:txBody>
          <a:bodyPr/>
          <a:lstStyle/>
          <a:p>
            <a:pPr eaLnBrk="1" hangingPunct="1">
              <a:lnSpc>
                <a:spcPct val="90000"/>
              </a:lnSpc>
            </a:pPr>
            <a:r>
              <a:rPr lang="en-US" altLang="en-US" sz="2400" dirty="0"/>
              <a:t>For example, if a thread closes a file, the file is closed for all threads </a:t>
            </a:r>
          </a:p>
          <a:p>
            <a:pPr eaLnBrk="1" hangingPunct="1">
              <a:lnSpc>
                <a:spcPct val="90000"/>
              </a:lnSpc>
            </a:pPr>
            <a:endParaRPr lang="en-US" altLang="en-US" dirty="0"/>
          </a:p>
          <a:p>
            <a:pPr eaLnBrk="1" hangingPunct="1">
              <a:lnSpc>
                <a:spcPct val="90000"/>
              </a:lnSpc>
            </a:pPr>
            <a:r>
              <a:rPr lang="en-US" altLang="en-US" sz="2400" dirty="0"/>
              <a:t>If the </a:t>
            </a:r>
            <a:r>
              <a:rPr lang="en-US" altLang="en-US" sz="2400" dirty="0" err="1"/>
              <a:t>arg</a:t>
            </a:r>
            <a:r>
              <a:rPr lang="en-US" altLang="en-US" sz="2400" dirty="0"/>
              <a:t> passed in the create function does not take into account the data is shared between threads it may result in </a:t>
            </a:r>
            <a:r>
              <a:rPr lang="en-US" altLang="en-US" sz="2400" dirty="0" err="1"/>
              <a:t>unforessen</a:t>
            </a:r>
            <a:r>
              <a:rPr lang="en-US" altLang="en-US" sz="2400" dirty="0"/>
              <a:t> errors: </a:t>
            </a:r>
          </a:p>
          <a:p>
            <a:pPr lvl="1" eaLnBrk="1" hangingPunct="1">
              <a:lnSpc>
                <a:spcPct val="90000"/>
              </a:lnSpc>
            </a:pPr>
            <a:r>
              <a:rPr lang="en-US" altLang="en-US" sz="2200" dirty="0"/>
              <a:t>see </a:t>
            </a:r>
            <a:r>
              <a:rPr lang="en-US" altLang="en-US" sz="2200" b="1" dirty="0" err="1"/>
              <a:t>thread_unsafe.c</a:t>
            </a:r>
            <a:endParaRPr lang="en-US" altLang="en-US" sz="2200" b="1" dirty="0"/>
          </a:p>
          <a:p>
            <a:pPr eaLnBrk="1" hangingPunct="1">
              <a:lnSpc>
                <a:spcPct val="90000"/>
              </a:lnSpc>
            </a:pPr>
            <a:endParaRPr lang="en-GB" altLang="en-US" sz="2200" dirty="0"/>
          </a:p>
          <a:p>
            <a:pPr lvl="1" eaLnBrk="1" hangingPunct="1">
              <a:lnSpc>
                <a:spcPct val="90000"/>
              </a:lnSpc>
            </a:pPr>
            <a:r>
              <a:rPr lang="en-GB" altLang="en-US" sz="2200" dirty="0"/>
              <a:t>In this example the variable t is passed by reference and its is data common to each thread so the “by reference” can change its value so it could lead to problems. </a:t>
            </a:r>
          </a:p>
          <a:p>
            <a:pPr lvl="1" eaLnBrk="1" hangingPunct="1">
              <a:lnSpc>
                <a:spcPct val="90000"/>
              </a:lnSpc>
            </a:pPr>
            <a:r>
              <a:rPr lang="en-GB" altLang="en-US" sz="2200" b="1" dirty="0" err="1"/>
              <a:t>rc</a:t>
            </a:r>
            <a:r>
              <a:rPr lang="en-GB" altLang="en-US" sz="2200" b="1" dirty="0"/>
              <a:t> = </a:t>
            </a:r>
            <a:r>
              <a:rPr lang="en-GB" altLang="en-US" sz="2200" b="1" dirty="0" err="1"/>
              <a:t>pthread_create</a:t>
            </a:r>
            <a:r>
              <a:rPr lang="en-GB" altLang="en-US" sz="2200" b="1" dirty="0"/>
              <a:t>(&amp;threads[t], NULL, </a:t>
            </a:r>
            <a:r>
              <a:rPr lang="en-GB" altLang="en-US" sz="2200" b="1" dirty="0" err="1"/>
              <a:t>PrintHello</a:t>
            </a:r>
            <a:r>
              <a:rPr lang="en-GB" altLang="en-US" sz="2200" b="1" dirty="0"/>
              <a:t>, (void *) &amp;t);</a:t>
            </a:r>
          </a:p>
          <a:p>
            <a:pPr lvl="1" eaLnBrk="1" hangingPunct="1">
              <a:lnSpc>
                <a:spcPct val="90000"/>
              </a:lnSpc>
            </a:pPr>
            <a:r>
              <a:rPr lang="en-GB" altLang="en-US" sz="2200" i="1" dirty="0"/>
              <a:t>The &amp;t refers to t and t is a shared variable</a:t>
            </a:r>
            <a:endParaRPr lang="en-US" altLang="en-US" sz="2200" i="1"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itle 1"/>
          <p:cNvSpPr>
            <a:spLocks noGrp="1"/>
          </p:cNvSpPr>
          <p:nvPr>
            <p:ph type="title"/>
          </p:nvPr>
        </p:nvSpPr>
        <p:spPr/>
        <p:txBody>
          <a:bodyPr/>
          <a:lstStyle/>
          <a:p>
            <a:pPr eaLnBrk="1" hangingPunct="1"/>
            <a:r>
              <a:rPr lang="en-IE" altLang="en-US"/>
              <a:t>Illustration of thread join</a:t>
            </a:r>
          </a:p>
        </p:txBody>
      </p:sp>
      <p:pic>
        <p:nvPicPr>
          <p:cNvPr id="35843"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76313" y="2633663"/>
            <a:ext cx="7191375" cy="2457450"/>
          </a:xfrm>
          <a:noFill/>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Title 1"/>
          <p:cNvSpPr>
            <a:spLocks noGrp="1"/>
          </p:cNvSpPr>
          <p:nvPr>
            <p:ph type="title"/>
          </p:nvPr>
        </p:nvSpPr>
        <p:spPr>
          <a:xfrm>
            <a:off x="457200" y="274638"/>
            <a:ext cx="8229600" cy="868362"/>
          </a:xfrm>
        </p:spPr>
        <p:txBody>
          <a:bodyPr/>
          <a:lstStyle/>
          <a:p>
            <a:r>
              <a:rPr lang="en-IE" altLang="en-US"/>
              <a:t>Thread join (with two threads)</a:t>
            </a:r>
          </a:p>
        </p:txBody>
      </p:sp>
      <p:pic>
        <p:nvPicPr>
          <p:cNvPr id="36867"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700213" y="1524000"/>
            <a:ext cx="5843587" cy="4522788"/>
          </a:xfrm>
          <a:noFill/>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Title 1"/>
          <p:cNvSpPr>
            <a:spLocks noGrp="1"/>
          </p:cNvSpPr>
          <p:nvPr>
            <p:ph type="title"/>
          </p:nvPr>
        </p:nvSpPr>
        <p:spPr/>
        <p:txBody>
          <a:bodyPr/>
          <a:lstStyle/>
          <a:p>
            <a:pPr eaLnBrk="1" hangingPunct="1"/>
            <a:r>
              <a:rPr lang="en-IE" altLang="en-US"/>
              <a:t>Thread Joining </a:t>
            </a:r>
          </a:p>
        </p:txBody>
      </p:sp>
      <p:sp>
        <p:nvSpPr>
          <p:cNvPr id="37891" name="Content Placeholder 2"/>
          <p:cNvSpPr>
            <a:spLocks noGrp="1"/>
          </p:cNvSpPr>
          <p:nvPr>
            <p:ph idx="1"/>
          </p:nvPr>
        </p:nvSpPr>
        <p:spPr/>
        <p:txBody>
          <a:bodyPr/>
          <a:lstStyle/>
          <a:p>
            <a:pPr eaLnBrk="1" hangingPunct="1"/>
            <a:r>
              <a:rPr lang="en-IE" altLang="en-US" sz="2000"/>
              <a:t>Joining is similar to wait()</a:t>
            </a:r>
          </a:p>
          <a:p>
            <a:pPr eaLnBrk="1" hangingPunct="1"/>
            <a:r>
              <a:rPr lang="en-IE" altLang="en-US" sz="2000"/>
              <a:t>"Joining" is one way to accomplish synchronization between threads.</a:t>
            </a:r>
          </a:p>
          <a:p>
            <a:pPr eaLnBrk="1" hangingPunct="1"/>
            <a:r>
              <a:rPr lang="en-IE" altLang="en-US" sz="2000"/>
              <a:t>The pthread_join() subroutine blocks the calling thread until the specified threadid thread terminates. </a:t>
            </a:r>
          </a:p>
          <a:p>
            <a:pPr eaLnBrk="1" hangingPunct="1"/>
            <a:r>
              <a:rPr lang="en-IE" altLang="en-US" sz="2000"/>
              <a:t>On success, </a:t>
            </a:r>
            <a:r>
              <a:rPr lang="en-IE" altLang="en-US" sz="2000" b="1"/>
              <a:t>pthread_join</a:t>
            </a:r>
            <a:r>
              <a:rPr lang="en-IE" altLang="en-US" sz="2000"/>
              <a:t>() returns 0; on error, it returns an error number. </a:t>
            </a:r>
          </a:p>
          <a:p>
            <a:pPr eaLnBrk="1" hangingPunct="1"/>
            <a:r>
              <a:rPr lang="en-IE" altLang="en-US" sz="2000"/>
              <a:t>The thread specified by </a:t>
            </a:r>
            <a:r>
              <a:rPr lang="en-IE" altLang="en-US" sz="2000" i="1"/>
              <a:t>thread</a:t>
            </a:r>
            <a:r>
              <a:rPr lang="en-IE" altLang="en-US" sz="2000"/>
              <a:t> must be joinable.  </a:t>
            </a:r>
          </a:p>
          <a:p>
            <a:pPr eaLnBrk="1" hangingPunct="1"/>
            <a:endParaRPr lang="en-IE" altLang="en-US" sz="2000"/>
          </a:p>
          <a:p>
            <a:pPr eaLnBrk="1" hangingPunct="1"/>
            <a:r>
              <a:rPr lang="en-IE" altLang="en-US" sz="2000"/>
              <a:t>This is a way to ensure that the process itself does not terminate before the threads and so destroy (not execute) the threads</a:t>
            </a:r>
          </a:p>
          <a:p>
            <a:pPr eaLnBrk="1" hangingPunct="1"/>
            <a:endParaRPr lang="en-IE" altLang="en-US" sz="2000"/>
          </a:p>
          <a:p>
            <a:pPr eaLnBrk="1" hangingPunct="1"/>
            <a:endParaRPr lang="en-IE" altLang="en-US" sz="2000"/>
          </a:p>
          <a:p>
            <a:pPr eaLnBrk="1" hangingPunct="1"/>
            <a:endParaRPr lang="en-IE" altLang="en-US" sz="2000"/>
          </a:p>
          <a:p>
            <a:pPr eaLnBrk="1" hangingPunct="1"/>
            <a:endParaRPr lang="en-IE" altLang="en-US" sz="2000"/>
          </a:p>
          <a:p>
            <a:pPr eaLnBrk="1" hangingPunct="1"/>
            <a:endParaRPr lang="en-IE" altLang="en-US" sz="20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Title 1"/>
          <p:cNvSpPr>
            <a:spLocks noGrp="1"/>
          </p:cNvSpPr>
          <p:nvPr>
            <p:ph type="title"/>
          </p:nvPr>
        </p:nvSpPr>
        <p:spPr>
          <a:xfrm>
            <a:off x="457200" y="274638"/>
            <a:ext cx="8229600" cy="639762"/>
          </a:xfrm>
        </p:spPr>
        <p:txBody>
          <a:bodyPr/>
          <a:lstStyle/>
          <a:p>
            <a:r>
              <a:rPr lang="en-IE" altLang="en-US"/>
              <a:t>Example thread join</a:t>
            </a:r>
          </a:p>
        </p:txBody>
      </p:sp>
      <p:pic>
        <p:nvPicPr>
          <p:cNvPr id="38915" name="Content Placeholder 3"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68500" y="1143000"/>
            <a:ext cx="5207000" cy="5410200"/>
          </a:xfr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p:cNvSpPr>
            <a:spLocks noGrp="1"/>
          </p:cNvSpPr>
          <p:nvPr>
            <p:ph type="title"/>
          </p:nvPr>
        </p:nvSpPr>
        <p:spPr>
          <a:xfrm>
            <a:off x="457200" y="274638"/>
            <a:ext cx="8229600" cy="792162"/>
          </a:xfrm>
        </p:spPr>
        <p:txBody>
          <a:bodyPr/>
          <a:lstStyle/>
          <a:p>
            <a:pPr eaLnBrk="1" hangingPunct="1"/>
            <a:r>
              <a:rPr lang="en-IE" altLang="en-US" sz="1800"/>
              <a:t>Run the following to programs to see the effect of the pthread_join() function </a:t>
            </a:r>
            <a:br>
              <a:rPr lang="en-IE" altLang="en-US" sz="1800"/>
            </a:br>
            <a:r>
              <a:rPr lang="en-IE" altLang="en-US" sz="1800" b="1"/>
              <a:t>ThreadJoin.c</a:t>
            </a:r>
            <a:r>
              <a:rPr lang="en-IE" altLang="en-US" sz="1800"/>
              <a:t>   and </a:t>
            </a:r>
            <a:r>
              <a:rPr lang="en-IE" altLang="en-US" sz="1800" b="1"/>
              <a:t>ThreadUnjoin.c</a:t>
            </a:r>
            <a:r>
              <a:rPr lang="en-IE" altLang="en-US" sz="1800"/>
              <a:t>. sample output</a:t>
            </a:r>
            <a:br>
              <a:rPr lang="en-IE" altLang="en-US" sz="1800"/>
            </a:br>
            <a:endParaRPr lang="en-IE" altLang="en-US" sz="1800"/>
          </a:p>
        </p:txBody>
      </p:sp>
      <p:pic>
        <p:nvPicPr>
          <p:cNvPr id="39939" name="Content Placeholder 5"/>
          <p:cNvPicPr>
            <a:picLocks noGrp="1"/>
          </p:cNvPicPr>
          <p:nvPr>
            <p:ph sz="half" idx="1"/>
          </p:nvPr>
        </p:nvPicPr>
        <p:blipFill>
          <a:blip r:embed="rId2">
            <a:extLst>
              <a:ext uri="{28A0092B-C50C-407E-A947-70E740481C1C}">
                <a14:useLocalDpi xmlns:a14="http://schemas.microsoft.com/office/drawing/2010/main" val="0"/>
              </a:ext>
            </a:extLst>
          </a:blip>
          <a:srcRect/>
          <a:stretch>
            <a:fillRect/>
          </a:stretch>
        </p:blipFill>
        <p:spPr>
          <a:xfrm>
            <a:off x="457200" y="1447800"/>
            <a:ext cx="4038600" cy="4572000"/>
          </a:xfrm>
        </p:spPr>
      </p:pic>
      <p:pic>
        <p:nvPicPr>
          <p:cNvPr id="39940" name="Content Placeholder 6"/>
          <p:cNvPicPr>
            <a:picLocks noGrp="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4648200" y="1371600"/>
            <a:ext cx="4038600" cy="4724400"/>
          </a:xfr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274638"/>
            <a:ext cx="8229600" cy="487362"/>
          </a:xfrm>
        </p:spPr>
        <p:txBody>
          <a:bodyPr/>
          <a:lstStyle/>
          <a:p>
            <a:r>
              <a:rPr lang="en-IE" sz="3600" dirty="0"/>
              <a:t>Pass command argument to Thread </a:t>
            </a:r>
          </a:p>
        </p:txBody>
      </p:sp>
      <p:pic>
        <p:nvPicPr>
          <p:cNvPr id="7" name="Content Placeholder 6" descr="denis.manley@apollo: ~/OS2/week7"/>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47801" y="718485"/>
            <a:ext cx="5969976" cy="5834715"/>
          </a:xfrm>
        </p:spPr>
      </p:pic>
    </p:spTree>
    <p:extLst>
      <p:ext uri="{BB962C8B-B14F-4D97-AF65-F5344CB8AC3E}">
        <p14:creationId xmlns:p14="http://schemas.microsoft.com/office/powerpoint/2010/main" val="19502813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Title 1"/>
          <p:cNvSpPr>
            <a:spLocks noGrp="1"/>
          </p:cNvSpPr>
          <p:nvPr>
            <p:ph type="title"/>
          </p:nvPr>
        </p:nvSpPr>
        <p:spPr/>
        <p:txBody>
          <a:bodyPr/>
          <a:lstStyle/>
          <a:p>
            <a:pPr eaLnBrk="1" hangingPunct="1"/>
            <a:r>
              <a:rPr lang="en-IE" altLang="en-US"/>
              <a:t>Joinable or Not? </a:t>
            </a:r>
          </a:p>
        </p:txBody>
      </p:sp>
      <p:sp>
        <p:nvSpPr>
          <p:cNvPr id="41987" name="Content Placeholder 2"/>
          <p:cNvSpPr>
            <a:spLocks noGrp="1"/>
          </p:cNvSpPr>
          <p:nvPr>
            <p:ph idx="1"/>
          </p:nvPr>
        </p:nvSpPr>
        <p:spPr/>
        <p:txBody>
          <a:bodyPr/>
          <a:lstStyle/>
          <a:p>
            <a:pPr eaLnBrk="1" hangingPunct="1"/>
            <a:r>
              <a:rPr lang="en-IE" altLang="en-US"/>
              <a:t>When a thread is created, one of its attributes defines whether it is joinable or detached. Only threads that are created as joinable can be joined. If a thread is created as detached, it can never be joined. </a:t>
            </a:r>
          </a:p>
          <a:p>
            <a:pPr eaLnBrk="1" hangingPunct="1"/>
            <a:r>
              <a:rPr lang="en-IE" altLang="en-US"/>
              <a:t>The final draft of the POSIX standard specifies that threads should be created as joinable. It is by default. </a:t>
            </a:r>
          </a:p>
          <a:p>
            <a:pPr eaLnBrk="1" hangingPunct="1"/>
            <a:endParaRPr lang="en-IE" alt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Title 1"/>
          <p:cNvSpPr>
            <a:spLocks noGrp="1"/>
          </p:cNvSpPr>
          <p:nvPr>
            <p:ph type="title"/>
          </p:nvPr>
        </p:nvSpPr>
        <p:spPr/>
        <p:txBody>
          <a:bodyPr/>
          <a:lstStyle/>
          <a:p>
            <a:r>
              <a:rPr lang="en-IE" altLang="en-US"/>
              <a:t>Other synchronisation methods</a:t>
            </a:r>
          </a:p>
        </p:txBody>
      </p:sp>
      <p:sp>
        <p:nvSpPr>
          <p:cNvPr id="46083" name="Content Placeholder 2"/>
          <p:cNvSpPr>
            <a:spLocks noGrp="1"/>
          </p:cNvSpPr>
          <p:nvPr>
            <p:ph idx="1"/>
          </p:nvPr>
        </p:nvSpPr>
        <p:spPr/>
        <p:txBody>
          <a:bodyPr/>
          <a:lstStyle/>
          <a:p>
            <a:r>
              <a:rPr lang="en-IE" altLang="en-US"/>
              <a:t>Two other synchronization methods, mutexes and condition variables, will be discussed later.</a:t>
            </a:r>
          </a:p>
          <a:p>
            <a:r>
              <a:rPr lang="en-IE" altLang="en-US"/>
              <a:t>Semaphores is another type of synchronisation method used to prevent shared memory problems.   </a:t>
            </a:r>
          </a:p>
          <a:p>
            <a:endParaRPr lang="en-IE"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p:txBody>
          <a:bodyPr/>
          <a:lstStyle/>
          <a:p>
            <a:pPr eaLnBrk="1" hangingPunct="1"/>
            <a:r>
              <a:rPr lang="en-US" altLang="en-US" sz="4000" b="1"/>
              <a:t>Some Performance Considerations</a:t>
            </a:r>
            <a:br>
              <a:rPr lang="en-US" altLang="en-US" sz="4000" b="1"/>
            </a:br>
            <a:endParaRPr lang="en-US" altLang="en-US" sz="4000" b="1"/>
          </a:p>
        </p:txBody>
      </p:sp>
      <p:sp>
        <p:nvSpPr>
          <p:cNvPr id="47107" name="Rectangle 3"/>
          <p:cNvSpPr>
            <a:spLocks noGrp="1" noChangeArrowheads="1"/>
          </p:cNvSpPr>
          <p:nvPr>
            <p:ph type="body" idx="1"/>
          </p:nvPr>
        </p:nvSpPr>
        <p:spPr>
          <a:xfrm>
            <a:off x="457200" y="1143000"/>
            <a:ext cx="8229600" cy="4983163"/>
          </a:xfrm>
        </p:spPr>
        <p:txBody>
          <a:bodyPr/>
          <a:lstStyle/>
          <a:p>
            <a:pPr eaLnBrk="1" hangingPunct="1">
              <a:lnSpc>
                <a:spcPct val="80000"/>
              </a:lnSpc>
            </a:pPr>
            <a:r>
              <a:rPr lang="en-US" altLang="en-US" sz="1800"/>
              <a:t>The performance gains from using threads is great, but can it be even better? You should consider the following when analyzing your program for potential bottlenecks: </a:t>
            </a:r>
          </a:p>
          <a:p>
            <a:pPr eaLnBrk="1" hangingPunct="1">
              <a:lnSpc>
                <a:spcPct val="80000"/>
              </a:lnSpc>
            </a:pPr>
            <a:r>
              <a:rPr lang="en-US" altLang="en-US" sz="1800" b="1"/>
              <a:t>Lock granularity</a:t>
            </a:r>
            <a:r>
              <a:rPr lang="en-US" altLang="en-US" sz="1800"/>
              <a:t> - How "big" (coarse) or "small" (fine) are your mutex locks? Do they lock your whole structure or fields of a structure? The more fine-grained you make your locks, the more concurrency you can gain, but at the cost of more overhead and potential deadlocks. </a:t>
            </a:r>
          </a:p>
          <a:p>
            <a:pPr eaLnBrk="1" hangingPunct="1">
              <a:lnSpc>
                <a:spcPct val="80000"/>
              </a:lnSpc>
            </a:pPr>
            <a:endParaRPr lang="en-US" altLang="en-US" sz="1800" b="1"/>
          </a:p>
          <a:p>
            <a:pPr eaLnBrk="1" hangingPunct="1">
              <a:lnSpc>
                <a:spcPct val="80000"/>
              </a:lnSpc>
            </a:pPr>
            <a:r>
              <a:rPr lang="en-US" altLang="en-US" sz="1800" b="1"/>
              <a:t>Lock ordering</a:t>
            </a:r>
            <a:r>
              <a:rPr lang="en-US" altLang="en-US" sz="1800"/>
              <a:t> - Make sure your locks are always locked in an agreed order (if they are not, make sure you take steps to rectify situations where locks are obtained in an out-of-order fashion, e.g. by using trylock/unlock calls). </a:t>
            </a:r>
          </a:p>
          <a:p>
            <a:pPr eaLnBrk="1" hangingPunct="1">
              <a:lnSpc>
                <a:spcPct val="80000"/>
              </a:lnSpc>
            </a:pPr>
            <a:endParaRPr lang="en-US" altLang="en-US" sz="1800" b="1"/>
          </a:p>
          <a:p>
            <a:pPr eaLnBrk="1" hangingPunct="1">
              <a:lnSpc>
                <a:spcPct val="80000"/>
              </a:lnSpc>
            </a:pPr>
            <a:r>
              <a:rPr lang="en-US" altLang="en-US" sz="1800" b="1"/>
              <a:t>Lock frequency</a:t>
            </a:r>
            <a:r>
              <a:rPr lang="en-US" altLang="en-US" sz="1800"/>
              <a:t> - Are you locking too often? Locking at unnecessary </a:t>
            </a:r>
          </a:p>
          <a:p>
            <a:pPr eaLnBrk="1" hangingPunct="1">
              <a:lnSpc>
                <a:spcPct val="80000"/>
              </a:lnSpc>
            </a:pPr>
            <a:r>
              <a:rPr lang="en-US" altLang="en-US" sz="1800"/>
              <a:t>times? Reduce such occurences to fully exploit concurrency and reduce synchronization overhead. </a:t>
            </a:r>
          </a:p>
          <a:p>
            <a:pPr eaLnBrk="1" hangingPunct="1">
              <a:lnSpc>
                <a:spcPct val="80000"/>
              </a:lnSpc>
            </a:pPr>
            <a:endParaRPr lang="en-US" altLang="en-US" sz="1800" b="1"/>
          </a:p>
          <a:p>
            <a:pPr eaLnBrk="1" hangingPunct="1">
              <a:lnSpc>
                <a:spcPct val="80000"/>
              </a:lnSpc>
            </a:pPr>
            <a:r>
              <a:rPr lang="en-US" altLang="en-US" sz="1800" b="1"/>
              <a:t>Critical sections</a:t>
            </a:r>
            <a:r>
              <a:rPr lang="en-US" altLang="en-US" sz="1800"/>
              <a:t> - This has been mentioned before (twice), but you should take extra steps to minimize critical sections which can be potentially large bottlenecks. </a:t>
            </a:r>
          </a:p>
          <a:p>
            <a:pPr eaLnBrk="1" hangingPunct="1">
              <a:lnSpc>
                <a:spcPct val="80000"/>
              </a:lnSpc>
            </a:pPr>
            <a:endParaRPr lang="en-US" altLang="en-US" sz="180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itle 1"/>
          <p:cNvSpPr>
            <a:spLocks noGrp="1"/>
          </p:cNvSpPr>
          <p:nvPr>
            <p:ph type="title"/>
          </p:nvPr>
        </p:nvSpPr>
        <p:spPr/>
        <p:txBody>
          <a:bodyPr/>
          <a:lstStyle/>
          <a:p>
            <a:r>
              <a:rPr lang="en-IE" altLang="en-US"/>
              <a:t>Sample question </a:t>
            </a:r>
          </a:p>
        </p:txBody>
      </p:sp>
      <p:sp>
        <p:nvSpPr>
          <p:cNvPr id="48131" name="Content Placeholder 2"/>
          <p:cNvSpPr>
            <a:spLocks noGrp="1"/>
          </p:cNvSpPr>
          <p:nvPr>
            <p:ph idx="1"/>
          </p:nvPr>
        </p:nvSpPr>
        <p:spPr/>
        <p:txBody>
          <a:bodyPr/>
          <a:lstStyle/>
          <a:p>
            <a:r>
              <a:rPr lang="en-IE" altLang="en-US"/>
              <a:t>What is a thread control block </a:t>
            </a:r>
            <a:r>
              <a:rPr lang="en-IE" altLang="en-US" b="1"/>
              <a:t>(4 marks)</a:t>
            </a:r>
            <a:r>
              <a:rPr lang="en-IE" altLang="en-US"/>
              <a:t>. </a:t>
            </a:r>
          </a:p>
          <a:p>
            <a:r>
              <a:rPr lang="en-IE" altLang="en-US"/>
              <a:t>Distinguish between a single and a multi-threading system. </a:t>
            </a:r>
            <a:r>
              <a:rPr lang="en-IE" altLang="en-US" b="1"/>
              <a:t>(4 marks)</a:t>
            </a:r>
          </a:p>
          <a:p>
            <a:r>
              <a:rPr lang="en-IE" altLang="en-US"/>
              <a:t>Give two examples of multi-threading </a:t>
            </a:r>
            <a:r>
              <a:rPr lang="en-IE" altLang="en-US" b="1"/>
              <a:t>(4 marks)</a:t>
            </a:r>
          </a:p>
          <a:p>
            <a:r>
              <a:rPr lang="en-IE" altLang="en-US"/>
              <a:t>What are the main states that a thread can undergo </a:t>
            </a:r>
            <a:r>
              <a:rPr lang="en-IE" altLang="en-US" b="1"/>
              <a:t>(8 marks)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itle 1"/>
          <p:cNvSpPr>
            <a:spLocks noGrp="1"/>
          </p:cNvSpPr>
          <p:nvPr>
            <p:ph type="title"/>
          </p:nvPr>
        </p:nvSpPr>
        <p:spPr/>
        <p:txBody>
          <a:bodyPr/>
          <a:lstStyle/>
          <a:p>
            <a:r>
              <a:rPr lang="en-IE" altLang="en-US"/>
              <a:t>Sample Questions</a:t>
            </a:r>
          </a:p>
        </p:txBody>
      </p:sp>
      <p:sp>
        <p:nvSpPr>
          <p:cNvPr id="49155" name="Content Placeholder 2"/>
          <p:cNvSpPr>
            <a:spLocks noGrp="1"/>
          </p:cNvSpPr>
          <p:nvPr>
            <p:ph idx="1"/>
          </p:nvPr>
        </p:nvSpPr>
        <p:spPr/>
        <p:txBody>
          <a:bodyPr/>
          <a:lstStyle/>
          <a:p>
            <a:r>
              <a:rPr lang="en-IE" altLang="en-US"/>
              <a:t>To create a thread in posix C programming a number of parameter are required. Explain in your own words what each of the following parameters of the thread function mean:  </a:t>
            </a:r>
          </a:p>
          <a:p>
            <a:r>
              <a:rPr lang="en-US" altLang="en-US" sz="2800"/>
              <a:t>int pthread_create(</a:t>
            </a:r>
            <a:r>
              <a:rPr lang="en-US" altLang="en-US" sz="2800" i="1"/>
              <a:t>pthread_t *tidp, const pthread_attr_t *attr, *start_rtn, void *restrict arg</a:t>
            </a:r>
            <a:r>
              <a:rPr lang="en-US" altLang="en-US" sz="2800"/>
              <a:t>) </a:t>
            </a:r>
            <a:r>
              <a:rPr lang="en-US" altLang="en-US" sz="2800" b="1"/>
              <a:t>(8 marks)</a:t>
            </a:r>
            <a:endParaRPr lang="en-IE" altLang="en-US" sz="2800" b="1"/>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itle 1"/>
          <p:cNvSpPr>
            <a:spLocks noGrp="1"/>
          </p:cNvSpPr>
          <p:nvPr>
            <p:ph type="title"/>
          </p:nvPr>
        </p:nvSpPr>
        <p:spPr>
          <a:xfrm>
            <a:off x="457200" y="274638"/>
            <a:ext cx="8229600" cy="715962"/>
          </a:xfrm>
        </p:spPr>
        <p:txBody>
          <a:bodyPr/>
          <a:lstStyle/>
          <a:p>
            <a:r>
              <a:rPr lang="en-IE" altLang="en-US"/>
              <a:t>Sample Question </a:t>
            </a:r>
          </a:p>
        </p:txBody>
      </p:sp>
      <p:sp>
        <p:nvSpPr>
          <p:cNvPr id="50179" name="Content Placeholder 2"/>
          <p:cNvSpPr>
            <a:spLocks noGrp="1"/>
          </p:cNvSpPr>
          <p:nvPr>
            <p:ph idx="1"/>
          </p:nvPr>
        </p:nvSpPr>
        <p:spPr>
          <a:xfrm>
            <a:off x="457200" y="1066800"/>
            <a:ext cx="8229600" cy="5059363"/>
          </a:xfrm>
        </p:spPr>
        <p:txBody>
          <a:bodyPr/>
          <a:lstStyle/>
          <a:p>
            <a:r>
              <a:rPr lang="en-IE" altLang="en-US"/>
              <a:t>Explain the code for the </a:t>
            </a:r>
            <a:r>
              <a:rPr lang="en-IE" altLang="en-US" b="1"/>
              <a:t>threadjoin.c</a:t>
            </a:r>
            <a:r>
              <a:rPr lang="en-IE" altLang="en-US"/>
              <a:t> program (you will be given the code without comments) </a:t>
            </a:r>
            <a:r>
              <a:rPr lang="en-IE" altLang="en-US" b="1"/>
              <a:t>(8 marks)</a:t>
            </a:r>
          </a:p>
          <a:p>
            <a:endParaRPr lang="en-IE" altLang="en-US"/>
          </a:p>
          <a:p>
            <a:r>
              <a:rPr lang="en-IE" altLang="en-US"/>
              <a:t>Explain, using sample output, what will happen if the two “thread_join” statements were removed </a:t>
            </a:r>
            <a:r>
              <a:rPr lang="en-IE" altLang="en-US" b="1"/>
              <a:t>(6 marks)</a:t>
            </a:r>
          </a:p>
          <a:p>
            <a:r>
              <a:rPr lang="en-IE" altLang="en-US" i="1"/>
              <a:t>You will be given the above code in the exam. (you are not expected to remember and write these programs)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itle 1"/>
          <p:cNvSpPr>
            <a:spLocks noGrp="1"/>
          </p:cNvSpPr>
          <p:nvPr>
            <p:ph type="title"/>
          </p:nvPr>
        </p:nvSpPr>
        <p:spPr/>
        <p:txBody>
          <a:bodyPr/>
          <a:lstStyle/>
          <a:p>
            <a:r>
              <a:rPr lang="en-IE" altLang="en-US"/>
              <a:t>Reference material</a:t>
            </a:r>
          </a:p>
        </p:txBody>
      </p:sp>
      <p:sp>
        <p:nvSpPr>
          <p:cNvPr id="51203" name="Content Placeholder 2"/>
          <p:cNvSpPr>
            <a:spLocks noGrp="1"/>
          </p:cNvSpPr>
          <p:nvPr>
            <p:ph idx="1"/>
          </p:nvPr>
        </p:nvSpPr>
        <p:spPr/>
        <p:txBody>
          <a:bodyPr/>
          <a:lstStyle/>
          <a:p>
            <a:r>
              <a:rPr lang="en-IE" altLang="en-US" sz="2000" b="1"/>
              <a:t>Kernal threads</a:t>
            </a:r>
            <a:r>
              <a:rPr lang="en-IE" altLang="en-US" sz="2000"/>
              <a:t>: </a:t>
            </a:r>
            <a:r>
              <a:rPr lang="en-US" altLang="en-US" sz="2000"/>
              <a:t>The programmer has no direct control over these threads, </a:t>
            </a:r>
            <a:r>
              <a:rPr lang="en-US" altLang="en-US" sz="2000" i="1"/>
              <a:t>unless writing kernel extensions or device drivers. See AIX Version 4.3 Kernel Extensions and Device Support Programming Concepts for more information about kernel programming.</a:t>
            </a:r>
          </a:p>
          <a:p>
            <a:endParaRPr lang="en-US" altLang="en-US" sz="2000" i="1"/>
          </a:p>
          <a:p>
            <a:r>
              <a:rPr lang="en-US" altLang="en-US" sz="2000" i="1"/>
              <a:t>Posix threads:  </a:t>
            </a:r>
            <a:endParaRPr lang="en-IE" altLang="en-US" sz="2000"/>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RESGUID" val="cbf8ffdc-c13b-40a8-bd49-4a1cf11ca24e"/>
</p:tagLst>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E497A5DDE61EC49B38F08F69D7D1C30" ma:contentTypeVersion="17" ma:contentTypeDescription="Create a new document." ma:contentTypeScope="" ma:versionID="50ee6cf9fc8018c547101306b654177e">
  <xsd:schema xmlns:xsd="http://www.w3.org/2001/XMLSchema" xmlns:xs="http://www.w3.org/2001/XMLSchema" xmlns:p="http://schemas.microsoft.com/office/2006/metadata/properties" xmlns:ns3="186a8af6-524e-48fb-a2b5-8db5625d742b" targetNamespace="http://schemas.microsoft.com/office/2006/metadata/properties" ma:root="true" ma:fieldsID="855f4172b47806caf3092843fe89453a" ns3:_="">
    <xsd:import namespace="186a8af6-524e-48fb-a2b5-8db5625d742b"/>
    <xsd:element name="properties">
      <xsd:complexType>
        <xsd:sequence>
          <xsd:element name="documentManagement">
            <xsd:complexType>
              <xsd:all>
                <xsd:element ref="ns3:SharedWithUsers" minOccurs="0"/>
                <xsd:element ref="ns3:SharedWithDetails" minOccurs="0"/>
                <xsd:element ref="ns3:SharingHintHash" minOccurs="0"/>
                <xsd:element ref="ns3:UniqueSourceRef" minOccurs="0"/>
                <xsd:element ref="ns3:FileHash" minOccurs="0"/>
                <xsd:element ref="ns3:CloudMigratorVersion" minOccurs="0"/>
                <xsd:element ref="ns3:MediaServiceMetadata" minOccurs="0"/>
                <xsd:element ref="ns3:MediaServiceFastMetadata" minOccurs="0"/>
                <xsd:element ref="ns3:MediaServiceDateTaken"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6a8af6-524e-48fb-a2b5-8db5625d742b"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element name="UniqueSourceRef" ma:index="11" nillable="true" ma:displayName="UniqueSourceRef" ma:internalName="UniqueSourceRef">
      <xsd:simpleType>
        <xsd:restriction base="dms:Note">
          <xsd:maxLength value="255"/>
        </xsd:restriction>
      </xsd:simpleType>
    </xsd:element>
    <xsd:element name="FileHash" ma:index="12" nillable="true" ma:displayName="FileHash" ma:internalName="FileHash">
      <xsd:simpleType>
        <xsd:restriction base="dms:Note">
          <xsd:maxLength value="255"/>
        </xsd:restriction>
      </xsd:simpleType>
    </xsd:element>
    <xsd:element name="CloudMigratorVersion" ma:index="13" nillable="true" ma:displayName="CloudMigratorVersion" ma:internalName="CloudMigratorVersion">
      <xsd:simpleType>
        <xsd:restriction base="dms:Note">
          <xsd:maxLength value="255"/>
        </xsd:restriction>
      </xsd:simpleType>
    </xsd:element>
    <xsd:element name="MediaServiceMetadata" ma:index="14" nillable="true" ma:displayName="MediaServiceMetadata" ma:hidden="true" ma:internalName="MediaServiceMetadata" ma:readOnly="true">
      <xsd:simpleType>
        <xsd:restriction base="dms:Note"/>
      </xsd:simpleType>
    </xsd:element>
    <xsd:element name="MediaServiceFastMetadata" ma:index="15" nillable="true" ma:displayName="MediaServiceFastMetadata" ma:hidden="true" ma:internalName="MediaServiceFastMetadata" ma:readOnly="true">
      <xsd:simpleType>
        <xsd:restriction base="dms:Note"/>
      </xsd:simpleType>
    </xsd:element>
    <xsd:element name="MediaServiceDateTaken" ma:index="16" nillable="true" ma:displayName="MediaServiceDateTaken" ma:hidden="true" ma:internalName="MediaServiceDateTaken" ma:readOnly="true">
      <xsd:simpleType>
        <xsd:restriction base="dms:Text"/>
      </xsd:simpleType>
    </xsd:element>
    <xsd:element name="MediaServiceAutoTags" ma:index="17" nillable="true" ma:displayName="Tags" ma:internalName="MediaServiceAutoTags"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AutoKeyPoints" ma:index="21" nillable="true" ma:displayName="MediaServiceAutoKeyPoints" ma:hidden="true" ma:internalName="MediaServiceAutoKeyPoints" ma:readOnly="true">
      <xsd:simpleType>
        <xsd:restriction base="dms:Note"/>
      </xsd:simpleType>
    </xsd:element>
    <xsd:element name="MediaServiceKeyPoints" ma:index="22" nillable="true" ma:displayName="KeyPoints" ma:internalName="MediaServiceKeyPoints" ma:readOnly="true">
      <xsd:simpleType>
        <xsd:restriction base="dms:Note">
          <xsd:maxLength value="255"/>
        </xsd:restriction>
      </xsd:simpleType>
    </xsd:element>
    <xsd:element name="MediaServiceLocation" ma:index="23" nillable="true" ma:displayName="Location" ma:internalName="MediaServiceLocation" ma:readOnly="true">
      <xsd:simpleType>
        <xsd:restriction base="dms:Text"/>
      </xsd:simpleType>
    </xsd:element>
    <xsd:element name="MediaLengthInSeconds" ma:index="2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UniqueSourceRef xmlns="186a8af6-524e-48fb-a2b5-8db5625d742b" xsi:nil="true"/>
    <CloudMigratorVersion xmlns="186a8af6-524e-48fb-a2b5-8db5625d742b" xsi:nil="true"/>
    <FileHash xmlns="186a8af6-524e-48fb-a2b5-8db5625d74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58249B8-468A-49DE-81F0-33957ED071E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6a8af6-524e-48fb-a2b5-8db5625d742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30664FD-8654-4150-9DB4-B116932E70BE}">
  <ds:schemaRefs>
    <ds:schemaRef ds:uri="http://schemas.microsoft.com/office/2006/metadata/properties"/>
    <ds:schemaRef ds:uri="http://www.w3.org/XML/1998/namespace"/>
    <ds:schemaRef ds:uri="http://purl.org/dc/terms/"/>
    <ds:schemaRef ds:uri="186a8af6-524e-48fb-a2b5-8db5625d742b"/>
    <ds:schemaRef ds:uri="http://purl.org/dc/elements/1.1/"/>
    <ds:schemaRef ds:uri="http://purl.org/dc/dcmitype/"/>
    <ds:schemaRef ds:uri="http://schemas.openxmlformats.org/package/2006/metadata/core-properties"/>
    <ds:schemaRef ds:uri="http://schemas.microsoft.com/office/infopath/2007/PartnerControls"/>
    <ds:schemaRef ds:uri="http://schemas.microsoft.com/office/2006/documentManagement/types"/>
  </ds:schemaRefs>
</ds:datastoreItem>
</file>

<file path=customXml/itemProps3.xml><?xml version="1.0" encoding="utf-8"?>
<ds:datastoreItem xmlns:ds="http://schemas.openxmlformats.org/officeDocument/2006/customXml" ds:itemID="{BD4C6653-5A70-4ED6-B2D3-8CDF61CE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2680</TotalTime>
  <Words>2192</Words>
  <Application>Microsoft Office PowerPoint</Application>
  <PresentationFormat>On-screen Show (4:3)</PresentationFormat>
  <Paragraphs>198</Paragraphs>
  <Slides>41</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MS PGothic</vt:lpstr>
      <vt:lpstr>Arial</vt:lpstr>
      <vt:lpstr>Calibri</vt:lpstr>
      <vt:lpstr>Courier New</vt:lpstr>
      <vt:lpstr>Default Design</vt:lpstr>
      <vt:lpstr>Threads</vt:lpstr>
      <vt:lpstr>What is a thread? </vt:lpstr>
      <vt:lpstr>Needles and Threads</vt:lpstr>
      <vt:lpstr>Threads and Processes</vt:lpstr>
      <vt:lpstr>Single and Multi-threading </vt:lpstr>
      <vt:lpstr>Single and Multithreaded Processes</vt:lpstr>
      <vt:lpstr>Examples of multithreading </vt:lpstr>
      <vt:lpstr>Property of multi-threading</vt:lpstr>
      <vt:lpstr>Thread properties</vt:lpstr>
      <vt:lpstr>PowerPoint Presentation</vt:lpstr>
      <vt:lpstr>Thread Creation and Implementation</vt:lpstr>
      <vt:lpstr>Thread States</vt:lpstr>
      <vt:lpstr>PowerPoint Presentation</vt:lpstr>
      <vt:lpstr>Thread States (cont’d.)</vt:lpstr>
      <vt:lpstr>Thread States (cont’d.)</vt:lpstr>
      <vt:lpstr>Programming Preliminaries</vt:lpstr>
      <vt:lpstr>Creating Threads: </vt:lpstr>
      <vt:lpstr>Thread creation</vt:lpstr>
      <vt:lpstr>pthread_create arguments: </vt:lpstr>
      <vt:lpstr>Create Basic Thread example</vt:lpstr>
      <vt:lpstr>Thread example 1 with pass int</vt:lpstr>
      <vt:lpstr>Modify Scheduling output</vt:lpstr>
      <vt:lpstr>Code to demonstrate shared memory</vt:lpstr>
      <vt:lpstr>Thread_1 unsafe pass pointer &amp;t and not t </vt:lpstr>
      <vt:lpstr>Modify to delay thread creation</vt:lpstr>
      <vt:lpstr>Modified thread_unsafe.c</vt:lpstr>
      <vt:lpstr>Modify Thread_1 unsafe .c  to delay thread creation</vt:lpstr>
      <vt:lpstr>A Warning of working with threads </vt:lpstr>
      <vt:lpstr>Illustration of thread join</vt:lpstr>
      <vt:lpstr>Thread join (with two threads)</vt:lpstr>
      <vt:lpstr>Thread Joining </vt:lpstr>
      <vt:lpstr>Example thread join</vt:lpstr>
      <vt:lpstr>Run the following to programs to see the effect of the pthread_join() function  ThreadJoin.c   and ThreadUnjoin.c. sample output </vt:lpstr>
      <vt:lpstr>Pass command argument to Thread </vt:lpstr>
      <vt:lpstr>Joinable or Not? </vt:lpstr>
      <vt:lpstr>Other synchronisation methods</vt:lpstr>
      <vt:lpstr>Some Performance Considerations </vt:lpstr>
      <vt:lpstr>Sample question </vt:lpstr>
      <vt:lpstr>Sample Questions</vt:lpstr>
      <vt:lpstr>Sample Question </vt:lpstr>
      <vt:lpstr>Reference material</vt:lpstr>
    </vt:vector>
  </TitlesOfParts>
  <Company>School of Computing DIT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Threads and Processes</dc:title>
  <dc:creator>johng</dc:creator>
  <cp:lastModifiedBy>Denis Manley</cp:lastModifiedBy>
  <cp:revision>65</cp:revision>
  <cp:lastPrinted>2016-10-15T14:51:13Z</cp:lastPrinted>
  <dcterms:created xsi:type="dcterms:W3CDTF">2006-10-25T14:47:48Z</dcterms:created>
  <dcterms:modified xsi:type="dcterms:W3CDTF">2025-11-11T11:25:13Z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0x010100CE497A5DDE61EC49B38F08F69D7D1C30</vt:lpwstr>
  </property>
</Properties>
</file>