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708" r:id="rId2"/>
  </p:sldMasterIdLst>
  <p:notesMasterIdLst>
    <p:notesMasterId r:id="rId30"/>
  </p:notesMasterIdLst>
  <p:handoutMasterIdLst>
    <p:handoutMasterId r:id="rId31"/>
  </p:handoutMasterIdLst>
  <p:sldIdLst>
    <p:sldId id="592" r:id="rId3"/>
    <p:sldId id="668" r:id="rId4"/>
    <p:sldId id="555" r:id="rId5"/>
    <p:sldId id="556" r:id="rId6"/>
    <p:sldId id="611" r:id="rId7"/>
    <p:sldId id="628" r:id="rId8"/>
    <p:sldId id="697" r:id="rId9"/>
    <p:sldId id="559" r:id="rId10"/>
    <p:sldId id="596" r:id="rId11"/>
    <p:sldId id="603" r:id="rId12"/>
    <p:sldId id="563" r:id="rId13"/>
    <p:sldId id="650" r:id="rId14"/>
    <p:sldId id="629" r:id="rId15"/>
    <p:sldId id="724" r:id="rId16"/>
    <p:sldId id="546" r:id="rId17"/>
    <p:sldId id="569" r:id="rId18"/>
    <p:sldId id="571" r:id="rId19"/>
    <p:sldId id="572" r:id="rId20"/>
    <p:sldId id="573" r:id="rId21"/>
    <p:sldId id="698" r:id="rId22"/>
    <p:sldId id="699" r:id="rId23"/>
    <p:sldId id="732" r:id="rId24"/>
    <p:sldId id="730" r:id="rId25"/>
    <p:sldId id="731" r:id="rId26"/>
    <p:sldId id="703" r:id="rId27"/>
    <p:sldId id="704" r:id="rId28"/>
    <p:sldId id="706" r:id="rId29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600" kern="1200">
        <a:solidFill>
          <a:srgbClr val="FFFFFF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600" kern="1200">
        <a:solidFill>
          <a:srgbClr val="FFFFFF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600" kern="1200">
        <a:solidFill>
          <a:srgbClr val="FFFFFF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600" kern="1200">
        <a:solidFill>
          <a:srgbClr val="FFFFFF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600" kern="1200">
        <a:solidFill>
          <a:srgbClr val="FFFFFF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3600" kern="1200">
        <a:solidFill>
          <a:srgbClr val="FFFFFF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3600" kern="1200">
        <a:solidFill>
          <a:srgbClr val="FFFFFF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3600" kern="1200">
        <a:solidFill>
          <a:srgbClr val="FFFFFF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3600" kern="1200">
        <a:solidFill>
          <a:srgbClr val="FFFFFF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8" autoAdjust="0"/>
    <p:restoredTop sz="94670" autoAdjust="0"/>
  </p:normalViewPr>
  <p:slideViewPr>
    <p:cSldViewPr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83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Manley" userId="445117d2-14a5-4c3e-af19-f1006b049bb1" providerId="ADAL" clId="{F0189C53-B655-439A-B4D0-AF1ED325A57F}"/>
    <pc:docChg chg="mod modSld">
      <pc:chgData name="Denis Manley" userId="445117d2-14a5-4c3e-af19-f1006b049bb1" providerId="ADAL" clId="{F0189C53-B655-439A-B4D0-AF1ED325A57F}" dt="2025-10-31T11:05:47.934" v="160" actId="15"/>
      <pc:docMkLst>
        <pc:docMk/>
      </pc:docMkLst>
      <pc:sldChg chg="modSp mod">
        <pc:chgData name="Denis Manley" userId="445117d2-14a5-4c3e-af19-f1006b049bb1" providerId="ADAL" clId="{F0189C53-B655-439A-B4D0-AF1ED325A57F}" dt="2025-10-31T11:05:47.934" v="160" actId="15"/>
        <pc:sldMkLst>
          <pc:docMk/>
          <pc:sldMk cId="3248188587" sldId="732"/>
        </pc:sldMkLst>
        <pc:spChg chg="mod">
          <ac:chgData name="Denis Manley" userId="445117d2-14a5-4c3e-af19-f1006b049bb1" providerId="ADAL" clId="{F0189C53-B655-439A-B4D0-AF1ED325A57F}" dt="2025-10-31T11:05:47.934" v="160" actId="15"/>
          <ac:spMkLst>
            <pc:docMk/>
            <pc:sldMk cId="3248188587" sldId="732"/>
            <ac:spMk id="3" creationId="{FF0ECBFE-5972-F33D-EAAC-BFCEC0763B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651" y="1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4741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729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defTabSz="911225">
              <a:defRPr sz="1200"/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4741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651" y="9431729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/>
            </a:lvl1pPr>
          </a:lstStyle>
          <a:p>
            <a:pPr>
              <a:defRPr/>
            </a:pPr>
            <a:fld id="{5111D297-66A5-479A-9165-3B44225BA635}" type="slidenum">
              <a:rPr lang="en-CA"/>
              <a:pPr>
                <a:defRPr/>
              </a:pPr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24990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defTabSz="9112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077" y="1"/>
            <a:ext cx="2947024" cy="4964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083" y="4715865"/>
            <a:ext cx="5437510" cy="4468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22"/>
            <a:ext cx="2947024" cy="4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defTabSz="9112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077" y="9430022"/>
            <a:ext cx="2947024" cy="496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083" tIns="45542" rIns="91083" bIns="45542" numCol="1" anchor="b" anchorCtr="0" compatLnSpc="1">
            <a:prstTxWarp prst="textNoShape">
              <a:avLst/>
            </a:prstTxWarp>
          </a:bodyPr>
          <a:lstStyle>
            <a:lvl1pPr algn="r" defTabSz="911225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90FDB5D-6401-4628-BA6A-E1668B42D9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3582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488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748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8570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7546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957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727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471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5768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Figure 2.8 indicates a way in which processes may be managed. Two processes,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and B, exist in portions of main memory. That is, a block of memory is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allocated to each process that contains the program, data, and context information.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Each process is recorded in a process list built and maintained by the OS.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list contains one entry for each process, which includes a pointer to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location of the block of memory that contains the process. The entry may also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include part or all of the execution context of the process. The remainder of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context is stored elsewhere, perhaps with the process itself (as indicated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2.8 ) or frequently in a separate region of memory. The process index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register contains the index into the process list of the process currently controlling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processor. The program counter points to the next instruction in that process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be executed. The base and limit registers define the region in memory occupied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the process: The base register is the starting address of the region of memory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limit is the size of the region (in bytes or words). The program counter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all data references are interpreted relative to the base register and must not exceed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value in the limit register. This prevents interprocess interference.</a:t>
            </a:r>
          </a:p>
          <a:p>
            <a:endParaRPr lang="en-US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Figure 2.8 , the process index register indicates that process B is executing.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 A was previously executing but has been temporarily interrupted.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contents of all the registers at the moment of A’s interruption were recorded in its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execution context. Later, the OS can perform a process switch and resume execution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of process A. The process switch consists of storing the context of B and restoring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context of A. When the program counter is loaded with a value pointing into A’s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program area, process A will automatically resume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481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5386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576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8656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90FDB5D-6401-4628-BA6A-E1668B42D938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656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828800"/>
            <a:ext cx="7772400" cy="838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248400" cy="990600"/>
          </a:xfrm>
        </p:spPr>
        <p:txBody>
          <a:bodyPr/>
          <a:lstStyle>
            <a:lvl1pPr marL="0" indent="0" algn="ctr">
              <a:buFontTx/>
              <a:buNone/>
              <a:defRPr sz="3400" i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273C3375-7A65-4B65-B7D5-3B09C07B48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57838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7F103D-599D-4770-B4B8-436F0A5A460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404030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13640F-7D79-4714-9EBE-16FBB60D673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607361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3A585E-9A1F-4357-AE1C-DDD70AB7EAB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88546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B1A48-C0A4-46F9-A086-F2E37331C60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49815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B40F8-46A7-40B8-B3E3-B722609ED82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30157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7A114-D0A4-4D2A-A6FA-CC1620F4FE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74138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9F440B-BBF4-4CC1-AC0E-31AE202BF5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55990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6BD077-0F6D-491F-9677-017179A47C9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515179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13536-F8DF-4E47-943B-02E557A480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380080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A2429-1CD2-4121-96BE-76BBBF783FC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791450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C2952-4F09-47B8-8C1C-70B1FBB754FF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3002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3781FB-1B80-4B19-B70A-B86DDF298B5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8798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BC9B8-F8B3-4750-8F49-2338054AEC0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6810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2AF6E-4F4B-4D83-8828-0C984708B0D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1017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36713-90D1-4840-8943-E83A3F7085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319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37619-4C96-497D-A1E2-D2928AFCF40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05365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20753-B36A-4294-8BE4-5AEDB67C6FB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67361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8FB271-088E-4F8A-8E60-7E367B3EA3B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298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408C42-9FE7-4A95-BB31-1917399F7B1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856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8C0AC-1B48-4BC7-A08C-B4B622529A8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8334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8B5F8-8518-4913-BF47-54296703E2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528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5C52CF-C331-4150-A5DB-18A85B4C2387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101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IE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B124B6-327C-409D-9738-BE218984ED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13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400800"/>
            <a:ext cx="5867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2000">
                <a:solidFill>
                  <a:srgbClr val="222222"/>
                </a:solidFill>
              </a:defRPr>
            </a:lvl1pPr>
          </a:lstStyle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4008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>
                <a:solidFill>
                  <a:srgbClr val="222222"/>
                </a:solidFill>
              </a:defRPr>
            </a:lvl1pPr>
          </a:lstStyle>
          <a:p>
            <a:pPr>
              <a:defRPr/>
            </a:pPr>
            <a:fld id="{AF36A08E-55FC-4D33-959F-7DFB2DACB8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ransition>
    <p:wipe dir="r"/>
  </p:transition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0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90A5E3BD-FB11-401F-9ACA-BFA185AA92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5825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hyperlink" Target="https://www.cs.uic.edu/~jbell/CourseNotes/OperatingSystems/3_Processes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609600" y="1828800"/>
            <a:ext cx="7848600" cy="1143000"/>
          </a:xfrm>
        </p:spPr>
        <p:txBody>
          <a:bodyPr/>
          <a:lstStyle/>
          <a:p>
            <a:pPr eaLnBrk="1" hangingPunct="1"/>
            <a:r>
              <a:rPr lang="en-CA" b="0" dirty="0"/>
              <a:t>Operating Systems 2 </a:t>
            </a:r>
            <a:endParaRPr lang="en-US" b="0" dirty="0"/>
          </a:p>
        </p:txBody>
      </p:sp>
      <p:sp>
        <p:nvSpPr>
          <p:cNvPr id="307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91000"/>
            <a:ext cx="6324600" cy="114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br>
              <a:rPr lang="en-US" dirty="0"/>
            </a:br>
            <a:r>
              <a:rPr lang="en-US" dirty="0"/>
              <a:t>Processes 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09600"/>
          </a:xfrm>
        </p:spPr>
        <p:txBody>
          <a:bodyPr/>
          <a:lstStyle/>
          <a:p>
            <a:r>
              <a:rPr lang="en-IE" dirty="0"/>
              <a:t>Introduction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077200" cy="5410200"/>
          </a:xfrm>
        </p:spPr>
        <p:txBody>
          <a:bodyPr/>
          <a:lstStyle/>
          <a:p>
            <a:r>
              <a:rPr lang="en-IE" dirty="0"/>
              <a:t>What is a process….</a:t>
            </a:r>
          </a:p>
          <a:p>
            <a:endParaRPr lang="en-IE" dirty="0"/>
          </a:p>
          <a:p>
            <a:r>
              <a:rPr lang="en-IE" dirty="0"/>
              <a:t>The process scheduler </a:t>
            </a:r>
          </a:p>
          <a:p>
            <a:endParaRPr lang="en-IE" dirty="0"/>
          </a:p>
          <a:p>
            <a:r>
              <a:rPr lang="en-IE" dirty="0"/>
              <a:t>The process control Block; elements of the PCB</a:t>
            </a:r>
          </a:p>
          <a:p>
            <a:endParaRPr lang="en-IE" dirty="0"/>
          </a:p>
          <a:p>
            <a:r>
              <a:rPr lang="en-IE" dirty="0"/>
              <a:t>Creating process in Unix/Linux </a:t>
            </a:r>
          </a:p>
          <a:p>
            <a:pPr lvl="1"/>
            <a:r>
              <a:rPr lang="en-IE" dirty="0"/>
              <a:t>fork() command</a:t>
            </a:r>
          </a:p>
          <a:p>
            <a:pPr lvl="1"/>
            <a:r>
              <a:rPr lang="en-IE" dirty="0"/>
              <a:t>Wait() command</a:t>
            </a:r>
          </a:p>
          <a:p>
            <a:pPr lvl="1"/>
            <a:r>
              <a:rPr lang="en-IE" dirty="0"/>
              <a:t>exec commands </a:t>
            </a:r>
          </a:p>
          <a:p>
            <a:endParaRPr lang="en-IE" dirty="0"/>
          </a:p>
          <a:p>
            <a:r>
              <a:rPr lang="en-IE" dirty="0"/>
              <a:t>Multiprocessing system: scheduling; </a:t>
            </a:r>
            <a:r>
              <a:rPr lang="en-IE" dirty="0" err="1"/>
              <a:t>interprocess</a:t>
            </a:r>
            <a:r>
              <a:rPr lang="en-IE" dirty="0"/>
              <a:t> communication (synchronisation, asynchronous)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308296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6147" name="Rectangle 1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762000"/>
          </a:xfrm>
        </p:spPr>
        <p:txBody>
          <a:bodyPr/>
          <a:lstStyle/>
          <a:p>
            <a:pPr eaLnBrk="1" hangingPunct="1"/>
            <a:r>
              <a:rPr lang="en-US" dirty="0"/>
              <a:t>Some revision</a:t>
            </a:r>
            <a:endParaRPr lang="en-CA" dirty="0"/>
          </a:p>
        </p:txBody>
      </p:sp>
      <p:sp>
        <p:nvSpPr>
          <p:cNvPr id="6148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/>
              <a:t>Simple system</a:t>
            </a:r>
          </a:p>
          <a:p>
            <a:pPr lvl="1" eaLnBrk="1" hangingPunct="1"/>
            <a:r>
              <a:rPr lang="en-US" dirty="0"/>
              <a:t>Single user</a:t>
            </a:r>
          </a:p>
          <a:p>
            <a:pPr lvl="1" eaLnBrk="1" hangingPunct="1"/>
            <a:r>
              <a:rPr lang="en-US" dirty="0"/>
              <a:t>One processor: busy only when executing the user’s job or system software</a:t>
            </a:r>
          </a:p>
          <a:p>
            <a:endParaRPr lang="en-US" dirty="0"/>
          </a:p>
          <a:p>
            <a:r>
              <a:rPr lang="en-US" dirty="0"/>
              <a:t>Multiprogramming environment: multiple </a:t>
            </a:r>
            <a:r>
              <a:rPr lang="en-US" i="1" dirty="0"/>
              <a:t>processes</a:t>
            </a:r>
            <a:r>
              <a:rPr lang="en-US" dirty="0"/>
              <a:t> competing to be run by a single CPU</a:t>
            </a:r>
          </a:p>
          <a:p>
            <a:pPr lvl="1"/>
            <a:r>
              <a:rPr lang="en-US" dirty="0"/>
              <a:t>Requires fair and efficient CPU allocation for each job</a:t>
            </a:r>
          </a:p>
          <a:p>
            <a:endParaRPr lang="en-US" dirty="0"/>
          </a:p>
          <a:p>
            <a:pPr lvl="1" eaLnBrk="1" hangingPunct="1"/>
            <a:endParaRPr lang="en-US" dirty="0"/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FAC001D1-CBDA-44A0-A859-4F5FF98B2DC3}" type="slidenum">
              <a:rPr lang="en-US" sz="2000" smtClean="0">
                <a:solidFill>
                  <a:srgbClr val="222222"/>
                </a:solidFill>
              </a:rPr>
              <a:pPr eaLnBrk="1" hangingPunct="1"/>
              <a:t>3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7171" name="Rectangle 2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Definitions</a:t>
            </a:r>
            <a:endParaRPr lang="en-CA" dirty="0"/>
          </a:p>
        </p:txBody>
      </p:sp>
      <p:sp>
        <p:nvSpPr>
          <p:cNvPr id="7172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Processor (CPU)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Performs calculations and executes programs</a:t>
            </a:r>
            <a:endParaRPr lang="en-CA" dirty="0"/>
          </a:p>
          <a:p>
            <a:pPr eaLnBrk="1" hangingPunct="1">
              <a:lnSpc>
                <a:spcPct val="90000"/>
              </a:lnSpc>
            </a:pPr>
            <a:r>
              <a:rPr lang="en-CA" dirty="0"/>
              <a:t>Program (job)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In</a:t>
            </a:r>
            <a:r>
              <a:rPr lang="en-US" dirty="0"/>
              <a:t>active unit, e.g., “an application stored on a secondary storage disk”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Unit of work submitted by the user</a:t>
            </a:r>
          </a:p>
          <a:p>
            <a:pPr eaLnBrk="1" hangingPunct="1">
              <a:lnSpc>
                <a:spcPct val="90000"/>
              </a:lnSpc>
            </a:pPr>
            <a:r>
              <a:rPr lang="en-CA" dirty="0"/>
              <a:t>Process (task)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A single instance of an executable program</a:t>
            </a:r>
          </a:p>
          <a:p>
            <a:pPr lvl="1" eaLnBrk="1" hangingPunct="1">
              <a:lnSpc>
                <a:spcPct val="90000"/>
              </a:lnSpc>
            </a:pPr>
            <a:r>
              <a:rPr lang="en-CA" dirty="0"/>
              <a:t>Active entity that Requires resources (such as processor, special registers, its own memory space, and context data or process control box (PCB) ) to</a:t>
            </a:r>
            <a:r>
              <a:rPr lang="en-US" dirty="0"/>
              <a:t> </a:t>
            </a:r>
            <a:r>
              <a:rPr lang="en-CA" dirty="0"/>
              <a:t>perform its function</a:t>
            </a:r>
          </a:p>
          <a:p>
            <a:pPr lvl="1" eaLnBrk="1" hangingPunct="1">
              <a:lnSpc>
                <a:spcPct val="90000"/>
              </a:lnSpc>
            </a:pPr>
            <a:endParaRPr lang="en-CA" dirty="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52B651F4-AC24-43E8-B39B-D6B20D7F6034}" type="slidenum">
              <a:rPr lang="en-US" sz="2000" smtClean="0">
                <a:solidFill>
                  <a:srgbClr val="222222"/>
                </a:solidFill>
              </a:rPr>
              <a:pPr eaLnBrk="1" hangingPunct="1"/>
              <a:t>4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7171" name="Rectangle 2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838200"/>
          </a:xfrm>
        </p:spPr>
        <p:txBody>
          <a:bodyPr/>
          <a:lstStyle/>
          <a:p>
            <a:pPr eaLnBrk="1" hangingPunct="1"/>
            <a:r>
              <a:rPr lang="en-US" dirty="0"/>
              <a:t>Definitions (cont’d.)</a:t>
            </a:r>
            <a:endParaRPr lang="en-CA" dirty="0"/>
          </a:p>
        </p:txBody>
      </p:sp>
      <p:sp>
        <p:nvSpPr>
          <p:cNvPr id="7172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533400" y="1066800"/>
            <a:ext cx="80772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000" dirty="0"/>
              <a:t>Thread (of control)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Portion of a process; a process can have </a:t>
            </a:r>
            <a:r>
              <a:rPr lang="en-US" sz="2000" i="1" dirty="0"/>
              <a:t>multiple</a:t>
            </a:r>
            <a:r>
              <a:rPr lang="en-US" sz="2000" dirty="0"/>
              <a:t> threads of control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 process is equivalent to a program while threads are equivalent to modules/methods within the program</a:t>
            </a:r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sz="2000" dirty="0"/>
              <a:t>A thread is executed “independently” </a:t>
            </a:r>
            <a:r>
              <a:rPr lang="en-US" sz="2000" i="1" dirty="0"/>
              <a:t>within</a:t>
            </a:r>
            <a:r>
              <a:rPr lang="en-US" sz="2000" dirty="0"/>
              <a:t> the parent process;</a:t>
            </a:r>
            <a:endParaRPr lang="en-US" sz="2000" i="1" dirty="0"/>
          </a:p>
          <a:p>
            <a:pPr lvl="1" eaLnBrk="1" hangingPunct="1">
              <a:lnSpc>
                <a:spcPct val="90000"/>
              </a:lnSpc>
            </a:pPr>
            <a:endParaRPr lang="en-US" sz="2000" dirty="0"/>
          </a:p>
        </p:txBody>
      </p:sp>
      <p:sp>
        <p:nvSpPr>
          <p:cNvPr id="71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52B651F4-AC24-43E8-B39B-D6B20D7F6034}" type="slidenum">
              <a:rPr lang="en-US" sz="2000" smtClean="0">
                <a:solidFill>
                  <a:srgbClr val="222222"/>
                </a:solidFill>
              </a:rPr>
              <a:pPr eaLnBrk="1" hangingPunct="1"/>
              <a:t>5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3637890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457200"/>
          </a:xfrm>
        </p:spPr>
        <p:txBody>
          <a:bodyPr/>
          <a:lstStyle/>
          <a:p>
            <a:r>
              <a:rPr lang="en-GB" dirty="0"/>
              <a:t>Definitions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" y="9144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Multiprogramming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Processor allocated to each job/process/thread for a time period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E.g. two or more programs (jobs). The jobs are independent of one another.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Executing  job 1 and job 2 is in a </a:t>
            </a:r>
            <a:r>
              <a:rPr lang="en-US" b="1" dirty="0"/>
              <a:t>queue</a:t>
            </a:r>
            <a:r>
              <a:rPr lang="en-US" dirty="0"/>
              <a:t>. At an appropriate time (i/o instruction) an interrupt is evoked; and the position of execution is noted: the register contents including the program counter are updated.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Then job 2 is executed and either at an interrupt or when finished job 1 begins from point where it stopped executing 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In a single processor the jobs are interleaved (</a:t>
            </a:r>
            <a:r>
              <a:rPr lang="en-US" i="1" dirty="0"/>
              <a:t>run concurrently</a:t>
            </a:r>
            <a:r>
              <a:rPr lang="en-US" dirty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dirty="0"/>
              <a:t>In multiprocessor system can be run in parallel</a:t>
            </a:r>
          </a:p>
          <a:p>
            <a:pPr lvl="1" eaLnBrk="1" hangingPunct="1">
              <a:lnSpc>
                <a:spcPct val="90000"/>
              </a:lnSpc>
            </a:pPr>
            <a:endParaRPr lang="en-US" dirty="0"/>
          </a:p>
          <a:p>
            <a:endParaRPr lang="en-I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04488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85800"/>
          </a:xfrm>
        </p:spPr>
        <p:txBody>
          <a:bodyPr/>
          <a:lstStyle/>
          <a:p>
            <a:r>
              <a:rPr lang="en-IE" dirty="0"/>
              <a:t>Process Space</a:t>
            </a:r>
          </a:p>
        </p:txBody>
      </p:sp>
      <p:pic>
        <p:nvPicPr>
          <p:cNvPr id="6" name="Content Placeholder 5" descr="03-Process.pdf - Adobe Acrobat Profession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531" y="1219200"/>
            <a:ext cx="7156938" cy="50292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58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1126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Scheduling Submanagers </a:t>
            </a:r>
            <a:r>
              <a:rPr lang="en-US" dirty="0"/>
              <a:t>(cont'd.)</a:t>
            </a:r>
            <a:endParaRPr lang="en-CA" dirty="0"/>
          </a:p>
        </p:txBody>
      </p:sp>
      <p:sp>
        <p:nvSpPr>
          <p:cNvPr id="11268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Job Scheduler functions </a:t>
            </a:r>
          </a:p>
          <a:p>
            <a:pPr lvl="1" eaLnBrk="1" hangingPunct="1"/>
            <a:r>
              <a:rPr lang="en-US" dirty="0"/>
              <a:t>Selects incoming job from queue</a:t>
            </a:r>
          </a:p>
          <a:p>
            <a:pPr lvl="1" eaLnBrk="1" hangingPunct="1"/>
            <a:r>
              <a:rPr lang="en-US" dirty="0"/>
              <a:t>Places in process queue</a:t>
            </a:r>
          </a:p>
          <a:p>
            <a:pPr lvl="1" eaLnBrk="1" hangingPunct="1"/>
            <a:r>
              <a:rPr lang="en-US" dirty="0"/>
              <a:t>Decides on job initiation criteria</a:t>
            </a:r>
          </a:p>
          <a:p>
            <a:pPr lvl="2" eaLnBrk="1" hangingPunct="1"/>
            <a:r>
              <a:rPr lang="en-US" dirty="0"/>
              <a:t>Process scheduling algorithm and priority (priority queues)</a:t>
            </a:r>
          </a:p>
          <a:p>
            <a:pPr eaLnBrk="1" hangingPunct="1"/>
            <a:r>
              <a:rPr lang="en-US" dirty="0"/>
              <a:t>Goal</a:t>
            </a:r>
          </a:p>
          <a:p>
            <a:pPr lvl="1" eaLnBrk="1" hangingPunct="1"/>
            <a:r>
              <a:rPr lang="en-US" dirty="0"/>
              <a:t>Sequence jobs </a:t>
            </a:r>
          </a:p>
          <a:p>
            <a:pPr lvl="2" eaLnBrk="1" hangingPunct="1"/>
            <a:r>
              <a:rPr lang="en-US" dirty="0"/>
              <a:t>Efficient system resource utilization</a:t>
            </a:r>
          </a:p>
          <a:p>
            <a:pPr lvl="1" eaLnBrk="1" hangingPunct="1"/>
            <a:r>
              <a:rPr lang="en-US" dirty="0"/>
              <a:t>Balance I/O interaction and computation</a:t>
            </a:r>
          </a:p>
          <a:p>
            <a:pPr lvl="1" eaLnBrk="1" hangingPunct="1"/>
            <a:r>
              <a:rPr lang="en-US" dirty="0"/>
              <a:t>Keep most system components busy most of time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B4633CE9-2178-4E13-9D9B-B4EAEC0FB737}" type="slidenum">
              <a:rPr lang="en-US" sz="2000" smtClean="0">
                <a:solidFill>
                  <a:srgbClr val="222222"/>
                </a:solidFill>
              </a:rPr>
              <a:pPr eaLnBrk="1" hangingPunct="1"/>
              <a:t>8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12291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Process Scheduler</a:t>
            </a:r>
          </a:p>
        </p:txBody>
      </p:sp>
      <p:sp>
        <p:nvSpPr>
          <p:cNvPr id="12292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33400" y="1371600"/>
            <a:ext cx="8077200" cy="4876800"/>
          </a:xfrm>
        </p:spPr>
        <p:txBody>
          <a:bodyPr/>
          <a:lstStyle/>
          <a:p>
            <a:pPr eaLnBrk="1" hangingPunct="1"/>
            <a:r>
              <a:rPr lang="en-US" dirty="0"/>
              <a:t>Process Scheduler functions</a:t>
            </a:r>
          </a:p>
          <a:p>
            <a:pPr lvl="1" eaLnBrk="1" hangingPunct="1"/>
            <a:r>
              <a:rPr lang="en-US" dirty="0"/>
              <a:t>Determines process to get CPU resource</a:t>
            </a:r>
          </a:p>
          <a:p>
            <a:pPr lvl="2" eaLnBrk="1" hangingPunct="1"/>
            <a:r>
              <a:rPr lang="en-US" dirty="0"/>
              <a:t>When and how long</a:t>
            </a:r>
          </a:p>
          <a:p>
            <a:pPr lvl="1" eaLnBrk="1" hangingPunct="1"/>
            <a:r>
              <a:rPr lang="en-US" dirty="0"/>
              <a:t>Decides interrupt processing</a:t>
            </a:r>
          </a:p>
          <a:p>
            <a:pPr lvl="1" eaLnBrk="1" hangingPunct="1"/>
            <a:r>
              <a:rPr lang="en-US" dirty="0"/>
              <a:t>Determines queues for process movement during execution</a:t>
            </a:r>
          </a:p>
          <a:p>
            <a:pPr lvl="1" eaLnBrk="1" hangingPunct="1"/>
            <a:r>
              <a:rPr lang="en-US" dirty="0"/>
              <a:t>Recognizes job conclusion</a:t>
            </a:r>
          </a:p>
          <a:p>
            <a:pPr lvl="2" eaLnBrk="1" hangingPunct="1"/>
            <a:r>
              <a:rPr lang="en-US" dirty="0"/>
              <a:t>Determines process termination</a:t>
            </a:r>
          </a:p>
          <a:p>
            <a:pPr eaLnBrk="1" hangingPunct="1"/>
            <a:r>
              <a:rPr lang="en-US" dirty="0"/>
              <a:t>Lower-level scheduler in the hierarchy </a:t>
            </a:r>
          </a:p>
          <a:p>
            <a:pPr lvl="1" eaLnBrk="1" hangingPunct="1"/>
            <a:r>
              <a:rPr lang="en-US" dirty="0"/>
              <a:t>Assigns CPU to execute individual actions: jobs placed on READY queue by the Job Scheduler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9AF6B746-87C7-4BFD-86AA-4D401579960F}" type="slidenum">
              <a:rPr lang="en-US" sz="2000" smtClean="0">
                <a:solidFill>
                  <a:srgbClr val="222222"/>
                </a:solidFill>
              </a:rPr>
              <a:pPr eaLnBrk="1" hangingPunct="1"/>
              <a:t>9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22222"/>
                </a:solidFill>
              </a:rPr>
              <a:t>Understanding Operating Systems</a:t>
            </a:r>
          </a:p>
        </p:txBody>
      </p:sp>
      <p:sp>
        <p:nvSpPr>
          <p:cNvPr id="13315" name="Rectangle 1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914400"/>
          </a:xfrm>
        </p:spPr>
        <p:txBody>
          <a:bodyPr/>
          <a:lstStyle/>
          <a:p>
            <a:pPr eaLnBrk="1" hangingPunct="1"/>
            <a:r>
              <a:rPr lang="en-US" dirty="0"/>
              <a:t>Process Scheduler (cont'd.)</a:t>
            </a:r>
          </a:p>
        </p:txBody>
      </p:sp>
      <p:sp>
        <p:nvSpPr>
          <p:cNvPr id="13316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8077200" cy="4572000"/>
          </a:xfrm>
        </p:spPr>
        <p:txBody>
          <a:bodyPr/>
          <a:lstStyle/>
          <a:p>
            <a:pPr eaLnBrk="1" hangingPunct="1"/>
            <a:r>
              <a:rPr lang="en-US" dirty="0"/>
              <a:t>Exploits common computer program traits</a:t>
            </a:r>
          </a:p>
          <a:p>
            <a:pPr lvl="1" eaLnBrk="1" hangingPunct="1"/>
            <a:r>
              <a:rPr lang="en-US" dirty="0"/>
              <a:t>Programs alternate between two cycles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dirty="0"/>
              <a:t>CPU </a:t>
            </a:r>
          </a:p>
          <a:p>
            <a:pPr marL="1371600" lvl="2" indent="-457200" eaLnBrk="1" hangingPunct="1">
              <a:buFont typeface="+mj-lt"/>
              <a:buAutoNum type="arabicPeriod"/>
            </a:pPr>
            <a:r>
              <a:rPr lang="en-US" dirty="0"/>
              <a:t>I/O cycles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General tendencies</a:t>
            </a:r>
          </a:p>
          <a:p>
            <a:pPr lvl="1" eaLnBrk="1" hangingPunct="1"/>
            <a:r>
              <a:rPr lang="en-US" dirty="0"/>
              <a:t>I/O-bound job</a:t>
            </a:r>
          </a:p>
          <a:p>
            <a:pPr lvl="2" eaLnBrk="1" hangingPunct="1"/>
            <a:r>
              <a:rPr lang="en-US" dirty="0"/>
              <a:t>Many brief CPU cycles and long I/O cycles (printing documents)</a:t>
            </a:r>
          </a:p>
          <a:p>
            <a:pPr lvl="1" eaLnBrk="1" hangingPunct="1"/>
            <a:r>
              <a:rPr lang="en-US" dirty="0"/>
              <a:t>CPU-bound job</a:t>
            </a:r>
          </a:p>
          <a:p>
            <a:pPr lvl="2" eaLnBrk="1" hangingPunct="1"/>
            <a:r>
              <a:rPr lang="en-US" dirty="0"/>
              <a:t>Many long CPU cycles and shorter I/O cycles ( a complex </a:t>
            </a:r>
            <a:r>
              <a:rPr lang="en-US" dirty="0" err="1"/>
              <a:t>maths</a:t>
            </a:r>
            <a:r>
              <a:rPr lang="en-US" dirty="0"/>
              <a:t> calculation)</a:t>
            </a:r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849351A4-B289-4DF9-80E1-AB4420A40E85}" type="slidenum">
              <a:rPr lang="en-US" sz="2000" smtClean="0">
                <a:solidFill>
                  <a:srgbClr val="222222"/>
                </a:solidFill>
              </a:rPr>
              <a:pPr eaLnBrk="1" hangingPunct="1"/>
              <a:t>10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16387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Job and Process States</a:t>
            </a:r>
          </a:p>
        </p:txBody>
      </p:sp>
      <p:sp>
        <p:nvSpPr>
          <p:cNvPr id="16388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33400" y="1295400"/>
            <a:ext cx="8077200" cy="4572000"/>
          </a:xfrm>
        </p:spPr>
        <p:txBody>
          <a:bodyPr/>
          <a:lstStyle/>
          <a:p>
            <a:pPr eaLnBrk="1" hangingPunct="1"/>
            <a:r>
              <a:rPr lang="en-CA" dirty="0"/>
              <a:t>Status changes: as a job or process moves</a:t>
            </a:r>
            <a:r>
              <a:rPr lang="en-US" dirty="0"/>
              <a:t> </a:t>
            </a:r>
            <a:r>
              <a:rPr lang="en-CA" dirty="0"/>
              <a:t>through the system</a:t>
            </a:r>
          </a:p>
          <a:p>
            <a:pPr lvl="1" eaLnBrk="1" hangingPunct="1"/>
            <a:r>
              <a:rPr lang="en-CA" dirty="0"/>
              <a:t>HOLD and placed in a queue (sometimes a priority queue</a:t>
            </a:r>
          </a:p>
          <a:p>
            <a:pPr lvl="1" eaLnBrk="1" hangingPunct="1"/>
            <a:r>
              <a:rPr lang="en-CA" dirty="0"/>
              <a:t>READY (job begins processing if enough resources available)</a:t>
            </a:r>
          </a:p>
          <a:p>
            <a:pPr lvl="1" eaLnBrk="1" hangingPunct="1"/>
            <a:r>
              <a:rPr lang="en-CA" dirty="0"/>
              <a:t>WAITING (can not continue until specific resource available e.g. i/o request  </a:t>
            </a:r>
          </a:p>
          <a:p>
            <a:pPr lvl="1" eaLnBrk="1" hangingPunct="1"/>
            <a:r>
              <a:rPr lang="en-CA" dirty="0"/>
              <a:t>RUNNING: processing </a:t>
            </a:r>
          </a:p>
          <a:p>
            <a:pPr lvl="1" eaLnBrk="1" hangingPunct="1"/>
            <a:r>
              <a:rPr lang="en-CA" dirty="0"/>
              <a:t>FINISHED</a:t>
            </a:r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98455985-BECB-46C6-A01B-6F041AA50FF1}" type="slidenum">
              <a:rPr lang="en-US" sz="2000" smtClean="0">
                <a:solidFill>
                  <a:srgbClr val="222222"/>
                </a:solidFill>
              </a:rPr>
              <a:pPr eaLnBrk="1" hangingPunct="1"/>
              <a:t>11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391400" cy="488950"/>
          </a:xfrm>
        </p:spPr>
        <p:txBody>
          <a:bodyPr/>
          <a:lstStyle/>
          <a:p>
            <a:r>
              <a:rPr lang="en-US" dirty="0"/>
              <a:t>Process Management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658368" y="1143000"/>
            <a:ext cx="7037832" cy="685800"/>
          </a:xfrm>
        </p:spPr>
        <p:txBody>
          <a:bodyPr/>
          <a:lstStyle/>
          <a:p>
            <a:pPr>
              <a:buSzPct val="150000"/>
              <a:buFont typeface="Wingdings" charset="2"/>
              <a:buChar char="§"/>
            </a:pPr>
            <a:r>
              <a:rPr lang="en-US" sz="1800" dirty="0"/>
              <a:t> The entire </a:t>
            </a:r>
            <a:r>
              <a:rPr lang="en-US" sz="1800" i="1" dirty="0"/>
              <a:t>state of the process</a:t>
            </a:r>
            <a:r>
              <a:rPr lang="en-US" sz="1800" dirty="0"/>
              <a:t> at any instant is contained in its </a:t>
            </a:r>
            <a:r>
              <a:rPr lang="en-US" sz="1800" i="1" dirty="0"/>
              <a:t>context (process control block)</a:t>
            </a:r>
          </a:p>
        </p:txBody>
      </p:sp>
      <p:pic>
        <p:nvPicPr>
          <p:cNvPr id="7" name="Picture 6" descr="f8.pdf"/>
          <p:cNvPicPr>
            <a:picLocks noChangeAspect="1"/>
          </p:cNvPicPr>
          <p:nvPr/>
        </p:nvPicPr>
        <p:blipFill>
          <a:blip r:embed="rId3"/>
          <a:srcRect l="2353" t="12727" r="24706" b="21818"/>
          <a:stretch>
            <a:fillRect/>
          </a:stretch>
        </p:blipFill>
        <p:spPr>
          <a:xfrm>
            <a:off x="2133600" y="1828800"/>
            <a:ext cx="5183643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8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3400" y="381000"/>
            <a:ext cx="8305800" cy="685800"/>
          </a:xfrm>
        </p:spPr>
        <p:txBody>
          <a:bodyPr/>
          <a:lstStyle/>
          <a:p>
            <a:r>
              <a:rPr lang="en-GB" dirty="0"/>
              <a:t>Fields of a process control block (PCB)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066800"/>
            <a:ext cx="8077200" cy="5257800"/>
          </a:xfrm>
        </p:spPr>
        <p:txBody>
          <a:bodyPr/>
          <a:lstStyle/>
          <a:p>
            <a:r>
              <a:rPr lang="en-GB" sz="2200" b="1" i="1" dirty="0"/>
              <a:t>Process id</a:t>
            </a:r>
            <a:r>
              <a:rPr lang="en-GB" sz="2200" i="1" dirty="0"/>
              <a:t>. A unique number assigned when job enters the system</a:t>
            </a:r>
          </a:p>
          <a:p>
            <a:r>
              <a:rPr lang="en-GB" sz="2200" b="1" i="1" dirty="0"/>
              <a:t>Process status</a:t>
            </a:r>
            <a:r>
              <a:rPr lang="en-GB" sz="2200" i="1" dirty="0"/>
              <a:t>: hold, ready, running waiting</a:t>
            </a:r>
          </a:p>
          <a:p>
            <a:r>
              <a:rPr lang="en-GB" sz="2400" i="1" dirty="0"/>
              <a:t>Process state (all information to indicate current state of the job</a:t>
            </a:r>
          </a:p>
          <a:p>
            <a:pPr lvl="1"/>
            <a:r>
              <a:rPr lang="en-GB" sz="2200" b="1" i="1" dirty="0"/>
              <a:t>Program counter</a:t>
            </a:r>
            <a:r>
              <a:rPr lang="en-GB" sz="2200" i="1" dirty="0"/>
              <a:t>: current instruction counter</a:t>
            </a:r>
          </a:p>
          <a:p>
            <a:pPr lvl="1"/>
            <a:r>
              <a:rPr lang="en-GB" sz="2200" b="1" i="1" dirty="0"/>
              <a:t>register contents</a:t>
            </a:r>
            <a:r>
              <a:rPr lang="en-GB" sz="2200" i="1" dirty="0"/>
              <a:t>; e.g. accumulator register</a:t>
            </a:r>
          </a:p>
          <a:p>
            <a:pPr lvl="1"/>
            <a:r>
              <a:rPr lang="en-GB" sz="2200" b="1" i="1" dirty="0"/>
              <a:t>Main memory</a:t>
            </a:r>
            <a:r>
              <a:rPr lang="en-GB" sz="2200" i="1" dirty="0"/>
              <a:t>: where the job is stored by refer to process management table (P.M.T.)</a:t>
            </a:r>
          </a:p>
          <a:p>
            <a:pPr lvl="1"/>
            <a:r>
              <a:rPr lang="en-GB" sz="2200" b="1" i="1" dirty="0"/>
              <a:t>Resources</a:t>
            </a:r>
            <a:r>
              <a:rPr lang="en-GB" sz="2200" i="1" dirty="0"/>
              <a:t>: hardware (disk) or files</a:t>
            </a:r>
          </a:p>
          <a:p>
            <a:pPr lvl="1"/>
            <a:r>
              <a:rPr lang="en-GB" sz="2200" b="1" i="1" dirty="0"/>
              <a:t>Priority</a:t>
            </a:r>
            <a:r>
              <a:rPr lang="en-GB" sz="2200" i="1" dirty="0"/>
              <a:t>: determines when the job will run </a:t>
            </a:r>
          </a:p>
          <a:p>
            <a:r>
              <a:rPr lang="en-GB" sz="2200" b="1" i="1" dirty="0"/>
              <a:t>Accounting</a:t>
            </a:r>
            <a:r>
              <a:rPr lang="en-GB" sz="2200" i="1" dirty="0"/>
              <a:t>: what resources, e.g. CPU, the job used and for how long </a:t>
            </a:r>
          </a:p>
          <a:p>
            <a:endParaRPr lang="en-IE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F47A114-D0A4-4D2A-A6FA-CC1620F4FEAE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081341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85800"/>
          </a:xfrm>
        </p:spPr>
        <p:txBody>
          <a:bodyPr/>
          <a:lstStyle/>
          <a:p>
            <a:r>
              <a:rPr lang="en-IE" sz="2400" dirty="0"/>
              <a:t>Managing process List (URL </a:t>
            </a:r>
            <a:r>
              <a:rPr lang="en-IE" sz="2400" dirty="0">
                <a:hlinkClick r:id="rId2"/>
              </a:rPr>
              <a:t>double link list link</a:t>
            </a:r>
            <a:r>
              <a:rPr lang="en-IE" sz="2400" dirty="0"/>
              <a:t>)</a:t>
            </a:r>
            <a:r>
              <a:rPr lang="en-IE" sz="2400" dirty="0" err="1">
                <a:solidFill>
                  <a:srgbClr val="FFFFFF"/>
                </a:solidFill>
              </a:rPr>
              <a:t>rocess</a:t>
            </a:r>
            <a:r>
              <a:rPr lang="en-IE" sz="2400" dirty="0">
                <a:solidFill>
                  <a:srgbClr val="FFFFFF"/>
                </a:solidFill>
              </a:rPr>
              <a:t> list </a:t>
            </a:r>
          </a:p>
        </p:txBody>
      </p:sp>
      <p:pic>
        <p:nvPicPr>
          <p:cNvPr id="9" name="Content Placeholder 8" descr="Operating Systems: Processes - Mozilla Firefox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219200"/>
            <a:ext cx="8077200" cy="4348362"/>
          </a:xfr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781800" y="6400800"/>
            <a:ext cx="1905000" cy="228600"/>
          </a:xfrm>
        </p:spPr>
        <p:txBody>
          <a:bodyPr/>
          <a:lstStyle/>
          <a:p>
            <a:pPr>
              <a:defRPr/>
            </a:pPr>
            <a:fld id="{5D9F440B-BBF4-4CC1-AC0E-31AE202BF5D6}" type="slidenum">
              <a:rPr lang="en-US" sz="2400" smtClean="0"/>
              <a:pPr>
                <a:defRPr/>
              </a:pPr>
              <a:t>14</a:t>
            </a:fld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57912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 err="1">
                <a:solidFill>
                  <a:srgbClr val="000000"/>
                </a:solidFill>
              </a:rPr>
              <a:t>Task_struct</a:t>
            </a:r>
            <a:r>
              <a:rPr lang="en-IE" sz="2400" dirty="0">
                <a:solidFill>
                  <a:srgbClr val="000000"/>
                </a:solidFill>
              </a:rPr>
              <a:t> is </a:t>
            </a:r>
            <a:r>
              <a:rPr lang="en-IE" sz="2400" dirty="0" err="1">
                <a:solidFill>
                  <a:srgbClr val="000000"/>
                </a:solidFill>
              </a:rPr>
              <a:t>linux</a:t>
            </a:r>
            <a:r>
              <a:rPr lang="en-IE" sz="2400" dirty="0">
                <a:solidFill>
                  <a:srgbClr val="000000"/>
                </a:solidFill>
              </a:rPr>
              <a:t> implementation of the PCB</a:t>
            </a:r>
          </a:p>
        </p:txBody>
      </p:sp>
    </p:spTree>
    <p:extLst>
      <p:ext uri="{BB962C8B-B14F-4D97-AF65-F5344CB8AC3E}">
        <p14:creationId xmlns:p14="http://schemas.microsoft.com/office/powerpoint/2010/main" val="511304475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Processing states (Control Block) and Queuing </a:t>
            </a:r>
            <a:r>
              <a:rPr lang="en-US" dirty="0"/>
              <a:t>(cont'd.)</a:t>
            </a:r>
            <a:endParaRPr lang="en-CA" dirty="0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3E1A5740-32CA-4898-A33B-5C7F083E9487}" type="slidenum">
              <a:rPr lang="en-US" sz="2000" smtClean="0">
                <a:solidFill>
                  <a:srgbClr val="222222"/>
                </a:solidFill>
              </a:rPr>
              <a:pPr eaLnBrk="1" hangingPunct="1"/>
              <a:t>15</a:t>
            </a:fld>
            <a:endParaRPr lang="en-US" sz="2000" dirty="0">
              <a:solidFill>
                <a:srgbClr val="222222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7820"/>
            <a:ext cx="8574186" cy="3421380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 rot="10800000" flipV="1">
            <a:off x="514350" y="5125758"/>
            <a:ext cx="81534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sz="1800" b="1" dirty="0">
                <a:solidFill>
                  <a:srgbClr val="000000"/>
                </a:solidFill>
                <a:ea typeface="ＭＳ Ｐゴシック" pitchFamily="34" charset="-128"/>
              </a:rPr>
              <a:t>(figure 4.5) </a:t>
            </a:r>
          </a:p>
          <a:p>
            <a:pPr eaLnBrk="0" hangingPunct="0"/>
            <a:r>
              <a:rPr lang="en-US" sz="1800" b="1" dirty="0">
                <a:solidFill>
                  <a:srgbClr val="000000"/>
                </a:solidFill>
                <a:ea typeface="ＭＳ Ｐゴシック" pitchFamily="34" charset="-128"/>
              </a:rPr>
              <a:t>Queuing paths</a:t>
            </a:r>
            <a:r>
              <a:rPr lang="en-US" sz="1800" dirty="0">
                <a:solidFill>
                  <a:srgbClr val="000000"/>
                </a:solidFill>
                <a:ea typeface="ＭＳ Ｐゴシック" pitchFamily="34" charset="-128"/>
              </a:rPr>
              <a:t> from HOLD to FINISHED. The Job and Processor schedulers release the resources when the job leaves the RUNNING state.</a:t>
            </a:r>
            <a:endParaRPr lang="en-US" sz="2400" i="1" dirty="0">
              <a:solidFill>
                <a:srgbClr val="000000"/>
              </a:solidFill>
              <a:ea typeface="ＭＳ Ｐゴシック" pitchFamily="34" charset="-128"/>
            </a:endParaRPr>
          </a:p>
        </p:txBody>
      </p:sp>
    </p:spTree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26627" name="Rectangle 1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Scheduling Policies</a:t>
            </a:r>
          </a:p>
        </p:txBody>
      </p:sp>
      <p:sp>
        <p:nvSpPr>
          <p:cNvPr id="26628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dirty="0"/>
              <a:t>Multiprogramming environment</a:t>
            </a:r>
          </a:p>
          <a:p>
            <a:pPr lvl="1" eaLnBrk="1" hangingPunct="1"/>
            <a:r>
              <a:rPr lang="en-CA" dirty="0"/>
              <a:t>More jobs than resources at any given time</a:t>
            </a:r>
          </a:p>
          <a:p>
            <a:pPr eaLnBrk="1" hangingPunct="1"/>
            <a:r>
              <a:rPr lang="en-CA" dirty="0"/>
              <a:t>Operating system pre-scheduling task</a:t>
            </a:r>
          </a:p>
          <a:p>
            <a:pPr lvl="1" eaLnBrk="1" hangingPunct="1"/>
            <a:r>
              <a:rPr lang="en-CA" dirty="0"/>
              <a:t>Resolve three</a:t>
            </a:r>
            <a:r>
              <a:rPr lang="en-US" dirty="0"/>
              <a:t> system </a:t>
            </a:r>
            <a:r>
              <a:rPr lang="en-CA" dirty="0"/>
              <a:t>limitations</a:t>
            </a:r>
          </a:p>
          <a:p>
            <a:pPr lvl="2" eaLnBrk="1" hangingPunct="1"/>
            <a:r>
              <a:rPr lang="en-CA" dirty="0"/>
              <a:t>Finite number of resources (disk drives, printers,</a:t>
            </a:r>
            <a:r>
              <a:rPr lang="en-US" dirty="0"/>
              <a:t> </a:t>
            </a:r>
            <a:r>
              <a:rPr lang="en-CA" dirty="0"/>
              <a:t>tape drives)</a:t>
            </a:r>
          </a:p>
          <a:p>
            <a:pPr lvl="2" eaLnBrk="1" hangingPunct="1"/>
            <a:r>
              <a:rPr lang="en-CA" dirty="0"/>
              <a:t>Some resources cannot be shared (mutual exclusion) once allocated</a:t>
            </a:r>
            <a:r>
              <a:rPr lang="en-US" dirty="0"/>
              <a:t> </a:t>
            </a:r>
            <a:r>
              <a:rPr lang="en-CA" dirty="0"/>
              <a:t>(printers)</a:t>
            </a:r>
          </a:p>
          <a:p>
            <a:pPr lvl="2" eaLnBrk="1" hangingPunct="1"/>
            <a:r>
              <a:rPr lang="en-CA" dirty="0"/>
              <a:t>Some resources require operator intervention before reassigning: mouse click / keyboard…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93A97F47-ABDE-432D-9501-CA1E25C9A8E2}" type="slidenum">
              <a:rPr lang="en-US" sz="2000" smtClean="0">
                <a:solidFill>
                  <a:srgbClr val="222222"/>
                </a:solidFill>
              </a:rPr>
              <a:pPr eaLnBrk="1" hangingPunct="1"/>
              <a:t>16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Scheduling Policies</a:t>
            </a:r>
            <a:r>
              <a:rPr lang="en-US" dirty="0"/>
              <a:t> (cont'd.)</a:t>
            </a:r>
            <a:endParaRPr lang="en-CA" dirty="0"/>
          </a:p>
        </p:txBody>
      </p:sp>
      <p:sp>
        <p:nvSpPr>
          <p:cNvPr id="28676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Good process scheduling policy criteria (cont'd.)</a:t>
            </a:r>
          </a:p>
          <a:p>
            <a:pPr lvl="1" eaLnBrk="1" hangingPunct="1"/>
            <a:r>
              <a:rPr lang="en-CA" dirty="0"/>
              <a:t>Maximize CPU efficiency</a:t>
            </a:r>
          </a:p>
          <a:p>
            <a:pPr lvl="2" eaLnBrk="1" hangingPunct="1"/>
            <a:r>
              <a:rPr lang="en-CA" dirty="0"/>
              <a:t>Keep CPU busy 100</a:t>
            </a:r>
            <a:r>
              <a:rPr lang="en-US" dirty="0"/>
              <a:t> percent</a:t>
            </a:r>
            <a:r>
              <a:rPr lang="en-CA" dirty="0"/>
              <a:t> of time</a:t>
            </a:r>
          </a:p>
          <a:p>
            <a:pPr lvl="1" eaLnBrk="1" hangingPunct="1"/>
            <a:r>
              <a:rPr lang="en-CA" dirty="0"/>
              <a:t>Ensure fairness for all</a:t>
            </a:r>
            <a:r>
              <a:rPr lang="en-US" dirty="0"/>
              <a:t> </a:t>
            </a:r>
            <a:r>
              <a:rPr lang="en-CA" dirty="0"/>
              <a:t>jobs</a:t>
            </a:r>
          </a:p>
          <a:p>
            <a:pPr lvl="2" eaLnBrk="1" hangingPunct="1"/>
            <a:r>
              <a:rPr lang="en-CA" dirty="0"/>
              <a:t>Give every job equal CPU</a:t>
            </a:r>
            <a:r>
              <a:rPr lang="en-US" dirty="0"/>
              <a:t> </a:t>
            </a:r>
            <a:r>
              <a:rPr lang="en-CA" dirty="0"/>
              <a:t>and I/O time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Final policy criteria decision lies with system designer or administrator (</a:t>
            </a:r>
            <a:r>
              <a:rPr lang="en-US" b="1" dirty="0"/>
              <a:t>select a scheduling policy that </a:t>
            </a:r>
            <a:r>
              <a:rPr lang="en-US" b="1" dirty="0" err="1"/>
              <a:t>maximises</a:t>
            </a:r>
            <a:r>
              <a:rPr lang="en-US" b="1" dirty="0"/>
              <a:t> efficiency of system resources</a:t>
            </a:r>
            <a:r>
              <a:rPr lang="en-US" dirty="0"/>
              <a:t>)</a:t>
            </a:r>
          </a:p>
        </p:txBody>
      </p:sp>
      <p:sp>
        <p:nvSpPr>
          <p:cNvPr id="286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4E5279DC-DD14-4AAF-8885-351CFD5C3A05}" type="slidenum">
              <a:rPr lang="en-US" sz="2000" smtClean="0">
                <a:solidFill>
                  <a:srgbClr val="222222"/>
                </a:solidFill>
              </a:rPr>
              <a:pPr eaLnBrk="1" hangingPunct="1"/>
              <a:t>17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29699" name="Rectangle 1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dirty="0"/>
              <a:t>Scheduling Policies</a:t>
            </a:r>
            <a:r>
              <a:rPr lang="en-US" dirty="0"/>
              <a:t> (cont'd.)</a:t>
            </a:r>
            <a:endParaRPr lang="en-CA" dirty="0"/>
          </a:p>
        </p:txBody>
      </p:sp>
      <p:sp>
        <p:nvSpPr>
          <p:cNvPr id="29700" name="Rectangle 1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Problem</a:t>
            </a:r>
          </a:p>
          <a:p>
            <a:pPr lvl="1" eaLnBrk="1" hangingPunct="1"/>
            <a:r>
              <a:rPr lang="en-US" dirty="0"/>
              <a:t>Job claims CPU for very long time before I/O request issued</a:t>
            </a:r>
          </a:p>
          <a:p>
            <a:pPr lvl="2" eaLnBrk="1" hangingPunct="1"/>
            <a:r>
              <a:rPr lang="en-US" dirty="0"/>
              <a:t>Builds up READY queue and empties I/O queues</a:t>
            </a:r>
          </a:p>
          <a:p>
            <a:pPr lvl="2" eaLnBrk="1" hangingPunct="1"/>
            <a:r>
              <a:rPr lang="en-US" dirty="0"/>
              <a:t>Creates unacceptable system imbalance</a:t>
            </a:r>
          </a:p>
          <a:p>
            <a:pPr eaLnBrk="1" hangingPunct="1"/>
            <a:r>
              <a:rPr lang="en-US" dirty="0"/>
              <a:t>Corrective measure</a:t>
            </a:r>
          </a:p>
          <a:p>
            <a:pPr lvl="1" eaLnBrk="1" hangingPunct="1"/>
            <a:r>
              <a:rPr lang="en-US" dirty="0"/>
              <a:t>Interrupt</a:t>
            </a:r>
          </a:p>
          <a:p>
            <a:pPr lvl="2" eaLnBrk="1" hangingPunct="1"/>
            <a:r>
              <a:rPr lang="en-US" dirty="0"/>
              <a:t>Used by Process Scheduler upon predetermined expiration of time slice </a:t>
            </a:r>
          </a:p>
          <a:p>
            <a:pPr lvl="2" eaLnBrk="1" hangingPunct="1"/>
            <a:r>
              <a:rPr lang="en-US" dirty="0"/>
              <a:t>Current job activity suspended</a:t>
            </a:r>
          </a:p>
          <a:p>
            <a:pPr lvl="2" eaLnBrk="1" hangingPunct="1"/>
            <a:r>
              <a:rPr lang="en-US" dirty="0"/>
              <a:t>Reschedules job into READY queue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CCC6E108-273D-48E6-AE8B-F1860DADDBA7}" type="slidenum">
              <a:rPr lang="en-US" sz="2000" smtClean="0">
                <a:solidFill>
                  <a:srgbClr val="222222"/>
                </a:solidFill>
              </a:rPr>
              <a:pPr eaLnBrk="1" hangingPunct="1"/>
              <a:t>18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D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>
                <a:solidFill>
                  <a:srgbClr val="222222"/>
                </a:solidFill>
              </a:rPr>
              <a:t>Understanding Operating Systems</a:t>
            </a:r>
            <a:endParaRPr lang="en-US" sz="2000" dirty="0">
              <a:solidFill>
                <a:srgbClr val="222222"/>
              </a:solidFill>
            </a:endParaRPr>
          </a:p>
        </p:txBody>
      </p:sp>
      <p:sp>
        <p:nvSpPr>
          <p:cNvPr id="30723" name="Rectangle 10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077200" cy="762000"/>
          </a:xfrm>
        </p:spPr>
        <p:txBody>
          <a:bodyPr/>
          <a:lstStyle/>
          <a:p>
            <a:pPr eaLnBrk="1" hangingPunct="1"/>
            <a:r>
              <a:rPr lang="en-CA" dirty="0"/>
              <a:t>Scheduling Policies</a:t>
            </a:r>
            <a:r>
              <a:rPr lang="en-US" dirty="0"/>
              <a:t> (cont'd.)</a:t>
            </a:r>
            <a:endParaRPr lang="en-CA" dirty="0"/>
          </a:p>
        </p:txBody>
      </p:sp>
      <p:sp>
        <p:nvSpPr>
          <p:cNvPr id="30724" name="Rectangle 11"/>
          <p:cNvSpPr>
            <a:spLocks noGrp="1" noChangeArrowheads="1"/>
          </p:cNvSpPr>
          <p:nvPr>
            <p:ph type="body" idx="1"/>
          </p:nvPr>
        </p:nvSpPr>
        <p:spPr>
          <a:xfrm>
            <a:off x="482600" y="1168400"/>
            <a:ext cx="8077200" cy="4876800"/>
          </a:xfrm>
        </p:spPr>
        <p:txBody>
          <a:bodyPr/>
          <a:lstStyle/>
          <a:p>
            <a:pPr eaLnBrk="1" hangingPunct="1"/>
            <a:r>
              <a:rPr lang="en-US" sz="2400" dirty="0"/>
              <a:t>Types of scheduling policies (will be referred to in process scheduling lecture)</a:t>
            </a:r>
          </a:p>
          <a:p>
            <a:pPr lvl="1" eaLnBrk="1" hangingPunct="1"/>
            <a:r>
              <a:rPr lang="en-US" dirty="0"/>
              <a:t>Preemptive</a:t>
            </a:r>
          </a:p>
          <a:p>
            <a:pPr lvl="2" eaLnBrk="1" hangingPunct="1"/>
            <a:r>
              <a:rPr lang="en-US" sz="2400" dirty="0"/>
              <a:t>Used in time-sharing environments</a:t>
            </a:r>
          </a:p>
          <a:p>
            <a:pPr lvl="2" eaLnBrk="1" hangingPunct="1"/>
            <a:r>
              <a:rPr lang="en-US" sz="2400" dirty="0"/>
              <a:t>Interrupts job processing after a specific amount of time if there has been no other interrupts</a:t>
            </a:r>
          </a:p>
          <a:p>
            <a:pPr lvl="2" eaLnBrk="1" hangingPunct="1"/>
            <a:r>
              <a:rPr lang="en-US" sz="2400" dirty="0"/>
              <a:t>Transfers CPU to another job (round robin)</a:t>
            </a:r>
          </a:p>
          <a:p>
            <a:pPr lvl="1" eaLnBrk="1" hangingPunct="1"/>
            <a:endParaRPr lang="en-US" dirty="0"/>
          </a:p>
          <a:p>
            <a:pPr lvl="1" eaLnBrk="1" hangingPunct="1"/>
            <a:r>
              <a:rPr lang="en-US" dirty="0"/>
              <a:t>Non-preemptive </a:t>
            </a:r>
          </a:p>
          <a:p>
            <a:pPr lvl="2" eaLnBrk="1" hangingPunct="1"/>
            <a:r>
              <a:rPr lang="en-US" sz="2400" dirty="0"/>
              <a:t>Functions without “external” interrupts</a:t>
            </a:r>
          </a:p>
          <a:p>
            <a:pPr lvl="2" eaLnBrk="1" hangingPunct="1"/>
            <a:r>
              <a:rPr lang="en-US" sz="2400" dirty="0"/>
              <a:t>a job or process remains in a running state until interrupted by internal interrupts  e.g. I/O request</a:t>
            </a:r>
            <a:r>
              <a:rPr lang="en-US" sz="2400" b="1" dirty="0"/>
              <a:t>: used in batch systems</a:t>
            </a:r>
            <a:endParaRPr lang="en-US" sz="2400" dirty="0"/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600">
                <a:solidFill>
                  <a:srgbClr val="FFFFFF"/>
                </a:solidFill>
                <a:latin typeface="Arial" charset="0"/>
              </a:defRPr>
            </a:lvl1pPr>
            <a:lvl2pPr marL="742950" indent="-285750" eaLnBrk="0" hangingPunct="0">
              <a:defRPr sz="3600">
                <a:solidFill>
                  <a:srgbClr val="FFFFFF"/>
                </a:solidFill>
                <a:latin typeface="Arial" charset="0"/>
              </a:defRPr>
            </a:lvl2pPr>
            <a:lvl3pPr marL="11430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3pPr>
            <a:lvl4pPr marL="16002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4pPr>
            <a:lvl5pPr marL="2057400" indent="-228600" eaLnBrk="0" hangingPunct="0">
              <a:defRPr sz="3600">
                <a:solidFill>
                  <a:srgbClr val="FFFFFF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FFFFFF"/>
                </a:solidFill>
                <a:latin typeface="Arial" charset="0"/>
              </a:defRPr>
            </a:lvl9pPr>
          </a:lstStyle>
          <a:p>
            <a:pPr eaLnBrk="1" hangingPunct="1"/>
            <a:fld id="{7494CCB0-438F-4A0C-A499-1D3DF5574B7C}" type="slidenum">
              <a:rPr lang="en-US" sz="2000" smtClean="0">
                <a:solidFill>
                  <a:srgbClr val="222222"/>
                </a:solidFill>
              </a:rPr>
              <a:pPr eaLnBrk="1" hangingPunct="1"/>
              <a:t>19</a:t>
            </a:fld>
            <a:endParaRPr lang="en-US" sz="2000" dirty="0">
              <a:solidFill>
                <a:srgbClr val="222222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85800"/>
          </a:xfrm>
        </p:spPr>
        <p:txBody>
          <a:bodyPr/>
          <a:lstStyle/>
          <a:p>
            <a:r>
              <a:rPr lang="en-IE" dirty="0"/>
              <a:t>Re-scheduling a process </a:t>
            </a:r>
          </a:p>
        </p:txBody>
      </p:sp>
      <p:pic>
        <p:nvPicPr>
          <p:cNvPr id="6" name="Content Placeholder 5" descr="03-Process.pdf - Adobe Acrobat Profession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92" y="1066800"/>
            <a:ext cx="7373815" cy="51816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68588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838200"/>
          </a:xfrm>
        </p:spPr>
        <p:txBody>
          <a:bodyPr/>
          <a:lstStyle/>
          <a:p>
            <a:r>
              <a:rPr lang="en-IE" dirty="0"/>
              <a:t>Illustration of context switching </a:t>
            </a:r>
          </a:p>
        </p:txBody>
      </p:sp>
      <p:pic>
        <p:nvPicPr>
          <p:cNvPr id="6" name="Content Placeholder 5" descr="03-Process.pdf - Adobe Acrobat Professional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92" y="1066800"/>
            <a:ext cx="7373815" cy="51816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42796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AEAC5-FD63-51A2-6FA9-EDDABE93E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60020"/>
            <a:ext cx="8077200" cy="609600"/>
          </a:xfrm>
        </p:spPr>
        <p:txBody>
          <a:bodyPr/>
          <a:lstStyle/>
          <a:p>
            <a:r>
              <a:rPr lang="en-IE" dirty="0"/>
              <a:t>Lists/Queues and content switching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ECBFE-5972-F33D-EAAC-BFCEC0763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9620"/>
            <a:ext cx="8077200" cy="5707380"/>
          </a:xfrm>
        </p:spPr>
        <p:txBody>
          <a:bodyPr/>
          <a:lstStyle/>
          <a:p>
            <a:r>
              <a:rPr lang="en-IE" sz="2400" dirty="0"/>
              <a:t>Process management is a combination of different Queues (enqueue/dequeue/ </a:t>
            </a:r>
            <a:r>
              <a:rPr lang="en-IE" sz="2400" dirty="0" err="1"/>
              <a:t>headPtr</a:t>
            </a:r>
            <a:r>
              <a:rPr lang="en-IE" sz="2400" dirty="0"/>
              <a:t>/</a:t>
            </a:r>
            <a:r>
              <a:rPr lang="en-IE" sz="2400" dirty="0" err="1"/>
              <a:t>TailPtr</a:t>
            </a:r>
            <a:r>
              <a:rPr lang="en-IE" sz="2400" dirty="0"/>
              <a:t> for each…)</a:t>
            </a:r>
          </a:p>
          <a:p>
            <a:r>
              <a:rPr lang="en-IE" sz="2400" dirty="0"/>
              <a:t>Ready Queue: enqueue/dequeue: Node contains a process ID…</a:t>
            </a:r>
          </a:p>
          <a:p>
            <a:r>
              <a:rPr lang="en-IE" sz="2400" dirty="0"/>
              <a:t>On Context switching the PCB structure is update on the last (edit contents).</a:t>
            </a:r>
          </a:p>
          <a:p>
            <a:pPr lvl="1"/>
            <a:r>
              <a:rPr lang="en-IE" sz="2200" dirty="0"/>
              <a:t>The process ID is dequeued from head ready queue.</a:t>
            </a:r>
          </a:p>
          <a:p>
            <a:pPr lvl="1"/>
            <a:r>
              <a:rPr lang="en-IE" sz="2200" dirty="0"/>
              <a:t>Used to find corresponding PCB node (</a:t>
            </a:r>
            <a:r>
              <a:rPr lang="en-IE" sz="2200" dirty="0" err="1"/>
              <a:t>currentPtr</a:t>
            </a:r>
            <a:r>
              <a:rPr lang="en-IE" sz="2200" dirty="0"/>
              <a:t> moved to node) </a:t>
            </a:r>
          </a:p>
          <a:p>
            <a:pPr lvl="2"/>
            <a:r>
              <a:rPr lang="en-IE" sz="2000" dirty="0"/>
              <a:t>PCB (context) Data written from node to registers</a:t>
            </a:r>
          </a:p>
          <a:p>
            <a:pPr lvl="2"/>
            <a:r>
              <a:rPr lang="en-IE" sz="2000" dirty="0"/>
              <a:t>The call stack register is updated to process call stack  </a:t>
            </a:r>
          </a:p>
          <a:p>
            <a:pPr lvl="2"/>
            <a:r>
              <a:rPr lang="en-IE" sz="2000" dirty="0"/>
              <a:t>The program counter register is updated for new process</a:t>
            </a:r>
          </a:p>
          <a:p>
            <a:pPr lvl="1"/>
            <a:endParaRPr lang="en-IE" sz="2200" dirty="0"/>
          </a:p>
          <a:p>
            <a:pPr lvl="1"/>
            <a:r>
              <a:rPr lang="en-IE" sz="2200" dirty="0"/>
              <a:t>The other queues continue to enqueue as appropriate</a:t>
            </a:r>
          </a:p>
          <a:p>
            <a:endParaRPr lang="en-IE" sz="2400" dirty="0"/>
          </a:p>
          <a:p>
            <a:r>
              <a:rPr lang="en-IE" sz="2400" dirty="0"/>
              <a:t>Scheduling polices that result in priority queues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B54EB-8302-07FB-DA16-DB4A74784D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5F3E9-3676-00EC-D34D-0E481D6C35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188587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77200" cy="685800"/>
          </a:xfrm>
        </p:spPr>
        <p:txBody>
          <a:bodyPr/>
          <a:lstStyle/>
          <a:p>
            <a:r>
              <a:rPr lang="en-IE" dirty="0"/>
              <a:t>Executing a program in </a:t>
            </a:r>
            <a:r>
              <a:rPr lang="en-IE" dirty="0" err="1"/>
              <a:t>linux</a:t>
            </a:r>
            <a:r>
              <a:rPr lang="en-IE" dirty="0"/>
              <a:t>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3400" y="762000"/>
            <a:ext cx="8077200" cy="4572000"/>
          </a:xfrm>
        </p:spPr>
        <p:txBody>
          <a:bodyPr/>
          <a:lstStyle/>
          <a:p>
            <a:r>
              <a:rPr lang="en-IE" dirty="0"/>
              <a:t>The following shots that the bash is an active process (note </a:t>
            </a:r>
            <a:r>
              <a:rPr lang="en-IE" dirty="0" err="1"/>
              <a:t>ps</a:t>
            </a:r>
            <a:r>
              <a:rPr lang="en-IE" dirty="0"/>
              <a:t> command show active processes)</a:t>
            </a:r>
          </a:p>
          <a:p>
            <a:r>
              <a:rPr lang="en-IE" dirty="0"/>
              <a:t>The ls command (program is shown at the prompt before execution: the bash is currently the only active process. running </a:t>
            </a:r>
          </a:p>
          <a:p>
            <a:r>
              <a:rPr lang="en-IE" dirty="0"/>
              <a:t>On pressing return 3 things are happening:</a:t>
            </a:r>
          </a:p>
          <a:p>
            <a:pPr lvl="1"/>
            <a:r>
              <a:rPr lang="en-IE" dirty="0"/>
              <a:t>The bash command code is copied to a different location (different PID): the processes is forked</a:t>
            </a:r>
          </a:p>
          <a:p>
            <a:pPr lvl="1"/>
            <a:r>
              <a:rPr lang="en-IE" dirty="0"/>
              <a:t>The parent process (bash) is forced to stop executing (Wait)</a:t>
            </a:r>
          </a:p>
          <a:p>
            <a:pPr lvl="1"/>
            <a:r>
              <a:rPr lang="en-IE" dirty="0"/>
              <a:t>The ls code over writes the copied bash code and executes: this displays all files and directories </a:t>
            </a:r>
          </a:p>
          <a:p>
            <a:pPr lvl="1"/>
            <a:r>
              <a:rPr lang="en-IE" dirty="0"/>
              <a:t>When it is finished the bash/prompt of parent process is reactivated (continues with execution) </a:t>
            </a:r>
          </a:p>
        </p:txBody>
      </p:sp>
    </p:spTree>
    <p:extLst>
      <p:ext uri="{BB962C8B-B14F-4D97-AF65-F5344CB8AC3E}">
        <p14:creationId xmlns:p14="http://schemas.microsoft.com/office/powerpoint/2010/main" val="383622224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838200"/>
          </a:xfrm>
        </p:spPr>
        <p:txBody>
          <a:bodyPr/>
          <a:lstStyle/>
          <a:p>
            <a:r>
              <a:rPr lang="en-IE" dirty="0"/>
              <a:t>Screen shot of running a process</a:t>
            </a:r>
          </a:p>
        </p:txBody>
      </p:sp>
      <p:pic>
        <p:nvPicPr>
          <p:cNvPr id="6" name="Content Placeholder 5" descr="denis.manley@apollo: ~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47" y="1524000"/>
            <a:ext cx="7379953" cy="426246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14049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685800"/>
          </a:xfrm>
        </p:spPr>
        <p:txBody>
          <a:bodyPr/>
          <a:lstStyle/>
          <a:p>
            <a:r>
              <a:rPr lang="en-IE" dirty="0"/>
              <a:t>Sample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077200" cy="5029200"/>
          </a:xfrm>
        </p:spPr>
        <p:txBody>
          <a:bodyPr/>
          <a:lstStyle/>
          <a:p>
            <a:r>
              <a:rPr lang="en-IE" dirty="0"/>
              <a:t>Briefly describe the elements of a PCB 	(4 marks)</a:t>
            </a:r>
          </a:p>
          <a:p>
            <a:r>
              <a:rPr lang="en-IE" dirty="0"/>
              <a:t>Explain the steps a process can undergo as through the job and process scheduler. 	(8 marks)</a:t>
            </a:r>
          </a:p>
          <a:p>
            <a:endParaRPr lang="en-IE" dirty="0"/>
          </a:p>
          <a:p>
            <a:r>
              <a:rPr lang="en-IE" dirty="0"/>
              <a:t>Describe the process of context switching as it applies to process control blocks (PCB).	 (5 marks)</a:t>
            </a:r>
          </a:p>
          <a:p>
            <a:endParaRPr lang="en-IE" dirty="0"/>
          </a:p>
          <a:p>
            <a:r>
              <a:rPr lang="en-IE" dirty="0"/>
              <a:t>In </a:t>
            </a:r>
            <a:r>
              <a:rPr lang="en-IE" dirty="0" err="1"/>
              <a:t>linux</a:t>
            </a:r>
            <a:r>
              <a:rPr lang="en-IE" dirty="0"/>
              <a:t> a process is created using the fork() command. Explain the steps that occur if a fork() command is called 				(8 marks)</a:t>
            </a:r>
          </a:p>
          <a:p>
            <a:r>
              <a:rPr lang="en-IE" b="1" dirty="0"/>
              <a:t>  </a:t>
            </a:r>
            <a:r>
              <a:rPr lang="en-IE" dirty="0"/>
              <a:t> </a:t>
            </a:r>
          </a:p>
          <a:p>
            <a:endParaRPr lang="en-I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35709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077200" cy="457200"/>
          </a:xfrm>
        </p:spPr>
        <p:txBody>
          <a:bodyPr/>
          <a:lstStyle/>
          <a:p>
            <a:r>
              <a:rPr lang="en-IE" dirty="0"/>
              <a:t>Sample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077200" cy="5029200"/>
          </a:xfrm>
        </p:spPr>
        <p:txBody>
          <a:bodyPr/>
          <a:lstStyle/>
          <a:p>
            <a:pPr marL="457200" lvl="1" indent="0">
              <a:buNone/>
            </a:pPr>
            <a:r>
              <a:rPr lang="en-IE" dirty="0"/>
              <a:t>The wait () command is another important associated with processes: Explain, using a suitable example, exactly how the wait functions works 	      (10 marks).</a:t>
            </a:r>
          </a:p>
          <a:p>
            <a:pPr marL="457200" lvl="1" indent="0">
              <a:buNone/>
            </a:pPr>
            <a:r>
              <a:rPr lang="en-IE" dirty="0"/>
              <a:t>  </a:t>
            </a:r>
          </a:p>
          <a:p>
            <a:r>
              <a:rPr lang="en-IE" sz="2400" dirty="0"/>
              <a:t>The </a:t>
            </a:r>
            <a:r>
              <a:rPr lang="en-IE" sz="2400" dirty="0" err="1"/>
              <a:t>execvp</a:t>
            </a:r>
            <a:r>
              <a:rPr lang="en-IE" sz="2400" dirty="0"/>
              <a:t> command has the following format: </a:t>
            </a:r>
          </a:p>
          <a:p>
            <a:pPr lvl="1"/>
            <a:r>
              <a:rPr lang="da-DK" altLang="en-US" i="1" dirty="0"/>
              <a:t>int execvp(char *prog, char *argv[])</a:t>
            </a:r>
          </a:p>
          <a:p>
            <a:r>
              <a:rPr lang="da-DK" sz="2400" dirty="0"/>
              <a:t>Explain what values are stored in the prog and the argv parameters if the two command line argument are: </a:t>
            </a:r>
            <a:r>
              <a:rPr lang="da-DK" sz="2400" i="1" dirty="0"/>
              <a:t>gcc</a:t>
            </a:r>
            <a:r>
              <a:rPr lang="da-DK" sz="2400" dirty="0"/>
              <a:t> and </a:t>
            </a:r>
            <a:r>
              <a:rPr lang="da-DK" sz="2400" i="1" dirty="0"/>
              <a:t>file1.c</a:t>
            </a:r>
            <a:r>
              <a:rPr lang="da-DK" sz="2400" dirty="0"/>
              <a:t> 						(4 marks)</a:t>
            </a:r>
          </a:p>
          <a:p>
            <a:endParaRPr lang="en-IE" sz="2400" dirty="0"/>
          </a:p>
          <a:p>
            <a:pPr marL="457200" lvl="1" indent="0">
              <a:buNone/>
            </a:pPr>
            <a:r>
              <a:rPr lang="en-IE" dirty="0"/>
              <a:t>Explain how the following code using a combination of the fork(), wait() and exec() command can be used to run new processes. 				(12 marks) </a:t>
            </a:r>
          </a:p>
          <a:p>
            <a:pPr marL="457200" lvl="1" indent="0">
              <a:buNone/>
            </a:pPr>
            <a:endParaRPr lang="en-IE" sz="18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781573"/>
      </p:ext>
    </p:extLst>
  </p:cSld>
  <p:clrMapOvr>
    <a:masterClrMapping/>
  </p:clrMapOvr>
  <p:transition>
    <p:wipe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57200"/>
            <a:ext cx="8305800" cy="304800"/>
          </a:xfrm>
        </p:spPr>
        <p:txBody>
          <a:bodyPr/>
          <a:lstStyle/>
          <a:p>
            <a:r>
              <a:rPr lang="en-IE" sz="2400" b="1" dirty="0"/>
              <a:t>Sample Question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077200" cy="5257800"/>
          </a:xfrm>
        </p:spPr>
        <p:txBody>
          <a:bodyPr/>
          <a:lstStyle/>
          <a:p>
            <a:endParaRPr lang="en-IE" sz="1800" b="1" dirty="0"/>
          </a:p>
          <a:p>
            <a:endParaRPr lang="en-IE" sz="1800" dirty="0"/>
          </a:p>
          <a:p>
            <a:r>
              <a:rPr lang="en-IE" sz="1800" dirty="0"/>
              <a:t>if ((</a:t>
            </a:r>
            <a:r>
              <a:rPr lang="en-IE" sz="1800" dirty="0" err="1"/>
              <a:t>pid</a:t>
            </a:r>
            <a:r>
              <a:rPr lang="en-IE" sz="1800" dirty="0"/>
              <a:t> = fork()) &lt; 0) {     /* fork a child process           */</a:t>
            </a:r>
          </a:p>
          <a:p>
            <a:r>
              <a:rPr lang="en-IE" sz="1800" dirty="0"/>
              <a:t>          </a:t>
            </a:r>
            <a:r>
              <a:rPr lang="en-IE" sz="1800" dirty="0" err="1"/>
              <a:t>printf</a:t>
            </a:r>
            <a:r>
              <a:rPr lang="en-IE" sz="1800" dirty="0"/>
              <a:t>("*** ERROR: forking child process failed\n");</a:t>
            </a:r>
          </a:p>
          <a:p>
            <a:r>
              <a:rPr lang="en-IE" sz="1800" dirty="0"/>
              <a:t>          exit(42);</a:t>
            </a:r>
          </a:p>
          <a:p>
            <a:r>
              <a:rPr lang="en-IE" sz="1800" dirty="0"/>
              <a:t>     }</a:t>
            </a:r>
          </a:p>
          <a:p>
            <a:r>
              <a:rPr lang="en-IE" sz="1800" dirty="0"/>
              <a:t>     else if (</a:t>
            </a:r>
            <a:r>
              <a:rPr lang="en-IE" sz="1800" dirty="0" err="1"/>
              <a:t>pid</a:t>
            </a:r>
            <a:r>
              <a:rPr lang="en-IE" sz="1800" dirty="0"/>
              <a:t> == 0) {          /* for the child process:         */</a:t>
            </a:r>
          </a:p>
          <a:p>
            <a:r>
              <a:rPr lang="en-IE" sz="1800" dirty="0"/>
              <a:t>          if (</a:t>
            </a:r>
            <a:r>
              <a:rPr lang="en-IE" sz="1800" dirty="0" err="1"/>
              <a:t>execvp</a:t>
            </a:r>
            <a:r>
              <a:rPr lang="en-IE" sz="1800" dirty="0"/>
              <a:t>(*</a:t>
            </a:r>
            <a:r>
              <a:rPr lang="en-IE" sz="1800" dirty="0" err="1"/>
              <a:t>argv</a:t>
            </a:r>
            <a:r>
              <a:rPr lang="en-IE" sz="1800" dirty="0"/>
              <a:t>, </a:t>
            </a:r>
            <a:r>
              <a:rPr lang="en-IE" sz="1800" dirty="0" err="1"/>
              <a:t>argv</a:t>
            </a:r>
            <a:r>
              <a:rPr lang="en-IE" sz="1800" dirty="0"/>
              <a:t>) &lt; 0) {     /* execute the command  */</a:t>
            </a:r>
          </a:p>
          <a:p>
            <a:r>
              <a:rPr lang="en-IE" sz="1800" dirty="0"/>
              <a:t>               </a:t>
            </a:r>
            <a:r>
              <a:rPr lang="en-IE" sz="1800" dirty="0" err="1"/>
              <a:t>printf</a:t>
            </a:r>
            <a:r>
              <a:rPr lang="en-IE" sz="1800" dirty="0"/>
              <a:t>("*** ERROR: exec failed\n");</a:t>
            </a:r>
          </a:p>
          <a:p>
            <a:r>
              <a:rPr lang="en-IE" sz="1800" dirty="0"/>
              <a:t>               exit(1);</a:t>
            </a:r>
          </a:p>
          <a:p>
            <a:r>
              <a:rPr lang="en-IE" sz="1800" dirty="0"/>
              <a:t>          }</a:t>
            </a:r>
          </a:p>
          <a:p>
            <a:r>
              <a:rPr lang="en-IE" sz="1800" dirty="0"/>
              <a:t>     }</a:t>
            </a:r>
          </a:p>
          <a:p>
            <a:r>
              <a:rPr lang="en-IE" sz="1800" dirty="0"/>
              <a:t>     else {                                  /* for the parent:      */</a:t>
            </a:r>
          </a:p>
          <a:p>
            <a:r>
              <a:rPr lang="en-IE" sz="1800" dirty="0"/>
              <a:t>          while (wait(&amp;status) != </a:t>
            </a:r>
            <a:r>
              <a:rPr lang="en-IE" sz="1800" dirty="0" err="1"/>
              <a:t>pid</a:t>
            </a:r>
            <a:r>
              <a:rPr lang="en-IE" sz="1800" dirty="0"/>
              <a:t>)       /* wait for completion  */</a:t>
            </a:r>
          </a:p>
          <a:p>
            <a:r>
              <a:rPr lang="en-IE" sz="1800" dirty="0"/>
              <a:t>               ;</a:t>
            </a:r>
          </a:p>
          <a:p>
            <a:r>
              <a:rPr lang="en-IE" sz="1800" dirty="0"/>
              <a:t>     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Understanding Operating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B7F103D-599D-4770-B4B8-436F0A5A460C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541595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Default Design">
  <a:themeElements>
    <a:clrScheme name="Custom 1">
      <a:dk1>
        <a:srgbClr val="FFFFFF"/>
      </a:dk1>
      <a:lt1>
        <a:srgbClr val="FFFFFF"/>
      </a:lt1>
      <a:dk2>
        <a:srgbClr val="FFFFFF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DADADA"/>
      </a:accent4>
      <a:accent5>
        <a:srgbClr val="FFFFFF"/>
      </a:accent5>
      <a:accent6>
        <a:srgbClr val="2D2DB9"/>
      </a:accent6>
      <a:hlink>
        <a:srgbClr val="3333CC"/>
      </a:hlink>
      <a:folHlink>
        <a:srgbClr val="B2B2B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2051</Words>
  <Application>Microsoft Office PowerPoint</Application>
  <PresentationFormat>On-screen Show (4:3)</PresentationFormat>
  <Paragraphs>281</Paragraphs>
  <Slides>27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ＭＳ Ｐゴシック</vt:lpstr>
      <vt:lpstr>Arial</vt:lpstr>
      <vt:lpstr>Times New Roman</vt:lpstr>
      <vt:lpstr>Wingdings</vt:lpstr>
      <vt:lpstr>Default Design</vt:lpstr>
      <vt:lpstr>1_Default Design</vt:lpstr>
      <vt:lpstr>Operating Systems 2 </vt:lpstr>
      <vt:lpstr>Introduction </vt:lpstr>
      <vt:lpstr>Some revision</vt:lpstr>
      <vt:lpstr>Definitions</vt:lpstr>
      <vt:lpstr>Definitions (cont’d.)</vt:lpstr>
      <vt:lpstr>Definitions</vt:lpstr>
      <vt:lpstr>Process Space</vt:lpstr>
      <vt:lpstr>Scheduling Submanagers (cont'd.)</vt:lpstr>
      <vt:lpstr>Process Scheduler</vt:lpstr>
      <vt:lpstr>Process Scheduler (cont'd.)</vt:lpstr>
      <vt:lpstr>Job and Process States</vt:lpstr>
      <vt:lpstr>Process Management</vt:lpstr>
      <vt:lpstr>Fields of a process control block (PCB)</vt:lpstr>
      <vt:lpstr>Managing process List (URL double link list link)rocess list </vt:lpstr>
      <vt:lpstr>Processing states (Control Block) and Queuing (cont'd.)</vt:lpstr>
      <vt:lpstr>Scheduling Policies</vt:lpstr>
      <vt:lpstr>Scheduling Policies (cont'd.)</vt:lpstr>
      <vt:lpstr>Scheduling Policies (cont'd.)</vt:lpstr>
      <vt:lpstr>Scheduling Policies (cont'd.)</vt:lpstr>
      <vt:lpstr>Re-scheduling a process </vt:lpstr>
      <vt:lpstr>Illustration of context switching </vt:lpstr>
      <vt:lpstr>Lists/Queues and content switching </vt:lpstr>
      <vt:lpstr>Executing a program in linux: </vt:lpstr>
      <vt:lpstr>Screen shot of running a process</vt:lpstr>
      <vt:lpstr>Sample Questions</vt:lpstr>
      <vt:lpstr>Sample Question </vt:lpstr>
      <vt:lpstr>Sample Question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Denis Manley</cp:lastModifiedBy>
  <cp:revision>979</cp:revision>
  <dcterms:created xsi:type="dcterms:W3CDTF">2002-09-27T23:29:22Z</dcterms:created>
  <dcterms:modified xsi:type="dcterms:W3CDTF">2025-10-31T11:06:14Z</dcterms:modified>
</cp:coreProperties>
</file>